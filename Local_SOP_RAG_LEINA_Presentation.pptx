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 am presenting our project: Local SOP RAG Chatbot &amp; LEINA Enterprise Assistant. In large organizations, Standard Operating Procedures (SOPs), HR policies, and compliance manuals span thousands of pages. Finding the exact right rule is time-consuming, and sending proprietary company documents to public cloud AI APIs poses severe data privacy and compliance risks. Our system solves this with a 100% offline, privacy-first, multimodal Retrieval-Augmented Generation architecture powered by local LLMs and vector databases.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the enterprise problem. When companies try to adopt AI, their biggest blockers are data leakage and hallucinations. If an employee asks about maternity leave or security clearance procedures, hallucinating a wrong answer can cause legal or financial liability. Our solution addresses this at the root: we run everything locally, use a strict extractor prompt that forbids hallucination, and provide direct section-level citations.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High-Level System Design. The system is split cleanly into three layers: First, the Presentation layer built with React 19 and Tailwind CSS offering a full chat simulator, document ingestion manager, and architecture visualizer. Second, the API &amp; Orchestration layer featuring an Express API Gateway coupled with a Python FastAPI microservice that handles PDF parsing, semantic chunking, and search fusion. Third, the Storage and Local Inference layer featuring ChromaDB vector database, SQLite/MySQL metadata storage, and Ollama serving both nomic-embed-text for embeddings and Qwen2.5-VL for vision-enabled LLM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visualizes the foundational RAG pipeline. On the left diagram, we see unstructured data sources (documents, chats, media) undergoing tokenization and chunking, converted into binary/float embeddings, stored in a Vector DB, and retrieved when the user initiates a query to ground the LLM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dive deeper into the Ingestion Pipeline. Naive chunking that simply splits text every 500 characters breaks apart important policy clauses and heading contexts. We developed a two-stage hierarchical chunker: First, it splits text by logical headings (like SECTION 1: LEAVE ENTITLEMENT). If a section exceeds 1500 characters, it calculates semantic similarity across sliding windows of 3 sentences, splitting only where the topic naturally shifts. In addition, any embedded architecture diagrams or flowcharts are sent to our local vision model to create textual captions, so even non-text diagrams become searchable.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breaks down our Hybrid Search engine. In enterprise SOPs, pure vector search struggles when an employee asks for a specific form like Form 402 or an internal phone extension. Vector embeddings capture general semantic meaning but blur out specific numbers. Our hybrid search runs both ChromaDB dense vector retrieval and BM25 sparse keyword search in parallel, fuses them using Reciprocal Rank Fusion (RRF), applies cross-encoder reranking, and checks our 0.45 confidence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addresses AI governance and prompt guardrails. We enforce a strict system prompt with zero creativity tolerance (temperature 0.2). In addition, we built an automatic Confidence Gate. If a user asks a question not covered by company SOPs (like "What is the capital of France?"), the confidence score drops below 0.45, immediately returning a polite fallback message without making an expensive LLM call. This prevents hallucination and saves system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enterprise production portal interface called LEINA (LTTS Engineered Intelligent Network Associate). It organizes specialized departmental agents across Finance, HR, IT, Quality, and Sales, and offers one-click quick actions for common workflows like applying leave, regularizing attendance, and summarizing technical manuals.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outlines our database design. We use a dual-database approach. ChromaDB manages high-dimensional vector embeddings with HNSW indexing for rapid semantic similarity search. Concurrently, SQLite (or MySQL) stores relational metadata including raw SOP document records, chat histories, confidence logs, and uploaded document audits.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performance benchmarks. Retrieval is blazing fast, taking under 0.4 seconds end-to-end. On a standard GPU, the full answer is delivered in 2.5 to 5 seconds. If running CPU-only, retrieval remains fast (sub-second) while generation takes 12-30 seconds. In addition, when an invalid query is caught by our confidence gate, the response returns in under 300ms.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the core differentiator of this project. In many aerospace, engineering, and financial institutions, cloud AI is completely disallowed due to data sovereignty laws. By running local Ollama inference on-premises, our system delivers state-of-the-art AI assistance with zero data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our Local SOP RAG &amp; LEINA Assistant delivers an 80% reduction in document lookup friction, zero cloud token costs, and 100% compliance. Our future roadmap includes integrating autonomous agents with SAP and Workday, and upgrading to Graph RAG. Thank you, and I welcome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D1E"/>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0F2FE"/>
          </a:solidFill>
          <a:ln/>
        </p:spPr>
      </p:sp>
      <p:sp>
        <p:nvSpPr>
          <p:cNvPr id="3" name="Shape 1"/>
          <p:cNvSpPr/>
          <p:nvPr/>
        </p:nvSpPr>
        <p:spPr>
          <a:xfrm>
            <a:off x="914400" y="914400"/>
            <a:ext cx="3840480" cy="347472"/>
          </a:xfrm>
          <a:prstGeom prst="roundRect">
            <a:avLst>
              <a:gd name="adj" fmla="val 26316"/>
            </a:avLst>
          </a:prstGeom>
          <a:solidFill>
            <a:srgbClr val="0E1834"/>
          </a:solidFill>
          <a:ln w="15240">
            <a:solidFill>
              <a:srgbClr val="00F2FE"/>
            </a:solidFill>
            <a:prstDash val="solid"/>
          </a:ln>
        </p:spPr>
      </p:sp>
      <p:sp>
        <p:nvSpPr>
          <p:cNvPr id="4" name="Text 2"/>
          <p:cNvSpPr/>
          <p:nvPr/>
        </p:nvSpPr>
        <p:spPr>
          <a:xfrm>
            <a:off x="914400" y="914400"/>
            <a:ext cx="3840480" cy="347472"/>
          </a:xfrm>
          <a:prstGeom prst="rect">
            <a:avLst/>
          </a:prstGeom>
          <a:noFill/>
          <a:ln/>
        </p:spPr>
        <p:txBody>
          <a:bodyPr wrap="square" rtlCol="0" anchor="ctr"/>
          <a:lstStyle/>
          <a:p>
            <a:pPr algn="ctr" indent="0" marL="0">
              <a:buNone/>
            </a:pPr>
            <a:r>
              <a:rPr lang="en-US" sz="1000" b="1" dirty="0">
                <a:solidFill>
                  <a:srgbClr val="00F2FE"/>
                </a:solidFill>
                <a:latin typeface="Arial" pitchFamily="34" charset="0"/>
                <a:ea typeface="Arial" pitchFamily="34" charset="-122"/>
                <a:cs typeface="Arial" pitchFamily="34" charset="-120"/>
              </a:rPr>
              <a:t>ENTERPRISE AI &amp; SYSTEM ARCHITECTURE</a:t>
            </a:r>
            <a:endParaRPr lang="en-US" sz="1000" dirty="0"/>
          </a:p>
        </p:txBody>
      </p:sp>
      <p:sp>
        <p:nvSpPr>
          <p:cNvPr id="5" name="Text 3"/>
          <p:cNvSpPr/>
          <p:nvPr/>
        </p:nvSpPr>
        <p:spPr>
          <a:xfrm>
            <a:off x="914400" y="1417320"/>
            <a:ext cx="10332720" cy="1554480"/>
          </a:xfrm>
          <a:prstGeom prst="rect">
            <a:avLst/>
          </a:prstGeom>
          <a:noFill/>
          <a:ln/>
        </p:spPr>
        <p:txBody>
          <a:bodyPr wrap="square" rtlCol="0" anchor="ctr"/>
          <a:lstStyle/>
          <a:p>
            <a:pPr indent="0" marL="0">
              <a:buNone/>
            </a:pPr>
            <a:r>
              <a:rPr lang="en-US" sz="3500" b="1" dirty="0">
                <a:solidFill>
                  <a:srgbClr val="FFFFFF"/>
                </a:solidFill>
                <a:latin typeface="Arial" pitchFamily="34" charset="0"/>
                <a:ea typeface="Arial" pitchFamily="34" charset="-122"/>
                <a:cs typeface="Arial" pitchFamily="34" charset="-120"/>
              </a:rPr>
              <a:t>Local SOP RAG Chatbot &amp;</a:t>
            </a:r>
            <a:endParaRPr lang="en-US" sz="3500" dirty="0"/>
          </a:p>
          <a:p>
            <a:pPr indent="0" marL="0">
              <a:buNone/>
            </a:pPr>
            <a:r>
              <a:rPr lang="en-US" sz="3500" b="1" dirty="0">
                <a:solidFill>
                  <a:srgbClr val="FFFFFF"/>
                </a:solidFill>
                <a:latin typeface="Arial" pitchFamily="34" charset="0"/>
                <a:ea typeface="Arial" pitchFamily="34" charset="-122"/>
                <a:cs typeface="Arial" pitchFamily="34" charset="-120"/>
              </a:rPr>
              <a:t>LEINA Intelligent Assistant</a:t>
            </a:r>
            <a:endParaRPr lang="en-US" sz="3500" dirty="0"/>
          </a:p>
        </p:txBody>
      </p:sp>
      <p:sp>
        <p:nvSpPr>
          <p:cNvPr id="6" name="Text 4"/>
          <p:cNvSpPr/>
          <p:nvPr/>
        </p:nvSpPr>
        <p:spPr>
          <a:xfrm>
            <a:off x="914400" y="3063240"/>
            <a:ext cx="10058400" cy="777240"/>
          </a:xfrm>
          <a:prstGeom prst="rect">
            <a:avLst/>
          </a:prstGeom>
          <a:noFill/>
          <a:ln/>
        </p:spPr>
        <p:txBody>
          <a:bodyPr wrap="square" rtlCol="0" anchor="ctr"/>
          <a:lstStyle/>
          <a:p>
            <a:pPr indent="0" marL="0">
              <a:buNone/>
            </a:pPr>
            <a:r>
              <a:rPr lang="en-US" sz="1350" dirty="0">
                <a:solidFill>
                  <a:srgbClr val="E2E8F0"/>
                </a:solidFill>
                <a:latin typeface="Arial" pitchFamily="34" charset="0"/>
                <a:ea typeface="Arial" pitchFamily="34" charset="-122"/>
                <a:cs typeface="Arial" pitchFamily="34" charset="-120"/>
              </a:rPr>
              <a:t>A 100% Offline, Privacy-Preserving Retrieval-Augmented Generation Architecture for Enterprise Standard Operating Procedures with Multimodal Vision, Hierarchical Chunking &amp; Hybrid Search</a:t>
            </a:r>
            <a:endParaRPr lang="en-US" sz="1350" dirty="0"/>
          </a:p>
        </p:txBody>
      </p:sp>
      <p:sp>
        <p:nvSpPr>
          <p:cNvPr id="7" name="Shape 5"/>
          <p:cNvSpPr/>
          <p:nvPr/>
        </p:nvSpPr>
        <p:spPr>
          <a:xfrm>
            <a:off x="914400" y="4023360"/>
            <a:ext cx="3337560" cy="2011680"/>
          </a:xfrm>
          <a:prstGeom prst="roundRect">
            <a:avLst>
              <a:gd name="adj" fmla="val 5455"/>
            </a:avLst>
          </a:prstGeom>
          <a:solidFill>
            <a:srgbClr val="0E1834"/>
          </a:solidFill>
          <a:ln w="12700">
            <a:solidFill>
              <a:srgbClr val="1E3264"/>
            </a:solidFill>
            <a:prstDash val="solid"/>
          </a:ln>
        </p:spPr>
      </p:sp>
      <p:sp>
        <p:nvSpPr>
          <p:cNvPr id="8" name="Shape 6"/>
          <p:cNvSpPr/>
          <p:nvPr/>
        </p:nvSpPr>
        <p:spPr>
          <a:xfrm>
            <a:off x="914400" y="4023360"/>
            <a:ext cx="3337560" cy="73152"/>
          </a:xfrm>
          <a:prstGeom prst="rect">
            <a:avLst/>
          </a:prstGeom>
          <a:solidFill>
            <a:srgbClr val="00F2FE"/>
          </a:solidFill>
          <a:ln/>
        </p:spPr>
      </p:sp>
      <p:sp>
        <p:nvSpPr>
          <p:cNvPr id="9" name="Text 7"/>
          <p:cNvSpPr/>
          <p:nvPr/>
        </p:nvSpPr>
        <p:spPr>
          <a:xfrm>
            <a:off x="1143000" y="4206240"/>
            <a:ext cx="2880360" cy="3200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100% Air-Gapped &amp; Offline</a:t>
            </a:r>
            <a:endParaRPr lang="en-US" sz="1300" dirty="0"/>
          </a:p>
        </p:txBody>
      </p:sp>
      <p:sp>
        <p:nvSpPr>
          <p:cNvPr id="10" name="Text 8"/>
          <p:cNvSpPr/>
          <p:nvPr/>
        </p:nvSpPr>
        <p:spPr>
          <a:xfrm>
            <a:off x="1143000" y="4526280"/>
            <a:ext cx="2880360" cy="228600"/>
          </a:xfrm>
          <a:prstGeom prst="rect">
            <a:avLst/>
          </a:prstGeom>
          <a:noFill/>
          <a:ln/>
        </p:spPr>
        <p:txBody>
          <a:bodyPr wrap="square" rtlCol="0" anchor="ctr"/>
          <a:lstStyle/>
          <a:p>
            <a:pPr indent="0" marL="0">
              <a:buNone/>
            </a:pPr>
            <a:r>
              <a:rPr lang="en-US" sz="950" b="1" dirty="0">
                <a:solidFill>
                  <a:srgbClr val="00F2FE"/>
                </a:solidFill>
                <a:latin typeface="Arial" pitchFamily="34" charset="0"/>
                <a:ea typeface="Arial" pitchFamily="34" charset="-122"/>
                <a:cs typeface="Arial" pitchFamily="34" charset="-120"/>
              </a:rPr>
              <a:t>Zero Cloud Data Egress</a:t>
            </a:r>
            <a:endParaRPr lang="en-US" sz="950" dirty="0"/>
          </a:p>
        </p:txBody>
      </p:sp>
      <p:sp>
        <p:nvSpPr>
          <p:cNvPr id="11" name="Text 9"/>
          <p:cNvSpPr/>
          <p:nvPr/>
        </p:nvSpPr>
        <p:spPr>
          <a:xfrm>
            <a:off x="1143000" y="4800600"/>
            <a:ext cx="2880360" cy="109728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All embeddings and LLM generation execute inside local infrastructure via Ollama. 100% compliant with GDPR, HIPAA, and corporate security mandates.</a:t>
            </a:r>
            <a:endParaRPr lang="en-US" sz="950" dirty="0"/>
          </a:p>
        </p:txBody>
      </p:sp>
      <p:sp>
        <p:nvSpPr>
          <p:cNvPr id="12" name="Shape 10"/>
          <p:cNvSpPr/>
          <p:nvPr/>
        </p:nvSpPr>
        <p:spPr>
          <a:xfrm>
            <a:off x="4434840" y="4023360"/>
            <a:ext cx="3337560" cy="2011680"/>
          </a:xfrm>
          <a:prstGeom prst="roundRect">
            <a:avLst>
              <a:gd name="adj" fmla="val 5455"/>
            </a:avLst>
          </a:prstGeom>
          <a:solidFill>
            <a:srgbClr val="0E1834"/>
          </a:solidFill>
          <a:ln w="12700">
            <a:solidFill>
              <a:srgbClr val="1E3264"/>
            </a:solidFill>
            <a:prstDash val="solid"/>
          </a:ln>
        </p:spPr>
      </p:sp>
      <p:sp>
        <p:nvSpPr>
          <p:cNvPr id="13" name="Shape 11"/>
          <p:cNvSpPr/>
          <p:nvPr/>
        </p:nvSpPr>
        <p:spPr>
          <a:xfrm>
            <a:off x="4434840" y="4023360"/>
            <a:ext cx="3337560" cy="73152"/>
          </a:xfrm>
          <a:prstGeom prst="rect">
            <a:avLst/>
          </a:prstGeom>
          <a:solidFill>
            <a:srgbClr val="38BDF8"/>
          </a:solidFill>
          <a:ln/>
        </p:spPr>
      </p:sp>
      <p:sp>
        <p:nvSpPr>
          <p:cNvPr id="14" name="Text 12"/>
          <p:cNvSpPr/>
          <p:nvPr/>
        </p:nvSpPr>
        <p:spPr>
          <a:xfrm>
            <a:off x="4663440" y="4206240"/>
            <a:ext cx="2880360" cy="3200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Dual-Path Hybrid Search</a:t>
            </a:r>
            <a:endParaRPr lang="en-US" sz="1300" dirty="0"/>
          </a:p>
        </p:txBody>
      </p:sp>
      <p:sp>
        <p:nvSpPr>
          <p:cNvPr id="15" name="Text 13"/>
          <p:cNvSpPr/>
          <p:nvPr/>
        </p:nvSpPr>
        <p:spPr>
          <a:xfrm>
            <a:off x="4663440" y="4526280"/>
            <a:ext cx="2880360" cy="22860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Dense + BM25 + RRF Fusion</a:t>
            </a:r>
            <a:endParaRPr lang="en-US" sz="950" dirty="0"/>
          </a:p>
        </p:txBody>
      </p:sp>
      <p:sp>
        <p:nvSpPr>
          <p:cNvPr id="16" name="Text 14"/>
          <p:cNvSpPr/>
          <p:nvPr/>
        </p:nvSpPr>
        <p:spPr>
          <a:xfrm>
            <a:off x="4663440" y="4800600"/>
            <a:ext cx="2880360" cy="109728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Combines ChromaDB 768-D semantic vector search with BM25 keyword matching and Reciprocal Rank Fusion for 99%+ procedural recall.</a:t>
            </a:r>
            <a:endParaRPr lang="en-US" sz="950" dirty="0"/>
          </a:p>
        </p:txBody>
      </p:sp>
      <p:sp>
        <p:nvSpPr>
          <p:cNvPr id="17" name="Shape 15"/>
          <p:cNvSpPr/>
          <p:nvPr/>
        </p:nvSpPr>
        <p:spPr>
          <a:xfrm>
            <a:off x="7955280" y="4023360"/>
            <a:ext cx="3337560" cy="2011680"/>
          </a:xfrm>
          <a:prstGeom prst="roundRect">
            <a:avLst>
              <a:gd name="adj" fmla="val 5455"/>
            </a:avLst>
          </a:prstGeom>
          <a:solidFill>
            <a:srgbClr val="0E1834"/>
          </a:solidFill>
          <a:ln w="12700">
            <a:solidFill>
              <a:srgbClr val="1E3264"/>
            </a:solidFill>
            <a:prstDash val="solid"/>
          </a:ln>
        </p:spPr>
      </p:sp>
      <p:sp>
        <p:nvSpPr>
          <p:cNvPr id="18" name="Shape 16"/>
          <p:cNvSpPr/>
          <p:nvPr/>
        </p:nvSpPr>
        <p:spPr>
          <a:xfrm>
            <a:off x="7955280" y="4023360"/>
            <a:ext cx="3337560" cy="73152"/>
          </a:xfrm>
          <a:prstGeom prst="rect">
            <a:avLst/>
          </a:prstGeom>
          <a:solidFill>
            <a:srgbClr val="10B981"/>
          </a:solidFill>
          <a:ln/>
        </p:spPr>
      </p:sp>
      <p:sp>
        <p:nvSpPr>
          <p:cNvPr id="19" name="Text 17"/>
          <p:cNvSpPr/>
          <p:nvPr/>
        </p:nvSpPr>
        <p:spPr>
          <a:xfrm>
            <a:off x="8183880" y="4206240"/>
            <a:ext cx="2880360" cy="3200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Multimodal Vision AI</a:t>
            </a:r>
            <a:endParaRPr lang="en-US" sz="1300" dirty="0"/>
          </a:p>
        </p:txBody>
      </p:sp>
      <p:sp>
        <p:nvSpPr>
          <p:cNvPr id="20" name="Text 18"/>
          <p:cNvSpPr/>
          <p:nvPr/>
        </p:nvSpPr>
        <p:spPr>
          <a:xfrm>
            <a:off x="8183880" y="4526280"/>
            <a:ext cx="2880360"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Qwen2.5-VL / LLaMA 3.1 8B</a:t>
            </a:r>
            <a:endParaRPr lang="en-US" sz="950" dirty="0"/>
          </a:p>
        </p:txBody>
      </p:sp>
      <p:sp>
        <p:nvSpPr>
          <p:cNvPr id="21" name="Text 19"/>
          <p:cNvSpPr/>
          <p:nvPr/>
        </p:nvSpPr>
        <p:spPr>
          <a:xfrm>
            <a:off x="8183880" y="4800600"/>
            <a:ext cx="2880360" cy="109728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Extracts and automatically captions embedded diagrams, flowcharts, and organograms so visual procedures become searchable.</a:t>
            </a:r>
            <a:endParaRPr lang="en-US" sz="950" dirty="0"/>
          </a:p>
        </p:txBody>
      </p:sp>
      <p:sp>
        <p:nvSpPr>
          <p:cNvPr id="22" name="Text 20"/>
          <p:cNvSpPr/>
          <p:nvPr/>
        </p:nvSpPr>
        <p:spPr>
          <a:xfrm>
            <a:off x="914400" y="6217920"/>
            <a:ext cx="10332720" cy="320040"/>
          </a:xfrm>
          <a:prstGeom prst="rect">
            <a:avLst/>
          </a:prstGeom>
          <a:noFill/>
          <a:ln/>
        </p:spPr>
        <p:txBody>
          <a:bodyPr wrap="square" rtlCol="0" anchor="ctr"/>
          <a:lstStyle/>
          <a:p>
            <a:pPr indent="0" marL="0">
              <a:buNone/>
            </a:pPr>
            <a:r>
              <a:rPr lang="en-US" sz="1050" b="1" dirty="0">
                <a:solidFill>
                  <a:srgbClr val="38BDF8"/>
                </a:solidFill>
                <a:latin typeface="Arial" pitchFamily="34" charset="0"/>
                <a:ea typeface="Arial" pitchFamily="34" charset="-122"/>
                <a:cs typeface="Arial" pitchFamily="34" charset="-120"/>
              </a:rPr>
              <a:t>Tech Stack: React 19 • FastAPI • ChromaDB (HNSW) • Ollama (Qwen2.5-VL / LLaMA 3.1 8B) • SQLite/MySQL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D1E"/>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F2FE"/>
          </a:solidFill>
          <a:ln/>
        </p:spPr>
      </p:sp>
      <p:sp>
        <p:nvSpPr>
          <p:cNvPr id="3" name="Shape 1"/>
          <p:cNvSpPr/>
          <p:nvPr/>
        </p:nvSpPr>
        <p:spPr>
          <a:xfrm>
            <a:off x="731520" y="347472"/>
            <a:ext cx="2560320" cy="274320"/>
          </a:xfrm>
          <a:prstGeom prst="roundRect">
            <a:avLst>
              <a:gd name="adj" fmla="val 26667"/>
            </a:avLst>
          </a:prstGeom>
          <a:solidFill>
            <a:srgbClr val="0E1834"/>
          </a:solidFill>
          <a:ln w="12700">
            <a:solidFill>
              <a:srgbClr val="00F2FE"/>
            </a:solidFill>
            <a:prstDash val="solid"/>
          </a:ln>
        </p:spPr>
      </p:sp>
      <p:sp>
        <p:nvSpPr>
          <p:cNvPr id="4" name="Text 2"/>
          <p:cNvSpPr/>
          <p:nvPr/>
        </p:nvSpPr>
        <p:spPr>
          <a:xfrm>
            <a:off x="731520" y="347472"/>
            <a:ext cx="2560320" cy="274320"/>
          </a:xfrm>
          <a:prstGeom prst="rect">
            <a:avLst/>
          </a:prstGeom>
          <a:noFill/>
          <a:ln/>
        </p:spPr>
        <p:txBody>
          <a:bodyPr wrap="square" rtlCol="0" anchor="ctr"/>
          <a:lstStyle/>
          <a:p>
            <a:pPr algn="ctr" indent="0" marL="0">
              <a:buNone/>
            </a:pPr>
            <a:r>
              <a:rPr lang="en-US" sz="900" b="1" dirty="0">
                <a:solidFill>
                  <a:srgbClr val="00F2FE"/>
                </a:solidFill>
                <a:latin typeface="Arial" pitchFamily="34" charset="0"/>
                <a:ea typeface="Arial" pitchFamily="34" charset="-122"/>
                <a:cs typeface="Arial" pitchFamily="34" charset="-120"/>
              </a:rPr>
              <a:t>PROBLEM STATEMENT &amp; MOTIVATION</a:t>
            </a:r>
            <a:endParaRPr lang="en-US" sz="900" dirty="0"/>
          </a:p>
        </p:txBody>
      </p:sp>
      <p:sp>
        <p:nvSpPr>
          <p:cNvPr id="5" name="Text 3"/>
          <p:cNvSpPr/>
          <p:nvPr/>
        </p:nvSpPr>
        <p:spPr>
          <a:xfrm>
            <a:off x="731520" y="676656"/>
            <a:ext cx="10698480" cy="502920"/>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The Enterprise Challenge: Why Cloud LLMs Fail For Corporate SOPs</a:t>
            </a:r>
            <a:endParaRPr lang="en-US" sz="2100" dirty="0"/>
          </a:p>
        </p:txBody>
      </p:sp>
      <p:sp>
        <p:nvSpPr>
          <p:cNvPr id="6" name="Text 4"/>
          <p:cNvSpPr/>
          <p:nvPr/>
        </p:nvSpPr>
        <p:spPr>
          <a:xfrm>
            <a:off x="731520" y="1170432"/>
            <a:ext cx="10698480" cy="292608"/>
          </a:xfrm>
          <a:prstGeom prst="rect">
            <a:avLst/>
          </a:prstGeom>
          <a:noFill/>
          <a:ln/>
        </p:spPr>
        <p:txBody>
          <a:bodyPr wrap="square" rtlCol="0" anchor="ctr"/>
          <a:lstStyle/>
          <a:p>
            <a:pPr indent="0" marL="0">
              <a:buNone/>
            </a:pPr>
            <a:r>
              <a:rPr lang="en-US" sz="1150" dirty="0">
                <a:solidFill>
                  <a:srgbClr val="94A3B8"/>
                </a:solidFill>
                <a:latin typeface="Arial" pitchFamily="34" charset="0"/>
                <a:ea typeface="Arial" pitchFamily="34" charset="-122"/>
                <a:cs typeface="Arial" pitchFamily="34" charset="-120"/>
              </a:rPr>
              <a:t>Critical enterprise blockers in deploying standard AI and keyword search on proprietary standard operating procedures</a:t>
            </a:r>
            <a:endParaRPr lang="en-US" sz="1150" dirty="0"/>
          </a:p>
        </p:txBody>
      </p:sp>
      <p:sp>
        <p:nvSpPr>
          <p:cNvPr id="7" name="Shape 5"/>
          <p:cNvSpPr/>
          <p:nvPr/>
        </p:nvSpPr>
        <p:spPr>
          <a:xfrm>
            <a:off x="731520" y="6400800"/>
            <a:ext cx="10698480" cy="18288"/>
          </a:xfrm>
          <a:prstGeom prst="rect">
            <a:avLst/>
          </a:prstGeom>
          <a:solidFill>
            <a:srgbClr val="1E3264"/>
          </a:solidFill>
          <a:ln/>
        </p:spPr>
      </p:sp>
      <p:sp>
        <p:nvSpPr>
          <p:cNvPr id="8" name="Text 6"/>
          <p:cNvSpPr/>
          <p:nvPr/>
        </p:nvSpPr>
        <p:spPr>
          <a:xfrm>
            <a:off x="731520" y="6446520"/>
            <a:ext cx="73152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LEINA • Local SOP RAG Architecture | Larsen &amp; Toubro Enterprise AI</a:t>
            </a:r>
            <a:endParaRPr lang="en-US" sz="850" dirty="0"/>
          </a:p>
        </p:txBody>
      </p:sp>
      <p:sp>
        <p:nvSpPr>
          <p:cNvPr id="9" name="Text 7"/>
          <p:cNvSpPr/>
          <p:nvPr/>
        </p:nvSpPr>
        <p:spPr>
          <a:xfrm>
            <a:off x="8686800" y="6446520"/>
            <a:ext cx="2743200" cy="274320"/>
          </a:xfrm>
          <a:prstGeom prst="rect">
            <a:avLst/>
          </a:prstGeom>
          <a:noFill/>
          <a:ln/>
        </p:spPr>
        <p:txBody>
          <a:bodyPr wrap="square" rtlCol="0" anchor="ctr"/>
          <a:lstStyle/>
          <a:p>
            <a:pPr algn="r" indent="0" marL="0">
              <a:buNone/>
            </a:pPr>
            <a:r>
              <a:rPr lang="en-US" sz="850" b="1" dirty="0">
                <a:solidFill>
                  <a:srgbClr val="00F2FE"/>
                </a:solidFill>
                <a:latin typeface="Arial" pitchFamily="34" charset="0"/>
                <a:ea typeface="Arial" pitchFamily="34" charset="-122"/>
                <a:cs typeface="Arial" pitchFamily="34" charset="-120"/>
              </a:rPr>
              <a:t>CONFIDENTIAL &amp; PROPRIETARY</a:t>
            </a:r>
            <a:endParaRPr lang="en-US" sz="850" dirty="0"/>
          </a:p>
        </p:txBody>
      </p:sp>
      <p:sp>
        <p:nvSpPr>
          <p:cNvPr id="10" name="Shape 8"/>
          <p:cNvSpPr/>
          <p:nvPr/>
        </p:nvSpPr>
        <p:spPr>
          <a:xfrm>
            <a:off x="731520" y="1600200"/>
            <a:ext cx="5166360" cy="4572000"/>
          </a:xfrm>
          <a:prstGeom prst="roundRect">
            <a:avLst>
              <a:gd name="adj" fmla="val 2400"/>
            </a:avLst>
          </a:prstGeom>
          <a:solidFill>
            <a:srgbClr val="0E1834"/>
          </a:solidFill>
          <a:ln w="15240">
            <a:solidFill>
              <a:srgbClr val="EF4444"/>
            </a:solidFill>
            <a:prstDash val="solid"/>
          </a:ln>
        </p:spPr>
      </p:sp>
      <p:sp>
        <p:nvSpPr>
          <p:cNvPr id="11" name="Shape 9"/>
          <p:cNvSpPr/>
          <p:nvPr/>
        </p:nvSpPr>
        <p:spPr>
          <a:xfrm>
            <a:off x="960120" y="1783080"/>
            <a:ext cx="4709160" cy="384048"/>
          </a:xfrm>
          <a:prstGeom prst="roundRect">
            <a:avLst>
              <a:gd name="adj" fmla="val 19048"/>
            </a:avLst>
          </a:prstGeom>
          <a:solidFill>
            <a:srgbClr val="2A0D15"/>
          </a:solidFill>
          <a:ln w="10160">
            <a:solidFill>
              <a:srgbClr val="EF4444"/>
            </a:solidFill>
            <a:prstDash val="solid"/>
          </a:ln>
        </p:spPr>
      </p:sp>
      <p:sp>
        <p:nvSpPr>
          <p:cNvPr id="12" name="Text 10"/>
          <p:cNvSpPr/>
          <p:nvPr/>
        </p:nvSpPr>
        <p:spPr>
          <a:xfrm>
            <a:off x="960120" y="1783080"/>
            <a:ext cx="4709160" cy="384048"/>
          </a:xfrm>
          <a:prstGeom prst="rect">
            <a:avLst/>
          </a:prstGeom>
          <a:noFill/>
          <a:ln/>
        </p:spPr>
        <p:txBody>
          <a:bodyPr wrap="square" rtlCol="0" anchor="ctr"/>
          <a:lstStyle/>
          <a:p>
            <a:pPr algn="ctr" indent="0" marL="0">
              <a:buNone/>
            </a:pPr>
            <a:r>
              <a:rPr lang="en-US" sz="1100" b="1" dirty="0">
                <a:solidFill>
                  <a:srgbClr val="EF4444"/>
                </a:solidFill>
              </a:rPr>
              <a:t>CRITICAL TRADITIONAL PAIN POINTS</a:t>
            </a:r>
            <a:endParaRPr lang="en-US" sz="1100" dirty="0"/>
          </a:p>
        </p:txBody>
      </p:sp>
      <p:sp>
        <p:nvSpPr>
          <p:cNvPr id="13" name="Shape 11"/>
          <p:cNvSpPr/>
          <p:nvPr/>
        </p:nvSpPr>
        <p:spPr>
          <a:xfrm>
            <a:off x="960120" y="2304288"/>
            <a:ext cx="4709160" cy="859536"/>
          </a:xfrm>
          <a:prstGeom prst="roundRect">
            <a:avLst>
              <a:gd name="adj" fmla="val 8511"/>
            </a:avLst>
          </a:prstGeom>
          <a:solidFill>
            <a:srgbClr val="121F42"/>
          </a:solidFill>
          <a:ln w="10160">
            <a:solidFill>
              <a:srgbClr val="1E3264"/>
            </a:solidFill>
            <a:prstDash val="solid"/>
          </a:ln>
        </p:spPr>
      </p:sp>
      <p:sp>
        <p:nvSpPr>
          <p:cNvPr id="14" name="Text 12"/>
          <p:cNvSpPr/>
          <p:nvPr/>
        </p:nvSpPr>
        <p:spPr>
          <a:xfrm>
            <a:off x="1097280" y="2377440"/>
            <a:ext cx="4434840" cy="228600"/>
          </a:xfrm>
          <a:prstGeom prst="rect">
            <a:avLst/>
          </a:prstGeom>
          <a:noFill/>
          <a:ln/>
        </p:spPr>
        <p:txBody>
          <a:bodyPr wrap="square" rtlCol="0" anchor="ctr"/>
          <a:lstStyle/>
          <a:p>
            <a:pPr indent="0" marL="0">
              <a:buNone/>
            </a:pPr>
            <a:r>
              <a:rPr lang="en-US" sz="1050" b="1" dirty="0">
                <a:solidFill>
                  <a:srgbClr val="FCA5A5"/>
                </a:solidFill>
              </a:rPr>
              <a:t>✖ Data Privacy &amp; IP Leakage</a:t>
            </a:r>
            <a:endParaRPr lang="en-US" sz="1050" dirty="0"/>
          </a:p>
        </p:txBody>
      </p:sp>
      <p:sp>
        <p:nvSpPr>
          <p:cNvPr id="15" name="Text 13"/>
          <p:cNvSpPr/>
          <p:nvPr/>
        </p:nvSpPr>
        <p:spPr>
          <a:xfrm>
            <a:off x="1097280" y="2596896"/>
            <a:ext cx="4434840" cy="512064"/>
          </a:xfrm>
          <a:prstGeom prst="rect">
            <a:avLst/>
          </a:prstGeom>
          <a:noFill/>
          <a:ln/>
        </p:spPr>
        <p:txBody>
          <a:bodyPr wrap="square" rtlCol="0" anchor="ctr"/>
          <a:lstStyle/>
          <a:p>
            <a:pPr indent="0" marL="0">
              <a:buNone/>
            </a:pPr>
            <a:r>
              <a:rPr lang="en-US" sz="880" dirty="0">
                <a:solidFill>
                  <a:srgbClr val="94A3B8"/>
                </a:solidFill>
              </a:rPr>
              <a:t>Sending internal HR policies, blueprints, or payroll rules to public cloud APIs violates GDPR, HIPAA, and enterprise compliance.</a:t>
            </a:r>
            <a:endParaRPr lang="en-US" sz="880" dirty="0"/>
          </a:p>
        </p:txBody>
      </p:sp>
      <p:sp>
        <p:nvSpPr>
          <p:cNvPr id="16" name="Shape 14"/>
          <p:cNvSpPr/>
          <p:nvPr/>
        </p:nvSpPr>
        <p:spPr>
          <a:xfrm>
            <a:off x="960120" y="3255264"/>
            <a:ext cx="4709160" cy="859536"/>
          </a:xfrm>
          <a:prstGeom prst="roundRect">
            <a:avLst>
              <a:gd name="adj" fmla="val 8511"/>
            </a:avLst>
          </a:prstGeom>
          <a:solidFill>
            <a:srgbClr val="121F42"/>
          </a:solidFill>
          <a:ln w="10160">
            <a:solidFill>
              <a:srgbClr val="1E3264"/>
            </a:solidFill>
            <a:prstDash val="solid"/>
          </a:ln>
        </p:spPr>
      </p:sp>
      <p:sp>
        <p:nvSpPr>
          <p:cNvPr id="17" name="Text 15"/>
          <p:cNvSpPr/>
          <p:nvPr/>
        </p:nvSpPr>
        <p:spPr>
          <a:xfrm>
            <a:off x="1097280" y="3328416"/>
            <a:ext cx="4434840" cy="228600"/>
          </a:xfrm>
          <a:prstGeom prst="rect">
            <a:avLst/>
          </a:prstGeom>
          <a:noFill/>
          <a:ln/>
        </p:spPr>
        <p:txBody>
          <a:bodyPr wrap="square" rtlCol="0" anchor="ctr"/>
          <a:lstStyle/>
          <a:p>
            <a:pPr indent="0" marL="0">
              <a:buNone/>
            </a:pPr>
            <a:r>
              <a:rPr lang="en-US" sz="1050" b="1" dirty="0">
                <a:solidFill>
                  <a:srgbClr val="FCA5A5"/>
                </a:solidFill>
              </a:rPr>
              <a:t>✖ Hallucinations &amp; Zero Auditability</a:t>
            </a:r>
            <a:endParaRPr lang="en-US" sz="1050" dirty="0"/>
          </a:p>
        </p:txBody>
      </p:sp>
      <p:sp>
        <p:nvSpPr>
          <p:cNvPr id="18" name="Text 16"/>
          <p:cNvSpPr/>
          <p:nvPr/>
        </p:nvSpPr>
        <p:spPr>
          <a:xfrm>
            <a:off x="1097280" y="3547872"/>
            <a:ext cx="4434840" cy="512064"/>
          </a:xfrm>
          <a:prstGeom prst="rect">
            <a:avLst/>
          </a:prstGeom>
          <a:noFill/>
          <a:ln/>
        </p:spPr>
        <p:txBody>
          <a:bodyPr wrap="square" rtlCol="0" anchor="ctr"/>
          <a:lstStyle/>
          <a:p>
            <a:pPr indent="0" marL="0">
              <a:buNone/>
            </a:pPr>
            <a:r>
              <a:rPr lang="en-US" sz="880" dirty="0">
                <a:solidFill>
                  <a:srgbClr val="94A3B8"/>
                </a:solidFill>
              </a:rPr>
              <a:t>Generic LLMs generate plausible but fabricated procedural rules without verifiable section citations, creating legal liabilities.</a:t>
            </a:r>
            <a:endParaRPr lang="en-US" sz="880" dirty="0"/>
          </a:p>
        </p:txBody>
      </p:sp>
      <p:sp>
        <p:nvSpPr>
          <p:cNvPr id="19" name="Shape 17"/>
          <p:cNvSpPr/>
          <p:nvPr/>
        </p:nvSpPr>
        <p:spPr>
          <a:xfrm>
            <a:off x="960120" y="4206240"/>
            <a:ext cx="4709160" cy="859536"/>
          </a:xfrm>
          <a:prstGeom prst="roundRect">
            <a:avLst>
              <a:gd name="adj" fmla="val 8511"/>
            </a:avLst>
          </a:prstGeom>
          <a:solidFill>
            <a:srgbClr val="121F42"/>
          </a:solidFill>
          <a:ln w="10160">
            <a:solidFill>
              <a:srgbClr val="1E3264"/>
            </a:solidFill>
            <a:prstDash val="solid"/>
          </a:ln>
        </p:spPr>
      </p:sp>
      <p:sp>
        <p:nvSpPr>
          <p:cNvPr id="20" name="Text 18"/>
          <p:cNvSpPr/>
          <p:nvPr/>
        </p:nvSpPr>
        <p:spPr>
          <a:xfrm>
            <a:off x="1097280" y="4279392"/>
            <a:ext cx="4434840" cy="228600"/>
          </a:xfrm>
          <a:prstGeom prst="rect">
            <a:avLst/>
          </a:prstGeom>
          <a:noFill/>
          <a:ln/>
        </p:spPr>
        <p:txBody>
          <a:bodyPr wrap="square" rtlCol="0" anchor="ctr"/>
          <a:lstStyle/>
          <a:p>
            <a:pPr indent="0" marL="0">
              <a:buNone/>
            </a:pPr>
            <a:r>
              <a:rPr lang="en-US" sz="1050" b="1" dirty="0">
                <a:solidFill>
                  <a:srgbClr val="FCA5A5"/>
                </a:solidFill>
              </a:rPr>
              <a:t>✖ Massive Document Search Friction</a:t>
            </a:r>
            <a:endParaRPr lang="en-US" sz="1050" dirty="0"/>
          </a:p>
        </p:txBody>
      </p:sp>
      <p:sp>
        <p:nvSpPr>
          <p:cNvPr id="21" name="Text 19"/>
          <p:cNvSpPr/>
          <p:nvPr/>
        </p:nvSpPr>
        <p:spPr>
          <a:xfrm>
            <a:off x="1097280" y="4498848"/>
            <a:ext cx="4434840" cy="512064"/>
          </a:xfrm>
          <a:prstGeom prst="rect">
            <a:avLst/>
          </a:prstGeom>
          <a:noFill/>
          <a:ln/>
        </p:spPr>
        <p:txBody>
          <a:bodyPr wrap="square" rtlCol="0" anchor="ctr"/>
          <a:lstStyle/>
          <a:p>
            <a:pPr indent="0" marL="0">
              <a:buNone/>
            </a:pPr>
            <a:r>
              <a:rPr lang="en-US" sz="880" dirty="0">
                <a:solidFill>
                  <a:srgbClr val="94A3B8"/>
                </a:solidFill>
              </a:rPr>
              <a:t>Employees spend 30-45 mins per incident manually scrolling through 200+ page PDF manuals to locate a single rule.</a:t>
            </a:r>
            <a:endParaRPr lang="en-US" sz="880" dirty="0"/>
          </a:p>
        </p:txBody>
      </p:sp>
      <p:sp>
        <p:nvSpPr>
          <p:cNvPr id="22" name="Shape 20"/>
          <p:cNvSpPr/>
          <p:nvPr/>
        </p:nvSpPr>
        <p:spPr>
          <a:xfrm>
            <a:off x="960120" y="5157216"/>
            <a:ext cx="4709160" cy="859536"/>
          </a:xfrm>
          <a:prstGeom prst="roundRect">
            <a:avLst>
              <a:gd name="adj" fmla="val 8511"/>
            </a:avLst>
          </a:prstGeom>
          <a:solidFill>
            <a:srgbClr val="121F42"/>
          </a:solidFill>
          <a:ln w="10160">
            <a:solidFill>
              <a:srgbClr val="1E3264"/>
            </a:solidFill>
            <a:prstDash val="solid"/>
          </a:ln>
        </p:spPr>
      </p:sp>
      <p:sp>
        <p:nvSpPr>
          <p:cNvPr id="23" name="Text 21"/>
          <p:cNvSpPr/>
          <p:nvPr/>
        </p:nvSpPr>
        <p:spPr>
          <a:xfrm>
            <a:off x="1097280" y="5230368"/>
            <a:ext cx="4434840" cy="228600"/>
          </a:xfrm>
          <a:prstGeom prst="rect">
            <a:avLst/>
          </a:prstGeom>
          <a:noFill/>
          <a:ln/>
        </p:spPr>
        <p:txBody>
          <a:bodyPr wrap="square" rtlCol="0" anchor="ctr"/>
          <a:lstStyle/>
          <a:p>
            <a:pPr indent="0" marL="0">
              <a:buNone/>
            </a:pPr>
            <a:r>
              <a:rPr lang="en-US" sz="1050" b="1" dirty="0">
                <a:solidFill>
                  <a:srgbClr val="FCA5A5"/>
                </a:solidFill>
              </a:rPr>
              <a:t>✖ Keyword Search Blindspots</a:t>
            </a:r>
            <a:endParaRPr lang="en-US" sz="1050" dirty="0"/>
          </a:p>
        </p:txBody>
      </p:sp>
      <p:sp>
        <p:nvSpPr>
          <p:cNvPr id="24" name="Text 22"/>
          <p:cNvSpPr/>
          <p:nvPr/>
        </p:nvSpPr>
        <p:spPr>
          <a:xfrm>
            <a:off x="1097280" y="5449824"/>
            <a:ext cx="4434840" cy="512064"/>
          </a:xfrm>
          <a:prstGeom prst="rect">
            <a:avLst/>
          </a:prstGeom>
          <a:noFill/>
          <a:ln/>
        </p:spPr>
        <p:txBody>
          <a:bodyPr wrap="square" rtlCol="0" anchor="ctr"/>
          <a:lstStyle/>
          <a:p>
            <a:pPr indent="0" marL="0">
              <a:buNone/>
            </a:pPr>
            <a:r>
              <a:rPr lang="en-US" sz="880" dirty="0">
                <a:solidFill>
                  <a:srgbClr val="94A3B8"/>
                </a:solidFill>
              </a:rPr>
              <a:t>Exact keyword match fails on synonym queries (e.g. searching "time off" completely misses "earned casual leave").</a:t>
            </a:r>
            <a:endParaRPr lang="en-US" sz="880" dirty="0"/>
          </a:p>
        </p:txBody>
      </p:sp>
      <p:sp>
        <p:nvSpPr>
          <p:cNvPr id="25" name="Shape 23"/>
          <p:cNvSpPr/>
          <p:nvPr/>
        </p:nvSpPr>
        <p:spPr>
          <a:xfrm>
            <a:off x="6263640" y="1600200"/>
            <a:ext cx="5166360" cy="4572000"/>
          </a:xfrm>
          <a:prstGeom prst="roundRect">
            <a:avLst>
              <a:gd name="adj" fmla="val 2400"/>
            </a:avLst>
          </a:prstGeom>
          <a:solidFill>
            <a:srgbClr val="0E1834"/>
          </a:solidFill>
          <a:ln w="15240">
            <a:solidFill>
              <a:srgbClr val="10B981"/>
            </a:solidFill>
            <a:prstDash val="solid"/>
          </a:ln>
        </p:spPr>
      </p:sp>
      <p:sp>
        <p:nvSpPr>
          <p:cNvPr id="26" name="Shape 24"/>
          <p:cNvSpPr/>
          <p:nvPr/>
        </p:nvSpPr>
        <p:spPr>
          <a:xfrm>
            <a:off x="6492240" y="1783080"/>
            <a:ext cx="4709160" cy="384048"/>
          </a:xfrm>
          <a:prstGeom prst="roundRect">
            <a:avLst>
              <a:gd name="adj" fmla="val 19048"/>
            </a:avLst>
          </a:prstGeom>
          <a:solidFill>
            <a:srgbClr val="062D20"/>
          </a:solidFill>
          <a:ln w="10160">
            <a:solidFill>
              <a:srgbClr val="10B981"/>
            </a:solidFill>
            <a:prstDash val="solid"/>
          </a:ln>
        </p:spPr>
      </p:sp>
      <p:sp>
        <p:nvSpPr>
          <p:cNvPr id="27" name="Text 25"/>
          <p:cNvSpPr/>
          <p:nvPr/>
        </p:nvSpPr>
        <p:spPr>
          <a:xfrm>
            <a:off x="6492240" y="1783080"/>
            <a:ext cx="4709160" cy="384048"/>
          </a:xfrm>
          <a:prstGeom prst="rect">
            <a:avLst/>
          </a:prstGeom>
          <a:noFill/>
          <a:ln/>
        </p:spPr>
        <p:txBody>
          <a:bodyPr wrap="square" rtlCol="0" anchor="ctr"/>
          <a:lstStyle/>
          <a:p>
            <a:pPr algn="ctr" indent="0" marL="0">
              <a:buNone/>
            </a:pPr>
            <a:r>
              <a:rPr lang="en-US" sz="1100" b="1" dirty="0">
                <a:solidFill>
                  <a:srgbClr val="10B981"/>
                </a:solidFill>
              </a:rPr>
              <a:t>OUR PRIVACY-FIRST LOCAL RAG SOLUTION</a:t>
            </a:r>
            <a:endParaRPr lang="en-US" sz="1100" dirty="0"/>
          </a:p>
        </p:txBody>
      </p:sp>
      <p:sp>
        <p:nvSpPr>
          <p:cNvPr id="28" name="Shape 26"/>
          <p:cNvSpPr/>
          <p:nvPr/>
        </p:nvSpPr>
        <p:spPr>
          <a:xfrm>
            <a:off x="6492240" y="2304288"/>
            <a:ext cx="4709160" cy="859536"/>
          </a:xfrm>
          <a:prstGeom prst="roundRect">
            <a:avLst>
              <a:gd name="adj" fmla="val 8511"/>
            </a:avLst>
          </a:prstGeom>
          <a:solidFill>
            <a:srgbClr val="121F42"/>
          </a:solidFill>
          <a:ln w="10160">
            <a:solidFill>
              <a:srgbClr val="1E3264"/>
            </a:solidFill>
            <a:prstDash val="solid"/>
          </a:ln>
        </p:spPr>
      </p:sp>
      <p:sp>
        <p:nvSpPr>
          <p:cNvPr id="29" name="Text 27"/>
          <p:cNvSpPr/>
          <p:nvPr/>
        </p:nvSpPr>
        <p:spPr>
          <a:xfrm>
            <a:off x="6629400" y="2377440"/>
            <a:ext cx="4434840" cy="228600"/>
          </a:xfrm>
          <a:prstGeom prst="rect">
            <a:avLst/>
          </a:prstGeom>
          <a:noFill/>
          <a:ln/>
        </p:spPr>
        <p:txBody>
          <a:bodyPr wrap="square" rtlCol="0" anchor="ctr"/>
          <a:lstStyle/>
          <a:p>
            <a:pPr indent="0" marL="0">
              <a:buNone/>
            </a:pPr>
            <a:r>
              <a:rPr lang="en-US" sz="1050" b="1" dirty="0">
                <a:solidFill>
                  <a:srgbClr val="00F2FE"/>
                </a:solidFill>
              </a:rPr>
              <a:t>✔ 100% Local Inference (Ollama)</a:t>
            </a:r>
            <a:endParaRPr lang="en-US" sz="1050" dirty="0"/>
          </a:p>
        </p:txBody>
      </p:sp>
      <p:sp>
        <p:nvSpPr>
          <p:cNvPr id="30" name="Text 28"/>
          <p:cNvSpPr/>
          <p:nvPr/>
        </p:nvSpPr>
        <p:spPr>
          <a:xfrm>
            <a:off x="6629400" y="2596896"/>
            <a:ext cx="4434840" cy="512064"/>
          </a:xfrm>
          <a:prstGeom prst="rect">
            <a:avLst/>
          </a:prstGeom>
          <a:noFill/>
          <a:ln/>
        </p:spPr>
        <p:txBody>
          <a:bodyPr wrap="square" rtlCol="0" anchor="ctr"/>
          <a:lstStyle/>
          <a:p>
            <a:pPr indent="0" marL="0">
              <a:buNone/>
            </a:pPr>
            <a:r>
              <a:rPr lang="en-US" sz="880" dirty="0">
                <a:solidFill>
                  <a:srgbClr val="94A3B8"/>
                </a:solidFill>
              </a:rPr>
              <a:t>All embeddings and LLM generation stay inside the enterprise firewall. Zero internet access required.</a:t>
            </a:r>
            <a:endParaRPr lang="en-US" sz="880" dirty="0"/>
          </a:p>
        </p:txBody>
      </p:sp>
      <p:sp>
        <p:nvSpPr>
          <p:cNvPr id="31" name="Shape 29"/>
          <p:cNvSpPr/>
          <p:nvPr/>
        </p:nvSpPr>
        <p:spPr>
          <a:xfrm>
            <a:off x="6492240" y="3255264"/>
            <a:ext cx="4709160" cy="859536"/>
          </a:xfrm>
          <a:prstGeom prst="roundRect">
            <a:avLst>
              <a:gd name="adj" fmla="val 8511"/>
            </a:avLst>
          </a:prstGeom>
          <a:solidFill>
            <a:srgbClr val="121F42"/>
          </a:solidFill>
          <a:ln w="10160">
            <a:solidFill>
              <a:srgbClr val="1E3264"/>
            </a:solidFill>
            <a:prstDash val="solid"/>
          </a:ln>
        </p:spPr>
      </p:sp>
      <p:sp>
        <p:nvSpPr>
          <p:cNvPr id="32" name="Text 30"/>
          <p:cNvSpPr/>
          <p:nvPr/>
        </p:nvSpPr>
        <p:spPr>
          <a:xfrm>
            <a:off x="6629400" y="3328416"/>
            <a:ext cx="4434840" cy="228600"/>
          </a:xfrm>
          <a:prstGeom prst="rect">
            <a:avLst/>
          </a:prstGeom>
          <a:noFill/>
          <a:ln/>
        </p:spPr>
        <p:txBody>
          <a:bodyPr wrap="square" rtlCol="0" anchor="ctr"/>
          <a:lstStyle/>
          <a:p>
            <a:pPr indent="0" marL="0">
              <a:buNone/>
            </a:pPr>
            <a:r>
              <a:rPr lang="en-US" sz="1050" b="1" dirty="0">
                <a:solidFill>
                  <a:srgbClr val="00F2FE"/>
                </a:solidFill>
              </a:rPr>
              <a:t>✔ Strict Extractor Persona &amp; Citations</a:t>
            </a:r>
            <a:endParaRPr lang="en-US" sz="1050" dirty="0"/>
          </a:p>
        </p:txBody>
      </p:sp>
      <p:sp>
        <p:nvSpPr>
          <p:cNvPr id="33" name="Text 31"/>
          <p:cNvSpPr/>
          <p:nvPr/>
        </p:nvSpPr>
        <p:spPr>
          <a:xfrm>
            <a:off x="6629400" y="3547872"/>
            <a:ext cx="4434840" cy="512064"/>
          </a:xfrm>
          <a:prstGeom prst="rect">
            <a:avLst/>
          </a:prstGeom>
          <a:noFill/>
          <a:ln/>
        </p:spPr>
        <p:txBody>
          <a:bodyPr wrap="square" rtlCol="0" anchor="ctr"/>
          <a:lstStyle/>
          <a:p>
            <a:pPr indent="0" marL="0">
              <a:buNone/>
            </a:pPr>
            <a:r>
              <a:rPr lang="en-US" sz="880" dirty="0">
                <a:solidFill>
                  <a:srgbClr val="94A3B8"/>
                </a:solidFill>
              </a:rPr>
              <a:t>Answers strictly quote policy text and terminate with exact source filenames and section headers for 100% auditability.</a:t>
            </a:r>
            <a:endParaRPr lang="en-US" sz="880" dirty="0"/>
          </a:p>
        </p:txBody>
      </p:sp>
      <p:sp>
        <p:nvSpPr>
          <p:cNvPr id="34" name="Shape 32"/>
          <p:cNvSpPr/>
          <p:nvPr/>
        </p:nvSpPr>
        <p:spPr>
          <a:xfrm>
            <a:off x="6492240" y="4206240"/>
            <a:ext cx="4709160" cy="859536"/>
          </a:xfrm>
          <a:prstGeom prst="roundRect">
            <a:avLst>
              <a:gd name="adj" fmla="val 8511"/>
            </a:avLst>
          </a:prstGeom>
          <a:solidFill>
            <a:srgbClr val="121F42"/>
          </a:solidFill>
          <a:ln w="10160">
            <a:solidFill>
              <a:srgbClr val="1E3264"/>
            </a:solidFill>
            <a:prstDash val="solid"/>
          </a:ln>
        </p:spPr>
      </p:sp>
      <p:sp>
        <p:nvSpPr>
          <p:cNvPr id="35" name="Text 33"/>
          <p:cNvSpPr/>
          <p:nvPr/>
        </p:nvSpPr>
        <p:spPr>
          <a:xfrm>
            <a:off x="6629400" y="4279392"/>
            <a:ext cx="4434840" cy="228600"/>
          </a:xfrm>
          <a:prstGeom prst="rect">
            <a:avLst/>
          </a:prstGeom>
          <a:noFill/>
          <a:ln/>
        </p:spPr>
        <p:txBody>
          <a:bodyPr wrap="square" rtlCol="0" anchor="ctr"/>
          <a:lstStyle/>
          <a:p>
            <a:pPr indent="0" marL="0">
              <a:buNone/>
            </a:pPr>
            <a:r>
              <a:rPr lang="en-US" sz="1050" b="1" dirty="0">
                <a:solidFill>
                  <a:srgbClr val="00F2FE"/>
                </a:solidFill>
              </a:rPr>
              <a:t>✔ Hybrid Search (Dense + BM25 + RRF)</a:t>
            </a:r>
            <a:endParaRPr lang="en-US" sz="1050" dirty="0"/>
          </a:p>
        </p:txBody>
      </p:sp>
      <p:sp>
        <p:nvSpPr>
          <p:cNvPr id="36" name="Text 34"/>
          <p:cNvSpPr/>
          <p:nvPr/>
        </p:nvSpPr>
        <p:spPr>
          <a:xfrm>
            <a:off x="6629400" y="4498848"/>
            <a:ext cx="4434840" cy="512064"/>
          </a:xfrm>
          <a:prstGeom prst="rect">
            <a:avLst/>
          </a:prstGeom>
          <a:noFill/>
          <a:ln/>
        </p:spPr>
        <p:txBody>
          <a:bodyPr wrap="square" rtlCol="0" anchor="ctr"/>
          <a:lstStyle/>
          <a:p>
            <a:pPr indent="0" marL="0">
              <a:buNone/>
            </a:pPr>
            <a:r>
              <a:rPr lang="en-US" sz="880" dirty="0">
                <a:solidFill>
                  <a:srgbClr val="94A3B8"/>
                </a:solidFill>
              </a:rPr>
              <a:t>Combines ChromaDB vector retrieval with BM25 exact keyword matching to catch both semantic intent and exact form codes.</a:t>
            </a:r>
            <a:endParaRPr lang="en-US" sz="880" dirty="0"/>
          </a:p>
        </p:txBody>
      </p:sp>
      <p:sp>
        <p:nvSpPr>
          <p:cNvPr id="37" name="Shape 35"/>
          <p:cNvSpPr/>
          <p:nvPr/>
        </p:nvSpPr>
        <p:spPr>
          <a:xfrm>
            <a:off x="6492240" y="5157216"/>
            <a:ext cx="4709160" cy="859536"/>
          </a:xfrm>
          <a:prstGeom prst="roundRect">
            <a:avLst>
              <a:gd name="adj" fmla="val 8511"/>
            </a:avLst>
          </a:prstGeom>
          <a:solidFill>
            <a:srgbClr val="121F42"/>
          </a:solidFill>
          <a:ln w="10160">
            <a:solidFill>
              <a:srgbClr val="1E3264"/>
            </a:solidFill>
            <a:prstDash val="solid"/>
          </a:ln>
        </p:spPr>
      </p:sp>
      <p:sp>
        <p:nvSpPr>
          <p:cNvPr id="38" name="Text 36"/>
          <p:cNvSpPr/>
          <p:nvPr/>
        </p:nvSpPr>
        <p:spPr>
          <a:xfrm>
            <a:off x="6629400" y="5230368"/>
            <a:ext cx="4434840" cy="228600"/>
          </a:xfrm>
          <a:prstGeom prst="rect">
            <a:avLst/>
          </a:prstGeom>
          <a:noFill/>
          <a:ln/>
        </p:spPr>
        <p:txBody>
          <a:bodyPr wrap="square" rtlCol="0" anchor="ctr"/>
          <a:lstStyle/>
          <a:p>
            <a:pPr indent="0" marL="0">
              <a:buNone/>
            </a:pPr>
            <a:r>
              <a:rPr lang="en-US" sz="1050" b="1" dirty="0">
                <a:solidFill>
                  <a:srgbClr val="00F2FE"/>
                </a:solidFill>
              </a:rPr>
              <a:t>✔ Automated Multimodal Vision AI</a:t>
            </a:r>
            <a:endParaRPr lang="en-US" sz="1050" dirty="0"/>
          </a:p>
        </p:txBody>
      </p:sp>
      <p:sp>
        <p:nvSpPr>
          <p:cNvPr id="39" name="Text 37"/>
          <p:cNvSpPr/>
          <p:nvPr/>
        </p:nvSpPr>
        <p:spPr>
          <a:xfrm>
            <a:off x="6629400" y="5449824"/>
            <a:ext cx="4434840" cy="512064"/>
          </a:xfrm>
          <a:prstGeom prst="rect">
            <a:avLst/>
          </a:prstGeom>
          <a:noFill/>
          <a:ln/>
        </p:spPr>
        <p:txBody>
          <a:bodyPr wrap="square" rtlCol="0" anchor="ctr"/>
          <a:lstStyle/>
          <a:p>
            <a:pPr indent="0" marL="0">
              <a:buNone/>
            </a:pPr>
            <a:r>
              <a:rPr lang="en-US" sz="880" dirty="0">
                <a:solidFill>
                  <a:srgbClr val="94A3B8"/>
                </a:solidFill>
              </a:rPr>
              <a:t>Extracts and captions embedded images, diagrams, and flowcharts using local Vision-Language Models.</a:t>
            </a:r>
            <a:endParaRPr lang="en-US" sz="8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D1E"/>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F2FE"/>
          </a:solidFill>
          <a:ln/>
        </p:spPr>
      </p:sp>
      <p:sp>
        <p:nvSpPr>
          <p:cNvPr id="3" name="Shape 1"/>
          <p:cNvSpPr/>
          <p:nvPr/>
        </p:nvSpPr>
        <p:spPr>
          <a:xfrm>
            <a:off x="731520" y="347472"/>
            <a:ext cx="2560320" cy="274320"/>
          </a:xfrm>
          <a:prstGeom prst="roundRect">
            <a:avLst>
              <a:gd name="adj" fmla="val 26667"/>
            </a:avLst>
          </a:prstGeom>
          <a:solidFill>
            <a:srgbClr val="0E1834"/>
          </a:solidFill>
          <a:ln w="12700">
            <a:solidFill>
              <a:srgbClr val="00F2FE"/>
            </a:solidFill>
            <a:prstDash val="solid"/>
          </a:ln>
        </p:spPr>
      </p:sp>
      <p:sp>
        <p:nvSpPr>
          <p:cNvPr id="4" name="Text 2"/>
          <p:cNvSpPr/>
          <p:nvPr/>
        </p:nvSpPr>
        <p:spPr>
          <a:xfrm>
            <a:off x="731520" y="347472"/>
            <a:ext cx="2560320" cy="274320"/>
          </a:xfrm>
          <a:prstGeom prst="rect">
            <a:avLst/>
          </a:prstGeom>
          <a:noFill/>
          <a:ln/>
        </p:spPr>
        <p:txBody>
          <a:bodyPr wrap="square" rtlCol="0" anchor="ctr"/>
          <a:lstStyle/>
          <a:p>
            <a:pPr algn="ctr" indent="0" marL="0">
              <a:buNone/>
            </a:pPr>
            <a:r>
              <a:rPr lang="en-US" sz="900" b="1" dirty="0">
                <a:solidFill>
                  <a:srgbClr val="00F2FE"/>
                </a:solidFill>
                <a:latin typeface="Arial" pitchFamily="34" charset="0"/>
                <a:ea typeface="Arial" pitchFamily="34" charset="-122"/>
                <a:cs typeface="Arial" pitchFamily="34" charset="-120"/>
              </a:rPr>
              <a:t>SYSTEM DESIGN &amp; ARCHITECTURE</a:t>
            </a:r>
            <a:endParaRPr lang="en-US" sz="900" dirty="0"/>
          </a:p>
        </p:txBody>
      </p:sp>
      <p:sp>
        <p:nvSpPr>
          <p:cNvPr id="5" name="Text 3"/>
          <p:cNvSpPr/>
          <p:nvPr/>
        </p:nvSpPr>
        <p:spPr>
          <a:xfrm>
            <a:off x="731520" y="676656"/>
            <a:ext cx="10698480" cy="502920"/>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3-Tier Decoupled Architecture: Presentation, Orchestration &amp; Storage</a:t>
            </a:r>
            <a:endParaRPr lang="en-US" sz="2100" dirty="0"/>
          </a:p>
        </p:txBody>
      </p:sp>
      <p:sp>
        <p:nvSpPr>
          <p:cNvPr id="6" name="Text 4"/>
          <p:cNvSpPr/>
          <p:nvPr/>
        </p:nvSpPr>
        <p:spPr>
          <a:xfrm>
            <a:off x="731520" y="1170432"/>
            <a:ext cx="10698480" cy="292608"/>
          </a:xfrm>
          <a:prstGeom prst="rect">
            <a:avLst/>
          </a:prstGeom>
          <a:noFill/>
          <a:ln/>
        </p:spPr>
        <p:txBody>
          <a:bodyPr wrap="square" rtlCol="0" anchor="ctr"/>
          <a:lstStyle/>
          <a:p>
            <a:pPr indent="0" marL="0">
              <a:buNone/>
            </a:pPr>
            <a:r>
              <a:rPr lang="en-US" sz="1150" dirty="0">
                <a:solidFill>
                  <a:srgbClr val="94A3B8"/>
                </a:solidFill>
                <a:latin typeface="Arial" pitchFamily="34" charset="0"/>
                <a:ea typeface="Arial" pitchFamily="34" charset="-122"/>
                <a:cs typeface="Arial" pitchFamily="34" charset="-120"/>
              </a:rPr>
              <a:t>Modular, air-gapped system design engineered for local execution, high throughput, and zero-crash fault tolerance</a:t>
            </a:r>
            <a:endParaRPr lang="en-US" sz="1150" dirty="0"/>
          </a:p>
        </p:txBody>
      </p:sp>
      <p:sp>
        <p:nvSpPr>
          <p:cNvPr id="7" name="Shape 5"/>
          <p:cNvSpPr/>
          <p:nvPr/>
        </p:nvSpPr>
        <p:spPr>
          <a:xfrm>
            <a:off x="731520" y="6400800"/>
            <a:ext cx="10698480" cy="18288"/>
          </a:xfrm>
          <a:prstGeom prst="rect">
            <a:avLst/>
          </a:prstGeom>
          <a:solidFill>
            <a:srgbClr val="1E3264"/>
          </a:solidFill>
          <a:ln/>
        </p:spPr>
      </p:sp>
      <p:sp>
        <p:nvSpPr>
          <p:cNvPr id="8" name="Text 6"/>
          <p:cNvSpPr/>
          <p:nvPr/>
        </p:nvSpPr>
        <p:spPr>
          <a:xfrm>
            <a:off x="731520" y="6446520"/>
            <a:ext cx="73152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LEINA • Local SOP RAG Architecture | Larsen &amp; Toubro Enterprise AI</a:t>
            </a:r>
            <a:endParaRPr lang="en-US" sz="850" dirty="0"/>
          </a:p>
        </p:txBody>
      </p:sp>
      <p:sp>
        <p:nvSpPr>
          <p:cNvPr id="9" name="Text 7"/>
          <p:cNvSpPr/>
          <p:nvPr/>
        </p:nvSpPr>
        <p:spPr>
          <a:xfrm>
            <a:off x="8686800" y="6446520"/>
            <a:ext cx="2743200" cy="274320"/>
          </a:xfrm>
          <a:prstGeom prst="rect">
            <a:avLst/>
          </a:prstGeom>
          <a:noFill/>
          <a:ln/>
        </p:spPr>
        <p:txBody>
          <a:bodyPr wrap="square" rtlCol="0" anchor="ctr"/>
          <a:lstStyle/>
          <a:p>
            <a:pPr algn="r" indent="0" marL="0">
              <a:buNone/>
            </a:pPr>
            <a:r>
              <a:rPr lang="en-US" sz="850" b="1" dirty="0">
                <a:solidFill>
                  <a:srgbClr val="00F2FE"/>
                </a:solidFill>
                <a:latin typeface="Arial" pitchFamily="34" charset="0"/>
                <a:ea typeface="Arial" pitchFamily="34" charset="-122"/>
                <a:cs typeface="Arial" pitchFamily="34" charset="-120"/>
              </a:rPr>
              <a:t>CONFIDENTIAL &amp; PROPRIETARY</a:t>
            </a:r>
            <a:endParaRPr lang="en-US" sz="850" dirty="0"/>
          </a:p>
        </p:txBody>
      </p:sp>
      <p:sp>
        <p:nvSpPr>
          <p:cNvPr id="10" name="Shape 8"/>
          <p:cNvSpPr/>
          <p:nvPr/>
        </p:nvSpPr>
        <p:spPr>
          <a:xfrm>
            <a:off x="731520" y="1600200"/>
            <a:ext cx="3429000" cy="4526280"/>
          </a:xfrm>
          <a:prstGeom prst="roundRect">
            <a:avLst>
              <a:gd name="adj" fmla="val 3200"/>
            </a:avLst>
          </a:prstGeom>
          <a:solidFill>
            <a:srgbClr val="0E1834"/>
          </a:solidFill>
          <a:ln w="15240">
            <a:solidFill>
              <a:srgbClr val="00F2FE"/>
            </a:solidFill>
            <a:prstDash val="solid"/>
          </a:ln>
        </p:spPr>
      </p:sp>
      <p:sp>
        <p:nvSpPr>
          <p:cNvPr id="11" name="Shape 9"/>
          <p:cNvSpPr/>
          <p:nvPr/>
        </p:nvSpPr>
        <p:spPr>
          <a:xfrm>
            <a:off x="868680" y="1737360"/>
            <a:ext cx="3154680" cy="658368"/>
          </a:xfrm>
          <a:prstGeom prst="roundRect">
            <a:avLst>
              <a:gd name="adj" fmla="val 11111"/>
            </a:avLst>
          </a:prstGeom>
          <a:solidFill>
            <a:srgbClr val="182958"/>
          </a:solidFill>
          <a:ln w="10160">
            <a:solidFill>
              <a:srgbClr val="00F2FE"/>
            </a:solidFill>
            <a:prstDash val="solid"/>
          </a:ln>
        </p:spPr>
      </p:sp>
      <p:sp>
        <p:nvSpPr>
          <p:cNvPr id="12" name="Text 10"/>
          <p:cNvSpPr/>
          <p:nvPr/>
        </p:nvSpPr>
        <p:spPr>
          <a:xfrm>
            <a:off x="914400" y="1783080"/>
            <a:ext cx="3063240" cy="228600"/>
          </a:xfrm>
          <a:prstGeom prst="rect">
            <a:avLst/>
          </a:prstGeom>
          <a:noFill/>
          <a:ln/>
        </p:spPr>
        <p:txBody>
          <a:bodyPr wrap="square" rtlCol="0" anchor="ctr"/>
          <a:lstStyle/>
          <a:p>
            <a:pPr algn="ctr" indent="0" marL="0">
              <a:buNone/>
            </a:pPr>
            <a:r>
              <a:rPr lang="en-US" sz="850" b="1" dirty="0">
                <a:solidFill>
                  <a:srgbClr val="00F2FE"/>
                </a:solidFill>
              </a:rPr>
              <a:t>TIER 1: PRESENTATION LAYER</a:t>
            </a:r>
            <a:endParaRPr lang="en-US" sz="850" dirty="0"/>
          </a:p>
        </p:txBody>
      </p:sp>
      <p:sp>
        <p:nvSpPr>
          <p:cNvPr id="13" name="Text 11"/>
          <p:cNvSpPr/>
          <p:nvPr/>
        </p:nvSpPr>
        <p:spPr>
          <a:xfrm>
            <a:off x="914400" y="2011680"/>
            <a:ext cx="3063240" cy="320040"/>
          </a:xfrm>
          <a:prstGeom prst="rect">
            <a:avLst/>
          </a:prstGeom>
          <a:noFill/>
          <a:ln/>
        </p:spPr>
        <p:txBody>
          <a:bodyPr wrap="square" rtlCol="0" anchor="ctr"/>
          <a:lstStyle/>
          <a:p>
            <a:pPr algn="ctr" indent="0" marL="0">
              <a:buNone/>
            </a:pPr>
            <a:r>
              <a:rPr lang="en-US" sz="1100" b="1" dirty="0">
                <a:solidFill>
                  <a:srgbClr val="FFFFFF"/>
                </a:solidFill>
              </a:rPr>
              <a:t>React 19 &amp; Tailwind CSS</a:t>
            </a:r>
            <a:endParaRPr lang="en-US" sz="1100" dirty="0"/>
          </a:p>
        </p:txBody>
      </p:sp>
      <p:sp>
        <p:nvSpPr>
          <p:cNvPr id="14" name="Shape 12"/>
          <p:cNvSpPr/>
          <p:nvPr/>
        </p:nvSpPr>
        <p:spPr>
          <a:xfrm>
            <a:off x="914400" y="2514600"/>
            <a:ext cx="3063240" cy="768096"/>
          </a:xfrm>
          <a:prstGeom prst="roundRect">
            <a:avLst>
              <a:gd name="adj" fmla="val 9524"/>
            </a:avLst>
          </a:prstGeom>
          <a:solidFill>
            <a:srgbClr val="121F42"/>
          </a:solidFill>
          <a:ln w="10160">
            <a:solidFill>
              <a:srgbClr val="1E3264"/>
            </a:solidFill>
            <a:prstDash val="solid"/>
          </a:ln>
        </p:spPr>
      </p:sp>
      <p:sp>
        <p:nvSpPr>
          <p:cNvPr id="15" name="Text 13"/>
          <p:cNvSpPr/>
          <p:nvPr/>
        </p:nvSpPr>
        <p:spPr>
          <a:xfrm>
            <a:off x="987552" y="2587752"/>
            <a:ext cx="2907792" cy="621792"/>
          </a:xfrm>
          <a:prstGeom prst="rect">
            <a:avLst/>
          </a:prstGeom>
          <a:noFill/>
          <a:ln/>
        </p:spPr>
        <p:txBody>
          <a:bodyPr wrap="square" rtlCol="0" anchor="ctr"/>
          <a:lstStyle/>
          <a:p>
            <a:pPr indent="0" marL="0">
              <a:buNone/>
            </a:pPr>
            <a:r>
              <a:rPr lang="en-US" sz="880" dirty="0">
                <a:solidFill>
                  <a:srgbClr val="E2E8F0"/>
                </a:solidFill>
              </a:rPr>
              <a:t>• Interactive Chat Simulator with streaming text &amp; citations</a:t>
            </a:r>
            <a:endParaRPr lang="en-US" sz="880" dirty="0"/>
          </a:p>
        </p:txBody>
      </p:sp>
      <p:sp>
        <p:nvSpPr>
          <p:cNvPr id="16" name="Shape 14"/>
          <p:cNvSpPr/>
          <p:nvPr/>
        </p:nvSpPr>
        <p:spPr>
          <a:xfrm>
            <a:off x="914400" y="3383280"/>
            <a:ext cx="3063240" cy="768096"/>
          </a:xfrm>
          <a:prstGeom prst="roundRect">
            <a:avLst>
              <a:gd name="adj" fmla="val 9524"/>
            </a:avLst>
          </a:prstGeom>
          <a:solidFill>
            <a:srgbClr val="121F42"/>
          </a:solidFill>
          <a:ln w="10160">
            <a:solidFill>
              <a:srgbClr val="1E3264"/>
            </a:solidFill>
            <a:prstDash val="solid"/>
          </a:ln>
        </p:spPr>
      </p:sp>
      <p:sp>
        <p:nvSpPr>
          <p:cNvPr id="17" name="Text 15"/>
          <p:cNvSpPr/>
          <p:nvPr/>
        </p:nvSpPr>
        <p:spPr>
          <a:xfrm>
            <a:off x="987552" y="3456432"/>
            <a:ext cx="2907792" cy="621792"/>
          </a:xfrm>
          <a:prstGeom prst="rect">
            <a:avLst/>
          </a:prstGeom>
          <a:noFill/>
          <a:ln/>
        </p:spPr>
        <p:txBody>
          <a:bodyPr wrap="square" rtlCol="0" anchor="ctr"/>
          <a:lstStyle/>
          <a:p>
            <a:pPr indent="0" marL="0">
              <a:buNone/>
            </a:pPr>
            <a:r>
              <a:rPr lang="en-US" sz="880" dirty="0">
                <a:solidFill>
                  <a:srgbClr val="E2E8F0"/>
                </a:solidFill>
              </a:rPr>
              <a:t>• SOP Document Manager with live drag-and-drop ingestion</a:t>
            </a:r>
            <a:endParaRPr lang="en-US" sz="880" dirty="0"/>
          </a:p>
        </p:txBody>
      </p:sp>
      <p:sp>
        <p:nvSpPr>
          <p:cNvPr id="18" name="Shape 16"/>
          <p:cNvSpPr/>
          <p:nvPr/>
        </p:nvSpPr>
        <p:spPr>
          <a:xfrm>
            <a:off x="914400" y="4251960"/>
            <a:ext cx="3063240" cy="768096"/>
          </a:xfrm>
          <a:prstGeom prst="roundRect">
            <a:avLst>
              <a:gd name="adj" fmla="val 9524"/>
            </a:avLst>
          </a:prstGeom>
          <a:solidFill>
            <a:srgbClr val="121F42"/>
          </a:solidFill>
          <a:ln w="10160">
            <a:solidFill>
              <a:srgbClr val="1E3264"/>
            </a:solidFill>
            <a:prstDash val="solid"/>
          </a:ln>
        </p:spPr>
      </p:sp>
      <p:sp>
        <p:nvSpPr>
          <p:cNvPr id="19" name="Text 17"/>
          <p:cNvSpPr/>
          <p:nvPr/>
        </p:nvSpPr>
        <p:spPr>
          <a:xfrm>
            <a:off x="987552" y="4325112"/>
            <a:ext cx="2907792" cy="621792"/>
          </a:xfrm>
          <a:prstGeom prst="rect">
            <a:avLst/>
          </a:prstGeom>
          <a:noFill/>
          <a:ln/>
        </p:spPr>
        <p:txBody>
          <a:bodyPr wrap="square" rtlCol="0" anchor="ctr"/>
          <a:lstStyle/>
          <a:p>
            <a:pPr indent="0" marL="0">
              <a:buNone/>
            </a:pPr>
            <a:r>
              <a:rPr lang="en-US" sz="880" dirty="0">
                <a:solidFill>
                  <a:srgbClr val="E2E8F0"/>
                </a:solidFill>
              </a:rPr>
              <a:t>• Real-time Architecture &amp; Tokenizer visualizer</a:t>
            </a:r>
            <a:endParaRPr lang="en-US" sz="880" dirty="0"/>
          </a:p>
        </p:txBody>
      </p:sp>
      <p:sp>
        <p:nvSpPr>
          <p:cNvPr id="20" name="Shape 18"/>
          <p:cNvSpPr/>
          <p:nvPr/>
        </p:nvSpPr>
        <p:spPr>
          <a:xfrm>
            <a:off x="914400" y="5120640"/>
            <a:ext cx="3063240" cy="768096"/>
          </a:xfrm>
          <a:prstGeom prst="roundRect">
            <a:avLst>
              <a:gd name="adj" fmla="val 9524"/>
            </a:avLst>
          </a:prstGeom>
          <a:solidFill>
            <a:srgbClr val="121F42"/>
          </a:solidFill>
          <a:ln w="10160">
            <a:solidFill>
              <a:srgbClr val="1E3264"/>
            </a:solidFill>
            <a:prstDash val="solid"/>
          </a:ln>
        </p:spPr>
      </p:sp>
      <p:sp>
        <p:nvSpPr>
          <p:cNvPr id="21" name="Text 19"/>
          <p:cNvSpPr/>
          <p:nvPr/>
        </p:nvSpPr>
        <p:spPr>
          <a:xfrm>
            <a:off x="987552" y="5193792"/>
            <a:ext cx="2907792" cy="621792"/>
          </a:xfrm>
          <a:prstGeom prst="rect">
            <a:avLst/>
          </a:prstGeom>
          <a:noFill/>
          <a:ln/>
        </p:spPr>
        <p:txBody>
          <a:bodyPr wrap="square" rtlCol="0" anchor="ctr"/>
          <a:lstStyle/>
          <a:p>
            <a:pPr indent="0" marL="0">
              <a:buNone/>
            </a:pPr>
            <a:r>
              <a:rPr lang="en-US" sz="880" dirty="0">
                <a:solidFill>
                  <a:srgbClr val="E2E8F0"/>
                </a:solidFill>
              </a:rPr>
              <a:t>• Departmental Agent routing &amp; 1-click prompt cards</a:t>
            </a:r>
            <a:endParaRPr lang="en-US" sz="880" dirty="0"/>
          </a:p>
        </p:txBody>
      </p:sp>
      <p:sp>
        <p:nvSpPr>
          <p:cNvPr id="22" name="Text 20"/>
          <p:cNvSpPr/>
          <p:nvPr/>
        </p:nvSpPr>
        <p:spPr>
          <a:xfrm>
            <a:off x="914400" y="5806440"/>
            <a:ext cx="3063240" cy="228600"/>
          </a:xfrm>
          <a:prstGeom prst="rect">
            <a:avLst/>
          </a:prstGeom>
          <a:noFill/>
          <a:ln/>
        </p:spPr>
        <p:txBody>
          <a:bodyPr wrap="square" rtlCol="0" anchor="ctr"/>
          <a:lstStyle/>
          <a:p>
            <a:pPr algn="ctr" indent="0" marL="0">
              <a:buNone/>
            </a:pPr>
            <a:r>
              <a:rPr lang="en-US" sz="800" dirty="0">
                <a:solidFill>
                  <a:srgbClr val="64748B"/>
                </a:solidFill>
                <a:latin typeface="Courier New" pitchFamily="34" charset="0"/>
                <a:ea typeface="Courier New" pitchFamily="34" charset="-122"/>
                <a:cs typeface="Courier New" pitchFamily="34" charset="-120"/>
              </a:rPr>
              <a:t>Port :3000 (Vite / Node)</a:t>
            </a:r>
            <a:endParaRPr lang="en-US" sz="800" dirty="0"/>
          </a:p>
        </p:txBody>
      </p:sp>
      <p:sp>
        <p:nvSpPr>
          <p:cNvPr id="23" name="Shape 21"/>
          <p:cNvSpPr/>
          <p:nvPr/>
        </p:nvSpPr>
        <p:spPr>
          <a:xfrm>
            <a:off x="4343400" y="1600200"/>
            <a:ext cx="3429000" cy="4526280"/>
          </a:xfrm>
          <a:prstGeom prst="roundRect">
            <a:avLst>
              <a:gd name="adj" fmla="val 3200"/>
            </a:avLst>
          </a:prstGeom>
          <a:solidFill>
            <a:srgbClr val="0E1834"/>
          </a:solidFill>
          <a:ln w="15240">
            <a:solidFill>
              <a:srgbClr val="38BDF8"/>
            </a:solidFill>
            <a:prstDash val="solid"/>
          </a:ln>
        </p:spPr>
      </p:sp>
      <p:sp>
        <p:nvSpPr>
          <p:cNvPr id="24" name="Shape 22"/>
          <p:cNvSpPr/>
          <p:nvPr/>
        </p:nvSpPr>
        <p:spPr>
          <a:xfrm>
            <a:off x="4480560" y="1737360"/>
            <a:ext cx="3154680" cy="658368"/>
          </a:xfrm>
          <a:prstGeom prst="roundRect">
            <a:avLst>
              <a:gd name="adj" fmla="val 11111"/>
            </a:avLst>
          </a:prstGeom>
          <a:solidFill>
            <a:srgbClr val="182958"/>
          </a:solidFill>
          <a:ln w="10160">
            <a:solidFill>
              <a:srgbClr val="38BDF8"/>
            </a:solidFill>
            <a:prstDash val="solid"/>
          </a:ln>
        </p:spPr>
      </p:sp>
      <p:sp>
        <p:nvSpPr>
          <p:cNvPr id="25" name="Text 23"/>
          <p:cNvSpPr/>
          <p:nvPr/>
        </p:nvSpPr>
        <p:spPr>
          <a:xfrm>
            <a:off x="4526280" y="1783080"/>
            <a:ext cx="3063240" cy="228600"/>
          </a:xfrm>
          <a:prstGeom prst="rect">
            <a:avLst/>
          </a:prstGeom>
          <a:noFill/>
          <a:ln/>
        </p:spPr>
        <p:txBody>
          <a:bodyPr wrap="square" rtlCol="0" anchor="ctr"/>
          <a:lstStyle/>
          <a:p>
            <a:pPr algn="ctr" indent="0" marL="0">
              <a:buNone/>
            </a:pPr>
            <a:r>
              <a:rPr lang="en-US" sz="850" b="1" dirty="0">
                <a:solidFill>
                  <a:srgbClr val="38BDF8"/>
                </a:solidFill>
              </a:rPr>
              <a:t>TIER 2: API GATEWAY &amp; ORCHESTRATION</a:t>
            </a:r>
            <a:endParaRPr lang="en-US" sz="850" dirty="0"/>
          </a:p>
        </p:txBody>
      </p:sp>
      <p:sp>
        <p:nvSpPr>
          <p:cNvPr id="26" name="Text 24"/>
          <p:cNvSpPr/>
          <p:nvPr/>
        </p:nvSpPr>
        <p:spPr>
          <a:xfrm>
            <a:off x="4526280" y="2011680"/>
            <a:ext cx="3063240" cy="320040"/>
          </a:xfrm>
          <a:prstGeom prst="rect">
            <a:avLst/>
          </a:prstGeom>
          <a:noFill/>
          <a:ln/>
        </p:spPr>
        <p:txBody>
          <a:bodyPr wrap="square" rtlCol="0" anchor="ctr"/>
          <a:lstStyle/>
          <a:p>
            <a:pPr algn="ctr" indent="0" marL="0">
              <a:buNone/>
            </a:pPr>
            <a:r>
              <a:rPr lang="en-US" sz="1100" b="1" dirty="0">
                <a:solidFill>
                  <a:srgbClr val="FFFFFF"/>
                </a:solidFill>
              </a:rPr>
              <a:t>Express &amp; FastAPI Microservice</a:t>
            </a:r>
            <a:endParaRPr lang="en-US" sz="1100" dirty="0"/>
          </a:p>
        </p:txBody>
      </p:sp>
      <p:sp>
        <p:nvSpPr>
          <p:cNvPr id="27" name="Shape 25"/>
          <p:cNvSpPr/>
          <p:nvPr/>
        </p:nvSpPr>
        <p:spPr>
          <a:xfrm>
            <a:off x="4526280" y="2514600"/>
            <a:ext cx="3063240" cy="768096"/>
          </a:xfrm>
          <a:prstGeom prst="roundRect">
            <a:avLst>
              <a:gd name="adj" fmla="val 9524"/>
            </a:avLst>
          </a:prstGeom>
          <a:solidFill>
            <a:srgbClr val="121F42"/>
          </a:solidFill>
          <a:ln w="10160">
            <a:solidFill>
              <a:srgbClr val="1E3264"/>
            </a:solidFill>
            <a:prstDash val="solid"/>
          </a:ln>
        </p:spPr>
      </p:sp>
      <p:sp>
        <p:nvSpPr>
          <p:cNvPr id="28" name="Text 26"/>
          <p:cNvSpPr/>
          <p:nvPr/>
        </p:nvSpPr>
        <p:spPr>
          <a:xfrm>
            <a:off x="4599432" y="2587752"/>
            <a:ext cx="2907792" cy="621792"/>
          </a:xfrm>
          <a:prstGeom prst="rect">
            <a:avLst/>
          </a:prstGeom>
          <a:noFill/>
          <a:ln/>
        </p:spPr>
        <p:txBody>
          <a:bodyPr wrap="square" rtlCol="0" anchor="ctr"/>
          <a:lstStyle/>
          <a:p>
            <a:pPr indent="0" marL="0">
              <a:buNone/>
            </a:pPr>
            <a:r>
              <a:rPr lang="en-US" sz="880" dirty="0">
                <a:solidFill>
                  <a:srgbClr val="E2E8F0"/>
                </a:solidFill>
              </a:rPr>
              <a:t>• Express Gateway: Session logs, auth &amp; fallback simulator</a:t>
            </a:r>
            <a:endParaRPr lang="en-US" sz="880" dirty="0"/>
          </a:p>
        </p:txBody>
      </p:sp>
      <p:sp>
        <p:nvSpPr>
          <p:cNvPr id="29" name="Shape 27"/>
          <p:cNvSpPr/>
          <p:nvPr/>
        </p:nvSpPr>
        <p:spPr>
          <a:xfrm>
            <a:off x="4526280" y="3383280"/>
            <a:ext cx="3063240" cy="768096"/>
          </a:xfrm>
          <a:prstGeom prst="roundRect">
            <a:avLst>
              <a:gd name="adj" fmla="val 9524"/>
            </a:avLst>
          </a:prstGeom>
          <a:solidFill>
            <a:srgbClr val="121F42"/>
          </a:solidFill>
          <a:ln w="10160">
            <a:solidFill>
              <a:srgbClr val="1E3264"/>
            </a:solidFill>
            <a:prstDash val="solid"/>
          </a:ln>
        </p:spPr>
      </p:sp>
      <p:sp>
        <p:nvSpPr>
          <p:cNvPr id="30" name="Text 28"/>
          <p:cNvSpPr/>
          <p:nvPr/>
        </p:nvSpPr>
        <p:spPr>
          <a:xfrm>
            <a:off x="4599432" y="3456432"/>
            <a:ext cx="2907792" cy="621792"/>
          </a:xfrm>
          <a:prstGeom prst="rect">
            <a:avLst/>
          </a:prstGeom>
          <a:noFill/>
          <a:ln/>
        </p:spPr>
        <p:txBody>
          <a:bodyPr wrap="square" rtlCol="0" anchor="ctr"/>
          <a:lstStyle/>
          <a:p>
            <a:pPr indent="0" marL="0">
              <a:buNone/>
            </a:pPr>
            <a:r>
              <a:rPr lang="en-US" sz="880" dirty="0">
                <a:solidFill>
                  <a:srgbClr val="E2E8F0"/>
                </a:solidFill>
              </a:rPr>
              <a:t>• FastAPI Service: Document parsing, chunking &amp; embeddings</a:t>
            </a:r>
            <a:endParaRPr lang="en-US" sz="880" dirty="0"/>
          </a:p>
        </p:txBody>
      </p:sp>
      <p:sp>
        <p:nvSpPr>
          <p:cNvPr id="31" name="Shape 29"/>
          <p:cNvSpPr/>
          <p:nvPr/>
        </p:nvSpPr>
        <p:spPr>
          <a:xfrm>
            <a:off x="4526280" y="4251960"/>
            <a:ext cx="3063240" cy="768096"/>
          </a:xfrm>
          <a:prstGeom prst="roundRect">
            <a:avLst>
              <a:gd name="adj" fmla="val 9524"/>
            </a:avLst>
          </a:prstGeom>
          <a:solidFill>
            <a:srgbClr val="121F42"/>
          </a:solidFill>
          <a:ln w="10160">
            <a:solidFill>
              <a:srgbClr val="1E3264"/>
            </a:solidFill>
            <a:prstDash val="solid"/>
          </a:ln>
        </p:spPr>
      </p:sp>
      <p:sp>
        <p:nvSpPr>
          <p:cNvPr id="32" name="Text 30"/>
          <p:cNvSpPr/>
          <p:nvPr/>
        </p:nvSpPr>
        <p:spPr>
          <a:xfrm>
            <a:off x="4599432" y="4325112"/>
            <a:ext cx="2907792" cy="621792"/>
          </a:xfrm>
          <a:prstGeom prst="rect">
            <a:avLst/>
          </a:prstGeom>
          <a:noFill/>
          <a:ln/>
        </p:spPr>
        <p:txBody>
          <a:bodyPr wrap="square" rtlCol="0" anchor="ctr"/>
          <a:lstStyle/>
          <a:p>
            <a:pPr indent="0" marL="0">
              <a:buNone/>
            </a:pPr>
            <a:r>
              <a:rPr lang="en-US" sz="880" dirty="0">
                <a:solidFill>
                  <a:srgbClr val="E2E8F0"/>
                </a:solidFill>
              </a:rPr>
              <a:t>• Query Expansion: Automated domain abbreviation resolver</a:t>
            </a:r>
            <a:endParaRPr lang="en-US" sz="880" dirty="0"/>
          </a:p>
        </p:txBody>
      </p:sp>
      <p:sp>
        <p:nvSpPr>
          <p:cNvPr id="33" name="Shape 31"/>
          <p:cNvSpPr/>
          <p:nvPr/>
        </p:nvSpPr>
        <p:spPr>
          <a:xfrm>
            <a:off x="4526280" y="5120640"/>
            <a:ext cx="3063240" cy="768096"/>
          </a:xfrm>
          <a:prstGeom prst="roundRect">
            <a:avLst>
              <a:gd name="adj" fmla="val 9524"/>
            </a:avLst>
          </a:prstGeom>
          <a:solidFill>
            <a:srgbClr val="121F42"/>
          </a:solidFill>
          <a:ln w="10160">
            <a:solidFill>
              <a:srgbClr val="1E3264"/>
            </a:solidFill>
            <a:prstDash val="solid"/>
          </a:ln>
        </p:spPr>
      </p:sp>
      <p:sp>
        <p:nvSpPr>
          <p:cNvPr id="34" name="Text 32"/>
          <p:cNvSpPr/>
          <p:nvPr/>
        </p:nvSpPr>
        <p:spPr>
          <a:xfrm>
            <a:off x="4599432" y="5193792"/>
            <a:ext cx="2907792" cy="621792"/>
          </a:xfrm>
          <a:prstGeom prst="rect">
            <a:avLst/>
          </a:prstGeom>
          <a:noFill/>
          <a:ln/>
        </p:spPr>
        <p:txBody>
          <a:bodyPr wrap="square" rtlCol="0" anchor="ctr"/>
          <a:lstStyle/>
          <a:p>
            <a:pPr indent="0" marL="0">
              <a:buNone/>
            </a:pPr>
            <a:r>
              <a:rPr lang="en-US" sz="880" dirty="0">
                <a:solidFill>
                  <a:srgbClr val="E2E8F0"/>
                </a:solidFill>
              </a:rPr>
              <a:t>• Hybrid Search Fusion: BM25 + ChromaDB + RRF Ranking</a:t>
            </a:r>
            <a:endParaRPr lang="en-US" sz="880" dirty="0"/>
          </a:p>
        </p:txBody>
      </p:sp>
      <p:sp>
        <p:nvSpPr>
          <p:cNvPr id="35" name="Text 33"/>
          <p:cNvSpPr/>
          <p:nvPr/>
        </p:nvSpPr>
        <p:spPr>
          <a:xfrm>
            <a:off x="4526280" y="5806440"/>
            <a:ext cx="3063240" cy="228600"/>
          </a:xfrm>
          <a:prstGeom prst="rect">
            <a:avLst/>
          </a:prstGeom>
          <a:noFill/>
          <a:ln/>
        </p:spPr>
        <p:txBody>
          <a:bodyPr wrap="square" rtlCol="0" anchor="ctr"/>
          <a:lstStyle/>
          <a:p>
            <a:pPr algn="ctr" indent="0" marL="0">
              <a:buNone/>
            </a:pPr>
            <a:r>
              <a:rPr lang="en-US" sz="800" dirty="0">
                <a:solidFill>
                  <a:srgbClr val="64748B"/>
                </a:solidFill>
                <a:latin typeface="Courier New" pitchFamily="34" charset="0"/>
                <a:ea typeface="Courier New" pitchFamily="34" charset="-122"/>
                <a:cs typeface="Courier New" pitchFamily="34" charset="-120"/>
              </a:rPr>
              <a:t>Port :3000 (Express) | Port :8000 (FastAPI)</a:t>
            </a:r>
            <a:endParaRPr lang="en-US" sz="800" dirty="0"/>
          </a:p>
        </p:txBody>
      </p:sp>
      <p:sp>
        <p:nvSpPr>
          <p:cNvPr id="36" name="Shape 34"/>
          <p:cNvSpPr/>
          <p:nvPr/>
        </p:nvSpPr>
        <p:spPr>
          <a:xfrm>
            <a:off x="7955280" y="1600200"/>
            <a:ext cx="3429000" cy="4526280"/>
          </a:xfrm>
          <a:prstGeom prst="roundRect">
            <a:avLst>
              <a:gd name="adj" fmla="val 3200"/>
            </a:avLst>
          </a:prstGeom>
          <a:solidFill>
            <a:srgbClr val="0E1834"/>
          </a:solidFill>
          <a:ln w="15240">
            <a:solidFill>
              <a:srgbClr val="A855F7"/>
            </a:solidFill>
            <a:prstDash val="solid"/>
          </a:ln>
        </p:spPr>
      </p:sp>
      <p:sp>
        <p:nvSpPr>
          <p:cNvPr id="37" name="Shape 35"/>
          <p:cNvSpPr/>
          <p:nvPr/>
        </p:nvSpPr>
        <p:spPr>
          <a:xfrm>
            <a:off x="8092440" y="1737360"/>
            <a:ext cx="3154680" cy="658368"/>
          </a:xfrm>
          <a:prstGeom prst="roundRect">
            <a:avLst>
              <a:gd name="adj" fmla="val 11111"/>
            </a:avLst>
          </a:prstGeom>
          <a:solidFill>
            <a:srgbClr val="182958"/>
          </a:solidFill>
          <a:ln w="10160">
            <a:solidFill>
              <a:srgbClr val="A855F7"/>
            </a:solidFill>
            <a:prstDash val="solid"/>
          </a:ln>
        </p:spPr>
      </p:sp>
      <p:sp>
        <p:nvSpPr>
          <p:cNvPr id="38" name="Text 36"/>
          <p:cNvSpPr/>
          <p:nvPr/>
        </p:nvSpPr>
        <p:spPr>
          <a:xfrm>
            <a:off x="8138160" y="1783080"/>
            <a:ext cx="3063240" cy="228600"/>
          </a:xfrm>
          <a:prstGeom prst="rect">
            <a:avLst/>
          </a:prstGeom>
          <a:noFill/>
          <a:ln/>
        </p:spPr>
        <p:txBody>
          <a:bodyPr wrap="square" rtlCol="0" anchor="ctr"/>
          <a:lstStyle/>
          <a:p>
            <a:pPr algn="ctr" indent="0" marL="0">
              <a:buNone/>
            </a:pPr>
            <a:r>
              <a:rPr lang="en-US" sz="850" b="1" dirty="0">
                <a:solidFill>
                  <a:srgbClr val="A855F7"/>
                </a:solidFill>
              </a:rPr>
              <a:t>TIER 3: STORAGE &amp; LOCAL AI INFERENCE</a:t>
            </a:r>
            <a:endParaRPr lang="en-US" sz="850" dirty="0"/>
          </a:p>
        </p:txBody>
      </p:sp>
      <p:sp>
        <p:nvSpPr>
          <p:cNvPr id="39" name="Text 37"/>
          <p:cNvSpPr/>
          <p:nvPr/>
        </p:nvSpPr>
        <p:spPr>
          <a:xfrm>
            <a:off x="8138160" y="2011680"/>
            <a:ext cx="3063240" cy="320040"/>
          </a:xfrm>
          <a:prstGeom prst="rect">
            <a:avLst/>
          </a:prstGeom>
          <a:noFill/>
          <a:ln/>
        </p:spPr>
        <p:txBody>
          <a:bodyPr wrap="square" rtlCol="0" anchor="ctr"/>
          <a:lstStyle/>
          <a:p>
            <a:pPr algn="ctr" indent="0" marL="0">
              <a:buNone/>
            </a:pPr>
            <a:r>
              <a:rPr lang="en-US" sz="1100" b="1" dirty="0">
                <a:solidFill>
                  <a:srgbClr val="FFFFFF"/>
                </a:solidFill>
              </a:rPr>
              <a:t>ChromaDB, Relational DB &amp; Ollama</a:t>
            </a:r>
            <a:endParaRPr lang="en-US" sz="1100" dirty="0"/>
          </a:p>
        </p:txBody>
      </p:sp>
      <p:sp>
        <p:nvSpPr>
          <p:cNvPr id="40" name="Shape 38"/>
          <p:cNvSpPr/>
          <p:nvPr/>
        </p:nvSpPr>
        <p:spPr>
          <a:xfrm>
            <a:off x="8138160" y="2514600"/>
            <a:ext cx="3063240" cy="768096"/>
          </a:xfrm>
          <a:prstGeom prst="roundRect">
            <a:avLst>
              <a:gd name="adj" fmla="val 9524"/>
            </a:avLst>
          </a:prstGeom>
          <a:solidFill>
            <a:srgbClr val="121F42"/>
          </a:solidFill>
          <a:ln w="10160">
            <a:solidFill>
              <a:srgbClr val="1E3264"/>
            </a:solidFill>
            <a:prstDash val="solid"/>
          </a:ln>
        </p:spPr>
      </p:sp>
      <p:sp>
        <p:nvSpPr>
          <p:cNvPr id="41" name="Text 39"/>
          <p:cNvSpPr/>
          <p:nvPr/>
        </p:nvSpPr>
        <p:spPr>
          <a:xfrm>
            <a:off x="8211312" y="2587752"/>
            <a:ext cx="2907792" cy="621792"/>
          </a:xfrm>
          <a:prstGeom prst="rect">
            <a:avLst/>
          </a:prstGeom>
          <a:noFill/>
          <a:ln/>
        </p:spPr>
        <p:txBody>
          <a:bodyPr wrap="square" rtlCol="0" anchor="ctr"/>
          <a:lstStyle/>
          <a:p>
            <a:pPr indent="0" marL="0">
              <a:buNone/>
            </a:pPr>
            <a:r>
              <a:rPr lang="en-US" sz="880" dirty="0">
                <a:solidFill>
                  <a:srgbClr val="E2E8F0"/>
                </a:solidFill>
              </a:rPr>
              <a:t>• ChromaDB: Vector storage with HNSW cosine graph index</a:t>
            </a:r>
            <a:endParaRPr lang="en-US" sz="880" dirty="0"/>
          </a:p>
        </p:txBody>
      </p:sp>
      <p:sp>
        <p:nvSpPr>
          <p:cNvPr id="42" name="Shape 40"/>
          <p:cNvSpPr/>
          <p:nvPr/>
        </p:nvSpPr>
        <p:spPr>
          <a:xfrm>
            <a:off x="8138160" y="3383280"/>
            <a:ext cx="3063240" cy="768096"/>
          </a:xfrm>
          <a:prstGeom prst="roundRect">
            <a:avLst>
              <a:gd name="adj" fmla="val 9524"/>
            </a:avLst>
          </a:prstGeom>
          <a:solidFill>
            <a:srgbClr val="121F42"/>
          </a:solidFill>
          <a:ln w="10160">
            <a:solidFill>
              <a:srgbClr val="1E3264"/>
            </a:solidFill>
            <a:prstDash val="solid"/>
          </a:ln>
        </p:spPr>
      </p:sp>
      <p:sp>
        <p:nvSpPr>
          <p:cNvPr id="43" name="Text 41"/>
          <p:cNvSpPr/>
          <p:nvPr/>
        </p:nvSpPr>
        <p:spPr>
          <a:xfrm>
            <a:off x="8211312" y="3456432"/>
            <a:ext cx="2907792" cy="621792"/>
          </a:xfrm>
          <a:prstGeom prst="rect">
            <a:avLst/>
          </a:prstGeom>
          <a:noFill/>
          <a:ln/>
        </p:spPr>
        <p:txBody>
          <a:bodyPr wrap="square" rtlCol="0" anchor="ctr"/>
          <a:lstStyle/>
          <a:p>
            <a:pPr indent="0" marL="0">
              <a:buNone/>
            </a:pPr>
            <a:r>
              <a:rPr lang="en-US" sz="880" dirty="0">
                <a:solidFill>
                  <a:srgbClr val="E2E8F0"/>
                </a:solidFill>
              </a:rPr>
              <a:t>• SQLite / MySQL: Relational metadata, chat history &amp; audit logs</a:t>
            </a:r>
            <a:endParaRPr lang="en-US" sz="880" dirty="0"/>
          </a:p>
        </p:txBody>
      </p:sp>
      <p:sp>
        <p:nvSpPr>
          <p:cNvPr id="44" name="Shape 42"/>
          <p:cNvSpPr/>
          <p:nvPr/>
        </p:nvSpPr>
        <p:spPr>
          <a:xfrm>
            <a:off x="8138160" y="4251960"/>
            <a:ext cx="3063240" cy="768096"/>
          </a:xfrm>
          <a:prstGeom prst="roundRect">
            <a:avLst>
              <a:gd name="adj" fmla="val 9524"/>
            </a:avLst>
          </a:prstGeom>
          <a:solidFill>
            <a:srgbClr val="121F42"/>
          </a:solidFill>
          <a:ln w="10160">
            <a:solidFill>
              <a:srgbClr val="1E3264"/>
            </a:solidFill>
            <a:prstDash val="solid"/>
          </a:ln>
        </p:spPr>
      </p:sp>
      <p:sp>
        <p:nvSpPr>
          <p:cNvPr id="45" name="Text 43"/>
          <p:cNvSpPr/>
          <p:nvPr/>
        </p:nvSpPr>
        <p:spPr>
          <a:xfrm>
            <a:off x="8211312" y="4325112"/>
            <a:ext cx="2907792" cy="621792"/>
          </a:xfrm>
          <a:prstGeom prst="rect">
            <a:avLst/>
          </a:prstGeom>
          <a:noFill/>
          <a:ln/>
        </p:spPr>
        <p:txBody>
          <a:bodyPr wrap="square" rtlCol="0" anchor="ctr"/>
          <a:lstStyle/>
          <a:p>
            <a:pPr indent="0" marL="0">
              <a:buNone/>
            </a:pPr>
            <a:r>
              <a:rPr lang="en-US" sz="880" dirty="0">
                <a:solidFill>
                  <a:srgbClr val="E2E8F0"/>
                </a:solidFill>
              </a:rPr>
              <a:t>• nomic-embed-text: 768-dimensional local vector embeddings</a:t>
            </a:r>
            <a:endParaRPr lang="en-US" sz="880" dirty="0"/>
          </a:p>
        </p:txBody>
      </p:sp>
      <p:sp>
        <p:nvSpPr>
          <p:cNvPr id="46" name="Shape 44"/>
          <p:cNvSpPr/>
          <p:nvPr/>
        </p:nvSpPr>
        <p:spPr>
          <a:xfrm>
            <a:off x="8138160" y="5120640"/>
            <a:ext cx="3063240" cy="768096"/>
          </a:xfrm>
          <a:prstGeom prst="roundRect">
            <a:avLst>
              <a:gd name="adj" fmla="val 9524"/>
            </a:avLst>
          </a:prstGeom>
          <a:solidFill>
            <a:srgbClr val="121F42"/>
          </a:solidFill>
          <a:ln w="10160">
            <a:solidFill>
              <a:srgbClr val="1E3264"/>
            </a:solidFill>
            <a:prstDash val="solid"/>
          </a:ln>
        </p:spPr>
      </p:sp>
      <p:sp>
        <p:nvSpPr>
          <p:cNvPr id="47" name="Text 45"/>
          <p:cNvSpPr/>
          <p:nvPr/>
        </p:nvSpPr>
        <p:spPr>
          <a:xfrm>
            <a:off x="8211312" y="5193792"/>
            <a:ext cx="2907792" cy="621792"/>
          </a:xfrm>
          <a:prstGeom prst="rect">
            <a:avLst/>
          </a:prstGeom>
          <a:noFill/>
          <a:ln/>
        </p:spPr>
        <p:txBody>
          <a:bodyPr wrap="square" rtlCol="0" anchor="ctr"/>
          <a:lstStyle/>
          <a:p>
            <a:pPr indent="0" marL="0">
              <a:buNone/>
            </a:pPr>
            <a:r>
              <a:rPr lang="en-US" sz="880" dirty="0">
                <a:solidFill>
                  <a:srgbClr val="E2E8F0"/>
                </a:solidFill>
              </a:rPr>
              <a:t>• qwen2.5vl:7b / LLaMA 3.1: Generative vision-language LLM</a:t>
            </a:r>
            <a:endParaRPr lang="en-US" sz="880" dirty="0"/>
          </a:p>
        </p:txBody>
      </p:sp>
      <p:sp>
        <p:nvSpPr>
          <p:cNvPr id="48" name="Text 46"/>
          <p:cNvSpPr/>
          <p:nvPr/>
        </p:nvSpPr>
        <p:spPr>
          <a:xfrm>
            <a:off x="8138160" y="5806440"/>
            <a:ext cx="3063240" cy="228600"/>
          </a:xfrm>
          <a:prstGeom prst="rect">
            <a:avLst/>
          </a:prstGeom>
          <a:noFill/>
          <a:ln/>
        </p:spPr>
        <p:txBody>
          <a:bodyPr wrap="square" rtlCol="0" anchor="ctr"/>
          <a:lstStyle/>
          <a:p>
            <a:pPr algn="ctr" indent="0" marL="0">
              <a:buNone/>
            </a:pPr>
            <a:r>
              <a:rPr lang="en-US" sz="800" dirty="0">
                <a:solidFill>
                  <a:srgbClr val="64748B"/>
                </a:solidFill>
                <a:latin typeface="Courier New" pitchFamily="34" charset="0"/>
                <a:ea typeface="Courier New" pitchFamily="34" charset="-122"/>
                <a:cs typeface="Courier New" pitchFamily="34" charset="-120"/>
              </a:rPr>
              <a:t>Port :11434 (Ollama Local Inference)</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D1E"/>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F2FE"/>
          </a:solidFill>
          <a:ln/>
        </p:spPr>
      </p:sp>
      <p:sp>
        <p:nvSpPr>
          <p:cNvPr id="3" name="Shape 1"/>
          <p:cNvSpPr/>
          <p:nvPr/>
        </p:nvSpPr>
        <p:spPr>
          <a:xfrm>
            <a:off x="731520" y="347472"/>
            <a:ext cx="2560320" cy="274320"/>
          </a:xfrm>
          <a:prstGeom prst="roundRect">
            <a:avLst>
              <a:gd name="adj" fmla="val 26667"/>
            </a:avLst>
          </a:prstGeom>
          <a:solidFill>
            <a:srgbClr val="0E1834"/>
          </a:solidFill>
          <a:ln w="12700">
            <a:solidFill>
              <a:srgbClr val="00F2FE"/>
            </a:solidFill>
            <a:prstDash val="solid"/>
          </a:ln>
        </p:spPr>
      </p:sp>
      <p:sp>
        <p:nvSpPr>
          <p:cNvPr id="4" name="Text 2"/>
          <p:cNvSpPr/>
          <p:nvPr/>
        </p:nvSpPr>
        <p:spPr>
          <a:xfrm>
            <a:off x="731520" y="347472"/>
            <a:ext cx="2560320" cy="274320"/>
          </a:xfrm>
          <a:prstGeom prst="rect">
            <a:avLst/>
          </a:prstGeom>
          <a:noFill/>
          <a:ln/>
        </p:spPr>
        <p:txBody>
          <a:bodyPr wrap="square" rtlCol="0" anchor="ctr"/>
          <a:lstStyle/>
          <a:p>
            <a:pPr algn="ctr" indent="0" marL="0">
              <a:buNone/>
            </a:pPr>
            <a:r>
              <a:rPr lang="en-US" sz="900" b="1" dirty="0">
                <a:solidFill>
                  <a:srgbClr val="00F2FE"/>
                </a:solidFill>
                <a:latin typeface="Arial" pitchFamily="34" charset="0"/>
                <a:ea typeface="Arial" pitchFamily="34" charset="-122"/>
                <a:cs typeface="Arial" pitchFamily="34" charset="-120"/>
              </a:rPr>
              <a:t>RAG PIPELINE WORKFLOW</a:t>
            </a:r>
            <a:endParaRPr lang="en-US" sz="900" dirty="0"/>
          </a:p>
        </p:txBody>
      </p:sp>
      <p:sp>
        <p:nvSpPr>
          <p:cNvPr id="5" name="Text 3"/>
          <p:cNvSpPr/>
          <p:nvPr/>
        </p:nvSpPr>
        <p:spPr>
          <a:xfrm>
            <a:off x="731520" y="676656"/>
            <a:ext cx="10698480" cy="502920"/>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Core RAG Concept: Multimodal Ingestion, Vectorization &amp; Grounding</a:t>
            </a:r>
            <a:endParaRPr lang="en-US" sz="2100" dirty="0"/>
          </a:p>
        </p:txBody>
      </p:sp>
      <p:sp>
        <p:nvSpPr>
          <p:cNvPr id="6" name="Text 4"/>
          <p:cNvSpPr/>
          <p:nvPr/>
        </p:nvSpPr>
        <p:spPr>
          <a:xfrm>
            <a:off x="731520" y="1170432"/>
            <a:ext cx="10698480" cy="292608"/>
          </a:xfrm>
          <a:prstGeom prst="rect">
            <a:avLst/>
          </a:prstGeom>
          <a:noFill/>
          <a:ln/>
        </p:spPr>
        <p:txBody>
          <a:bodyPr wrap="square" rtlCol="0" anchor="ctr"/>
          <a:lstStyle/>
          <a:p>
            <a:pPr indent="0" marL="0">
              <a:buNone/>
            </a:pPr>
            <a:r>
              <a:rPr lang="en-US" sz="1150" dirty="0">
                <a:solidFill>
                  <a:srgbClr val="94A3B8"/>
                </a:solidFill>
                <a:latin typeface="Arial" pitchFamily="34" charset="0"/>
                <a:ea typeface="Arial" pitchFamily="34" charset="-122"/>
                <a:cs typeface="Arial" pitchFamily="34" charset="-120"/>
              </a:rPr>
              <a:t>End-to-end data transformation pipeline from unstructured source documents to grounded LLM answers</a:t>
            </a:r>
            <a:endParaRPr lang="en-US" sz="1150" dirty="0"/>
          </a:p>
        </p:txBody>
      </p:sp>
      <p:sp>
        <p:nvSpPr>
          <p:cNvPr id="7" name="Shape 5"/>
          <p:cNvSpPr/>
          <p:nvPr/>
        </p:nvSpPr>
        <p:spPr>
          <a:xfrm>
            <a:off x="731520" y="6400800"/>
            <a:ext cx="10698480" cy="18288"/>
          </a:xfrm>
          <a:prstGeom prst="rect">
            <a:avLst/>
          </a:prstGeom>
          <a:solidFill>
            <a:srgbClr val="1E3264"/>
          </a:solidFill>
          <a:ln/>
        </p:spPr>
      </p:sp>
      <p:sp>
        <p:nvSpPr>
          <p:cNvPr id="8" name="Text 6"/>
          <p:cNvSpPr/>
          <p:nvPr/>
        </p:nvSpPr>
        <p:spPr>
          <a:xfrm>
            <a:off x="731520" y="6446520"/>
            <a:ext cx="73152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LEINA • Local SOP RAG Architecture | Larsen &amp; Toubro Enterprise AI</a:t>
            </a:r>
            <a:endParaRPr lang="en-US" sz="850" dirty="0"/>
          </a:p>
        </p:txBody>
      </p:sp>
      <p:sp>
        <p:nvSpPr>
          <p:cNvPr id="9" name="Text 7"/>
          <p:cNvSpPr/>
          <p:nvPr/>
        </p:nvSpPr>
        <p:spPr>
          <a:xfrm>
            <a:off x="8686800" y="6446520"/>
            <a:ext cx="2743200" cy="274320"/>
          </a:xfrm>
          <a:prstGeom prst="rect">
            <a:avLst/>
          </a:prstGeom>
          <a:noFill/>
          <a:ln/>
        </p:spPr>
        <p:txBody>
          <a:bodyPr wrap="square" rtlCol="0" anchor="ctr"/>
          <a:lstStyle/>
          <a:p>
            <a:pPr algn="r" indent="0" marL="0">
              <a:buNone/>
            </a:pPr>
            <a:r>
              <a:rPr lang="en-US" sz="850" b="1" dirty="0">
                <a:solidFill>
                  <a:srgbClr val="00F2FE"/>
                </a:solidFill>
                <a:latin typeface="Arial" pitchFamily="34" charset="0"/>
                <a:ea typeface="Arial" pitchFamily="34" charset="-122"/>
                <a:cs typeface="Arial" pitchFamily="34" charset="-120"/>
              </a:rPr>
              <a:t>CONFIDENTIAL &amp; PROPRIETARY</a:t>
            </a:r>
            <a:endParaRPr lang="en-US" sz="850" dirty="0"/>
          </a:p>
        </p:txBody>
      </p:sp>
      <p:sp>
        <p:nvSpPr>
          <p:cNvPr id="10" name="Shape 8"/>
          <p:cNvSpPr/>
          <p:nvPr/>
        </p:nvSpPr>
        <p:spPr>
          <a:xfrm>
            <a:off x="731520" y="1600200"/>
            <a:ext cx="5669280" cy="4526280"/>
          </a:xfrm>
          <a:prstGeom prst="roundRect">
            <a:avLst>
              <a:gd name="adj" fmla="val 2424"/>
            </a:avLst>
          </a:prstGeom>
          <a:solidFill>
            <a:srgbClr val="0E1834"/>
          </a:solidFill>
          <a:ln w="15240">
            <a:solidFill>
              <a:srgbClr val="00F2FE"/>
            </a:solidFill>
            <a:prstDash val="solid"/>
          </a:ln>
        </p:spPr>
      </p:sp>
      <p:pic>
        <p:nvPicPr>
          <p:cNvPr id="11" name="Image 0" descr="D:\downloadss\local-rag-sop-chatbot\assets\rag_pipeline_concept.png">    </p:cNvPr>
          <p:cNvPicPr>
            <a:picLocks noChangeAspect="1"/>
          </p:cNvPicPr>
          <p:nvPr/>
        </p:nvPicPr>
        <p:blipFill>
          <a:blip r:embed="rId1"/>
          <a:stretch>
            <a:fillRect/>
          </a:stretch>
        </p:blipFill>
        <p:spPr>
          <a:xfrm>
            <a:off x="868680" y="1737360"/>
            <a:ext cx="5394960" cy="4251960"/>
          </a:xfrm>
          <a:prstGeom prst="ellipse">
            <a:avLst/>
          </a:prstGeom>
        </p:spPr>
      </p:pic>
      <p:sp>
        <p:nvSpPr>
          <p:cNvPr id="12" name="Shape 9"/>
          <p:cNvSpPr/>
          <p:nvPr/>
        </p:nvSpPr>
        <p:spPr>
          <a:xfrm>
            <a:off x="6583680" y="1600200"/>
            <a:ext cx="4846320" cy="4526280"/>
          </a:xfrm>
          <a:prstGeom prst="roundRect">
            <a:avLst>
              <a:gd name="adj" fmla="val 2424"/>
            </a:avLst>
          </a:prstGeom>
          <a:solidFill>
            <a:srgbClr val="0E1834"/>
          </a:solidFill>
          <a:ln w="15240">
            <a:solidFill>
              <a:srgbClr val="38BDF8"/>
            </a:solidFill>
            <a:prstDash val="solid"/>
          </a:ln>
        </p:spPr>
      </p:sp>
      <p:sp>
        <p:nvSpPr>
          <p:cNvPr id="13" name="Shape 10"/>
          <p:cNvSpPr/>
          <p:nvPr/>
        </p:nvSpPr>
        <p:spPr>
          <a:xfrm>
            <a:off x="6812280" y="1783080"/>
            <a:ext cx="4389120" cy="347472"/>
          </a:xfrm>
          <a:prstGeom prst="roundRect">
            <a:avLst>
              <a:gd name="adj" fmla="val 21053"/>
            </a:avLst>
          </a:prstGeom>
          <a:solidFill>
            <a:srgbClr val="182958"/>
          </a:solidFill>
          <a:ln w="10160">
            <a:solidFill>
              <a:srgbClr val="38BDF8"/>
            </a:solidFill>
            <a:prstDash val="solid"/>
          </a:ln>
        </p:spPr>
      </p:sp>
      <p:sp>
        <p:nvSpPr>
          <p:cNvPr id="14" name="Text 11"/>
          <p:cNvSpPr/>
          <p:nvPr/>
        </p:nvSpPr>
        <p:spPr>
          <a:xfrm>
            <a:off x="6812280" y="1783080"/>
            <a:ext cx="4389120" cy="347472"/>
          </a:xfrm>
          <a:prstGeom prst="rect">
            <a:avLst/>
          </a:prstGeom>
          <a:noFill/>
          <a:ln/>
        </p:spPr>
        <p:txBody>
          <a:bodyPr wrap="square" rtlCol="0" anchor="ctr"/>
          <a:lstStyle/>
          <a:p>
            <a:pPr algn="ctr" indent="0" marL="0">
              <a:buNone/>
            </a:pPr>
            <a:r>
              <a:rPr lang="en-US" sz="950" b="1" dirty="0">
                <a:solidFill>
                  <a:srgbClr val="00F2FE"/>
                </a:solidFill>
              </a:rPr>
              <a:t>HOW INFORMATION FLOWS THROUGH THE PIPELINE</a:t>
            </a:r>
            <a:endParaRPr lang="en-US" sz="950" dirty="0"/>
          </a:p>
        </p:txBody>
      </p:sp>
      <p:sp>
        <p:nvSpPr>
          <p:cNvPr id="15" name="Shape 12"/>
          <p:cNvSpPr/>
          <p:nvPr/>
        </p:nvSpPr>
        <p:spPr>
          <a:xfrm>
            <a:off x="6812280" y="2240280"/>
            <a:ext cx="4389120" cy="676656"/>
          </a:xfrm>
          <a:prstGeom prst="roundRect">
            <a:avLst>
              <a:gd name="adj" fmla="val 10811"/>
            </a:avLst>
          </a:prstGeom>
          <a:solidFill>
            <a:srgbClr val="121F42"/>
          </a:solidFill>
          <a:ln w="10160">
            <a:solidFill>
              <a:srgbClr val="1E3264"/>
            </a:solidFill>
            <a:prstDash val="solid"/>
          </a:ln>
        </p:spPr>
      </p:sp>
      <p:sp>
        <p:nvSpPr>
          <p:cNvPr id="16" name="Shape 13"/>
          <p:cNvSpPr/>
          <p:nvPr/>
        </p:nvSpPr>
        <p:spPr>
          <a:xfrm>
            <a:off x="6949440" y="2404872"/>
            <a:ext cx="329184" cy="329184"/>
          </a:xfrm>
          <a:prstGeom prst="ellipse">
            <a:avLst/>
          </a:prstGeom>
          <a:solidFill>
            <a:srgbClr val="00F2FE"/>
          </a:solidFill>
          <a:ln/>
        </p:spPr>
      </p:sp>
      <p:sp>
        <p:nvSpPr>
          <p:cNvPr id="17" name="Text 14"/>
          <p:cNvSpPr/>
          <p:nvPr/>
        </p:nvSpPr>
        <p:spPr>
          <a:xfrm>
            <a:off x="6949440" y="2404872"/>
            <a:ext cx="329184" cy="329184"/>
          </a:xfrm>
          <a:prstGeom prst="rect">
            <a:avLst/>
          </a:prstGeom>
          <a:noFill/>
          <a:ln/>
        </p:spPr>
        <p:txBody>
          <a:bodyPr wrap="square" rtlCol="0" anchor="ctr"/>
          <a:lstStyle/>
          <a:p>
            <a:pPr algn="ctr" indent="0" marL="0">
              <a:buNone/>
            </a:pPr>
            <a:r>
              <a:rPr lang="en-US" sz="1000" b="1" dirty="0">
                <a:solidFill>
                  <a:srgbClr val="070D1E"/>
                </a:solidFill>
              </a:rPr>
              <a:t>1</a:t>
            </a:r>
            <a:endParaRPr lang="en-US" sz="1000" dirty="0"/>
          </a:p>
        </p:txBody>
      </p:sp>
      <p:sp>
        <p:nvSpPr>
          <p:cNvPr id="18" name="Text 15"/>
          <p:cNvSpPr/>
          <p:nvPr/>
        </p:nvSpPr>
        <p:spPr>
          <a:xfrm>
            <a:off x="7406640" y="2313432"/>
            <a:ext cx="3749040" cy="219456"/>
          </a:xfrm>
          <a:prstGeom prst="rect">
            <a:avLst/>
          </a:prstGeom>
          <a:noFill/>
          <a:ln/>
        </p:spPr>
        <p:txBody>
          <a:bodyPr wrap="square" rtlCol="0" anchor="ctr"/>
          <a:lstStyle/>
          <a:p>
            <a:pPr indent="0" marL="0">
              <a:buNone/>
            </a:pPr>
            <a:r>
              <a:rPr lang="en-US" sz="1000" b="1" dirty="0">
                <a:solidFill>
                  <a:srgbClr val="FFFFFF"/>
                </a:solidFill>
              </a:rPr>
              <a:t>Multimodal Data Sources</a:t>
            </a:r>
            <a:endParaRPr lang="en-US" sz="1000" dirty="0"/>
          </a:p>
        </p:txBody>
      </p:sp>
      <p:sp>
        <p:nvSpPr>
          <p:cNvPr id="19" name="Text 16"/>
          <p:cNvSpPr/>
          <p:nvPr/>
        </p:nvSpPr>
        <p:spPr>
          <a:xfrm>
            <a:off x="7406640" y="2514600"/>
            <a:ext cx="3749040" cy="347472"/>
          </a:xfrm>
          <a:prstGeom prst="rect">
            <a:avLst/>
          </a:prstGeom>
          <a:noFill/>
          <a:ln/>
        </p:spPr>
        <p:txBody>
          <a:bodyPr wrap="square" rtlCol="0" anchor="ctr"/>
          <a:lstStyle/>
          <a:p>
            <a:pPr indent="0" marL="0">
              <a:buNone/>
            </a:pPr>
            <a:r>
              <a:rPr lang="en-US" sz="850" dirty="0">
                <a:solidFill>
                  <a:srgbClr val="94A3B8"/>
                </a:solidFill>
              </a:rPr>
              <a:t>PDF, DOCX, TXT manuals, and scanned procedure flowcharts are ingested.</a:t>
            </a:r>
            <a:endParaRPr lang="en-US" sz="850" dirty="0"/>
          </a:p>
        </p:txBody>
      </p:sp>
      <p:sp>
        <p:nvSpPr>
          <p:cNvPr id="20" name="Shape 17"/>
          <p:cNvSpPr/>
          <p:nvPr/>
        </p:nvSpPr>
        <p:spPr>
          <a:xfrm>
            <a:off x="6812280" y="2990088"/>
            <a:ext cx="4389120" cy="676656"/>
          </a:xfrm>
          <a:prstGeom prst="roundRect">
            <a:avLst>
              <a:gd name="adj" fmla="val 10811"/>
            </a:avLst>
          </a:prstGeom>
          <a:solidFill>
            <a:srgbClr val="121F42"/>
          </a:solidFill>
          <a:ln w="10160">
            <a:solidFill>
              <a:srgbClr val="1E3264"/>
            </a:solidFill>
            <a:prstDash val="solid"/>
          </a:ln>
        </p:spPr>
      </p:sp>
      <p:sp>
        <p:nvSpPr>
          <p:cNvPr id="21" name="Shape 18"/>
          <p:cNvSpPr/>
          <p:nvPr/>
        </p:nvSpPr>
        <p:spPr>
          <a:xfrm>
            <a:off x="6949440" y="3154680"/>
            <a:ext cx="329184" cy="329184"/>
          </a:xfrm>
          <a:prstGeom prst="ellipse">
            <a:avLst/>
          </a:prstGeom>
          <a:solidFill>
            <a:srgbClr val="00F2FE"/>
          </a:solidFill>
          <a:ln/>
        </p:spPr>
      </p:sp>
      <p:sp>
        <p:nvSpPr>
          <p:cNvPr id="22" name="Text 19"/>
          <p:cNvSpPr/>
          <p:nvPr/>
        </p:nvSpPr>
        <p:spPr>
          <a:xfrm>
            <a:off x="6949440" y="3154680"/>
            <a:ext cx="329184" cy="329184"/>
          </a:xfrm>
          <a:prstGeom prst="rect">
            <a:avLst/>
          </a:prstGeom>
          <a:noFill/>
          <a:ln/>
        </p:spPr>
        <p:txBody>
          <a:bodyPr wrap="square" rtlCol="0" anchor="ctr"/>
          <a:lstStyle/>
          <a:p>
            <a:pPr algn="ctr" indent="0" marL="0">
              <a:buNone/>
            </a:pPr>
            <a:r>
              <a:rPr lang="en-US" sz="1000" b="1" dirty="0">
                <a:solidFill>
                  <a:srgbClr val="070D1E"/>
                </a:solidFill>
              </a:rPr>
              <a:t>2</a:t>
            </a:r>
            <a:endParaRPr lang="en-US" sz="1000" dirty="0"/>
          </a:p>
        </p:txBody>
      </p:sp>
      <p:sp>
        <p:nvSpPr>
          <p:cNvPr id="23" name="Text 20"/>
          <p:cNvSpPr/>
          <p:nvPr/>
        </p:nvSpPr>
        <p:spPr>
          <a:xfrm>
            <a:off x="7406640" y="3063240"/>
            <a:ext cx="3749040" cy="219456"/>
          </a:xfrm>
          <a:prstGeom prst="rect">
            <a:avLst/>
          </a:prstGeom>
          <a:noFill/>
          <a:ln/>
        </p:spPr>
        <p:txBody>
          <a:bodyPr wrap="square" rtlCol="0" anchor="ctr"/>
          <a:lstStyle/>
          <a:p>
            <a:pPr indent="0" marL="0">
              <a:buNone/>
            </a:pPr>
            <a:r>
              <a:rPr lang="en-US" sz="1000" b="1" dirty="0">
                <a:solidFill>
                  <a:srgbClr val="FFFFFF"/>
                </a:solidFill>
              </a:rPr>
              <a:t>Tokenization &amp; Smart Chunks</a:t>
            </a:r>
            <a:endParaRPr lang="en-US" sz="1000" dirty="0"/>
          </a:p>
        </p:txBody>
      </p:sp>
      <p:sp>
        <p:nvSpPr>
          <p:cNvPr id="24" name="Text 21"/>
          <p:cNvSpPr/>
          <p:nvPr/>
        </p:nvSpPr>
        <p:spPr>
          <a:xfrm>
            <a:off x="7406640" y="3264408"/>
            <a:ext cx="3749040" cy="347472"/>
          </a:xfrm>
          <a:prstGeom prst="rect">
            <a:avLst/>
          </a:prstGeom>
          <a:noFill/>
          <a:ln/>
        </p:spPr>
        <p:txBody>
          <a:bodyPr wrap="square" rtlCol="0" anchor="ctr"/>
          <a:lstStyle/>
          <a:p>
            <a:pPr indent="0" marL="0">
              <a:buNone/>
            </a:pPr>
            <a:r>
              <a:rPr lang="en-US" sz="850" dirty="0">
                <a:solidFill>
                  <a:srgbClr val="94A3B8"/>
                </a:solidFill>
              </a:rPr>
              <a:t>Documents are parsed into semantic chunks preserving policy section headers.</a:t>
            </a:r>
            <a:endParaRPr lang="en-US" sz="850" dirty="0"/>
          </a:p>
        </p:txBody>
      </p:sp>
      <p:sp>
        <p:nvSpPr>
          <p:cNvPr id="25" name="Shape 22"/>
          <p:cNvSpPr/>
          <p:nvPr/>
        </p:nvSpPr>
        <p:spPr>
          <a:xfrm>
            <a:off x="6812280" y="3739896"/>
            <a:ext cx="4389120" cy="676656"/>
          </a:xfrm>
          <a:prstGeom prst="roundRect">
            <a:avLst>
              <a:gd name="adj" fmla="val 10811"/>
            </a:avLst>
          </a:prstGeom>
          <a:solidFill>
            <a:srgbClr val="121F42"/>
          </a:solidFill>
          <a:ln w="10160">
            <a:solidFill>
              <a:srgbClr val="1E3264"/>
            </a:solidFill>
            <a:prstDash val="solid"/>
          </a:ln>
        </p:spPr>
      </p:sp>
      <p:sp>
        <p:nvSpPr>
          <p:cNvPr id="26" name="Shape 23"/>
          <p:cNvSpPr/>
          <p:nvPr/>
        </p:nvSpPr>
        <p:spPr>
          <a:xfrm>
            <a:off x="6949440" y="3904488"/>
            <a:ext cx="329184" cy="329184"/>
          </a:xfrm>
          <a:prstGeom prst="ellipse">
            <a:avLst/>
          </a:prstGeom>
          <a:solidFill>
            <a:srgbClr val="00F2FE"/>
          </a:solidFill>
          <a:ln/>
        </p:spPr>
      </p:sp>
      <p:sp>
        <p:nvSpPr>
          <p:cNvPr id="27" name="Text 24"/>
          <p:cNvSpPr/>
          <p:nvPr/>
        </p:nvSpPr>
        <p:spPr>
          <a:xfrm>
            <a:off x="6949440" y="3904488"/>
            <a:ext cx="329184" cy="329184"/>
          </a:xfrm>
          <a:prstGeom prst="rect">
            <a:avLst/>
          </a:prstGeom>
          <a:noFill/>
          <a:ln/>
        </p:spPr>
        <p:txBody>
          <a:bodyPr wrap="square" rtlCol="0" anchor="ctr"/>
          <a:lstStyle/>
          <a:p>
            <a:pPr algn="ctr" indent="0" marL="0">
              <a:buNone/>
            </a:pPr>
            <a:r>
              <a:rPr lang="en-US" sz="1000" b="1" dirty="0">
                <a:solidFill>
                  <a:srgbClr val="070D1E"/>
                </a:solidFill>
              </a:rPr>
              <a:t>3</a:t>
            </a:r>
            <a:endParaRPr lang="en-US" sz="1000" dirty="0"/>
          </a:p>
        </p:txBody>
      </p:sp>
      <p:sp>
        <p:nvSpPr>
          <p:cNvPr id="28" name="Text 25"/>
          <p:cNvSpPr/>
          <p:nvPr/>
        </p:nvSpPr>
        <p:spPr>
          <a:xfrm>
            <a:off x="7406640" y="3813048"/>
            <a:ext cx="3749040" cy="219456"/>
          </a:xfrm>
          <a:prstGeom prst="rect">
            <a:avLst/>
          </a:prstGeom>
          <a:noFill/>
          <a:ln/>
        </p:spPr>
        <p:txBody>
          <a:bodyPr wrap="square" rtlCol="0" anchor="ctr"/>
          <a:lstStyle/>
          <a:p>
            <a:pPr indent="0" marL="0">
              <a:buNone/>
            </a:pPr>
            <a:r>
              <a:rPr lang="en-US" sz="1000" b="1" dirty="0">
                <a:solidFill>
                  <a:srgbClr val="FFFFFF"/>
                </a:solidFill>
              </a:rPr>
              <a:t>768-D Vector Embeddings</a:t>
            </a:r>
            <a:endParaRPr lang="en-US" sz="1000" dirty="0"/>
          </a:p>
        </p:txBody>
      </p:sp>
      <p:sp>
        <p:nvSpPr>
          <p:cNvPr id="29" name="Text 26"/>
          <p:cNvSpPr/>
          <p:nvPr/>
        </p:nvSpPr>
        <p:spPr>
          <a:xfrm>
            <a:off x="7406640" y="4014216"/>
            <a:ext cx="3749040" cy="347472"/>
          </a:xfrm>
          <a:prstGeom prst="rect">
            <a:avLst/>
          </a:prstGeom>
          <a:noFill/>
          <a:ln/>
        </p:spPr>
        <p:txBody>
          <a:bodyPr wrap="square" rtlCol="0" anchor="ctr"/>
          <a:lstStyle/>
          <a:p>
            <a:pPr indent="0" marL="0">
              <a:buNone/>
            </a:pPr>
            <a:r>
              <a:rPr lang="en-US" sz="850" dirty="0">
                <a:solidFill>
                  <a:srgbClr val="94A3B8"/>
                </a:solidFill>
              </a:rPr>
              <a:t>nomic-embed-text generates dense vector representations for each chunk.</a:t>
            </a:r>
            <a:endParaRPr lang="en-US" sz="850" dirty="0"/>
          </a:p>
        </p:txBody>
      </p:sp>
      <p:sp>
        <p:nvSpPr>
          <p:cNvPr id="30" name="Shape 27"/>
          <p:cNvSpPr/>
          <p:nvPr/>
        </p:nvSpPr>
        <p:spPr>
          <a:xfrm>
            <a:off x="6812280" y="4489704"/>
            <a:ext cx="4389120" cy="676656"/>
          </a:xfrm>
          <a:prstGeom prst="roundRect">
            <a:avLst>
              <a:gd name="adj" fmla="val 10811"/>
            </a:avLst>
          </a:prstGeom>
          <a:solidFill>
            <a:srgbClr val="121F42"/>
          </a:solidFill>
          <a:ln w="10160">
            <a:solidFill>
              <a:srgbClr val="1E3264"/>
            </a:solidFill>
            <a:prstDash val="solid"/>
          </a:ln>
        </p:spPr>
      </p:sp>
      <p:sp>
        <p:nvSpPr>
          <p:cNvPr id="31" name="Shape 28"/>
          <p:cNvSpPr/>
          <p:nvPr/>
        </p:nvSpPr>
        <p:spPr>
          <a:xfrm>
            <a:off x="6949440" y="4654296"/>
            <a:ext cx="329184" cy="329184"/>
          </a:xfrm>
          <a:prstGeom prst="ellipse">
            <a:avLst/>
          </a:prstGeom>
          <a:solidFill>
            <a:srgbClr val="00F2FE"/>
          </a:solidFill>
          <a:ln/>
        </p:spPr>
      </p:sp>
      <p:sp>
        <p:nvSpPr>
          <p:cNvPr id="32" name="Text 29"/>
          <p:cNvSpPr/>
          <p:nvPr/>
        </p:nvSpPr>
        <p:spPr>
          <a:xfrm>
            <a:off x="6949440" y="4654296"/>
            <a:ext cx="329184" cy="329184"/>
          </a:xfrm>
          <a:prstGeom prst="rect">
            <a:avLst/>
          </a:prstGeom>
          <a:noFill/>
          <a:ln/>
        </p:spPr>
        <p:txBody>
          <a:bodyPr wrap="square" rtlCol="0" anchor="ctr"/>
          <a:lstStyle/>
          <a:p>
            <a:pPr algn="ctr" indent="0" marL="0">
              <a:buNone/>
            </a:pPr>
            <a:r>
              <a:rPr lang="en-US" sz="1000" b="1" dirty="0">
                <a:solidFill>
                  <a:srgbClr val="070D1E"/>
                </a:solidFill>
              </a:rPr>
              <a:t>4</a:t>
            </a:r>
            <a:endParaRPr lang="en-US" sz="1000" dirty="0"/>
          </a:p>
        </p:txBody>
      </p:sp>
      <p:sp>
        <p:nvSpPr>
          <p:cNvPr id="33" name="Text 30"/>
          <p:cNvSpPr/>
          <p:nvPr/>
        </p:nvSpPr>
        <p:spPr>
          <a:xfrm>
            <a:off x="7406640" y="4562856"/>
            <a:ext cx="3749040" cy="219456"/>
          </a:xfrm>
          <a:prstGeom prst="rect">
            <a:avLst/>
          </a:prstGeom>
          <a:noFill/>
          <a:ln/>
        </p:spPr>
        <p:txBody>
          <a:bodyPr wrap="square" rtlCol="0" anchor="ctr"/>
          <a:lstStyle/>
          <a:p>
            <a:pPr indent="0" marL="0">
              <a:buNone/>
            </a:pPr>
            <a:r>
              <a:rPr lang="en-US" sz="1000" b="1" dirty="0">
                <a:solidFill>
                  <a:srgbClr val="FFFFFF"/>
                </a:solidFill>
              </a:rPr>
              <a:t>ChromaDB HNSW Graph Index</a:t>
            </a:r>
            <a:endParaRPr lang="en-US" sz="1000" dirty="0"/>
          </a:p>
        </p:txBody>
      </p:sp>
      <p:sp>
        <p:nvSpPr>
          <p:cNvPr id="34" name="Text 31"/>
          <p:cNvSpPr/>
          <p:nvPr/>
        </p:nvSpPr>
        <p:spPr>
          <a:xfrm>
            <a:off x="7406640" y="4764024"/>
            <a:ext cx="3749040" cy="347472"/>
          </a:xfrm>
          <a:prstGeom prst="rect">
            <a:avLst/>
          </a:prstGeom>
          <a:noFill/>
          <a:ln/>
        </p:spPr>
        <p:txBody>
          <a:bodyPr wrap="square" rtlCol="0" anchor="ctr"/>
          <a:lstStyle/>
          <a:p>
            <a:pPr indent="0" marL="0">
              <a:buNone/>
            </a:pPr>
            <a:r>
              <a:rPr lang="en-US" sz="850" dirty="0">
                <a:solidFill>
                  <a:srgbClr val="94A3B8"/>
                </a:solidFill>
              </a:rPr>
              <a:t>Embeddings stored in cosine similarity space for sub-20ms neighbor retrieval.</a:t>
            </a:r>
            <a:endParaRPr lang="en-US" sz="850" dirty="0"/>
          </a:p>
        </p:txBody>
      </p:sp>
      <p:sp>
        <p:nvSpPr>
          <p:cNvPr id="35" name="Shape 32"/>
          <p:cNvSpPr/>
          <p:nvPr/>
        </p:nvSpPr>
        <p:spPr>
          <a:xfrm>
            <a:off x="6812280" y="5239512"/>
            <a:ext cx="4389120" cy="676656"/>
          </a:xfrm>
          <a:prstGeom prst="roundRect">
            <a:avLst>
              <a:gd name="adj" fmla="val 10811"/>
            </a:avLst>
          </a:prstGeom>
          <a:solidFill>
            <a:srgbClr val="121F42"/>
          </a:solidFill>
          <a:ln w="10160">
            <a:solidFill>
              <a:srgbClr val="1E3264"/>
            </a:solidFill>
            <a:prstDash val="solid"/>
          </a:ln>
        </p:spPr>
      </p:sp>
      <p:sp>
        <p:nvSpPr>
          <p:cNvPr id="36" name="Shape 33"/>
          <p:cNvSpPr/>
          <p:nvPr/>
        </p:nvSpPr>
        <p:spPr>
          <a:xfrm>
            <a:off x="6949440" y="5404104"/>
            <a:ext cx="329184" cy="329184"/>
          </a:xfrm>
          <a:prstGeom prst="ellipse">
            <a:avLst/>
          </a:prstGeom>
          <a:solidFill>
            <a:srgbClr val="00F2FE"/>
          </a:solidFill>
          <a:ln/>
        </p:spPr>
      </p:sp>
      <p:sp>
        <p:nvSpPr>
          <p:cNvPr id="37" name="Text 34"/>
          <p:cNvSpPr/>
          <p:nvPr/>
        </p:nvSpPr>
        <p:spPr>
          <a:xfrm>
            <a:off x="6949440" y="5404104"/>
            <a:ext cx="329184" cy="329184"/>
          </a:xfrm>
          <a:prstGeom prst="rect">
            <a:avLst/>
          </a:prstGeom>
          <a:noFill/>
          <a:ln/>
        </p:spPr>
        <p:txBody>
          <a:bodyPr wrap="square" rtlCol="0" anchor="ctr"/>
          <a:lstStyle/>
          <a:p>
            <a:pPr algn="ctr" indent="0" marL="0">
              <a:buNone/>
            </a:pPr>
            <a:r>
              <a:rPr lang="en-US" sz="1000" b="1" dirty="0">
                <a:solidFill>
                  <a:srgbClr val="070D1E"/>
                </a:solidFill>
              </a:rPr>
              <a:t>5</a:t>
            </a:r>
            <a:endParaRPr lang="en-US" sz="1000" dirty="0"/>
          </a:p>
        </p:txBody>
      </p:sp>
      <p:sp>
        <p:nvSpPr>
          <p:cNvPr id="38" name="Text 35"/>
          <p:cNvSpPr/>
          <p:nvPr/>
        </p:nvSpPr>
        <p:spPr>
          <a:xfrm>
            <a:off x="7406640" y="5312664"/>
            <a:ext cx="3749040" cy="219456"/>
          </a:xfrm>
          <a:prstGeom prst="rect">
            <a:avLst/>
          </a:prstGeom>
          <a:noFill/>
          <a:ln/>
        </p:spPr>
        <p:txBody>
          <a:bodyPr wrap="square" rtlCol="0" anchor="ctr"/>
          <a:lstStyle/>
          <a:p>
            <a:pPr indent="0" marL="0">
              <a:buNone/>
            </a:pPr>
            <a:r>
              <a:rPr lang="en-US" sz="1000" b="1" dirty="0">
                <a:solidFill>
                  <a:srgbClr val="FFFFFF"/>
                </a:solidFill>
              </a:rPr>
              <a:t>Grounded Context Injection</a:t>
            </a:r>
            <a:endParaRPr lang="en-US" sz="1000" dirty="0"/>
          </a:p>
        </p:txBody>
      </p:sp>
      <p:sp>
        <p:nvSpPr>
          <p:cNvPr id="39" name="Text 36"/>
          <p:cNvSpPr/>
          <p:nvPr/>
        </p:nvSpPr>
        <p:spPr>
          <a:xfrm>
            <a:off x="7406640" y="5513832"/>
            <a:ext cx="3749040" cy="347472"/>
          </a:xfrm>
          <a:prstGeom prst="rect">
            <a:avLst/>
          </a:prstGeom>
          <a:noFill/>
          <a:ln/>
        </p:spPr>
        <p:txBody>
          <a:bodyPr wrap="square" rtlCol="0" anchor="ctr"/>
          <a:lstStyle/>
          <a:p>
            <a:pPr indent="0" marL="0">
              <a:buNone/>
            </a:pPr>
            <a:r>
              <a:rPr lang="en-US" sz="850" dirty="0">
                <a:solidFill>
                  <a:srgbClr val="94A3B8"/>
                </a:solidFill>
              </a:rPr>
              <a:t>Top matching chunks injected into strict system prompt for local LLM synthesis.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D1E"/>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F2FE"/>
          </a:solidFill>
          <a:ln/>
        </p:spPr>
      </p:sp>
      <p:sp>
        <p:nvSpPr>
          <p:cNvPr id="3" name="Shape 1"/>
          <p:cNvSpPr/>
          <p:nvPr/>
        </p:nvSpPr>
        <p:spPr>
          <a:xfrm>
            <a:off x="731520" y="347472"/>
            <a:ext cx="2560320" cy="274320"/>
          </a:xfrm>
          <a:prstGeom prst="roundRect">
            <a:avLst>
              <a:gd name="adj" fmla="val 26667"/>
            </a:avLst>
          </a:prstGeom>
          <a:solidFill>
            <a:srgbClr val="0E1834"/>
          </a:solidFill>
          <a:ln w="12700">
            <a:solidFill>
              <a:srgbClr val="00F2FE"/>
            </a:solidFill>
            <a:prstDash val="solid"/>
          </a:ln>
        </p:spPr>
      </p:sp>
      <p:sp>
        <p:nvSpPr>
          <p:cNvPr id="4" name="Text 2"/>
          <p:cNvSpPr/>
          <p:nvPr/>
        </p:nvSpPr>
        <p:spPr>
          <a:xfrm>
            <a:off x="731520" y="347472"/>
            <a:ext cx="2560320" cy="274320"/>
          </a:xfrm>
          <a:prstGeom prst="rect">
            <a:avLst/>
          </a:prstGeom>
          <a:noFill/>
          <a:ln/>
        </p:spPr>
        <p:txBody>
          <a:bodyPr wrap="square" rtlCol="0" anchor="ctr"/>
          <a:lstStyle/>
          <a:p>
            <a:pPr algn="ctr" indent="0" marL="0">
              <a:buNone/>
            </a:pPr>
            <a:r>
              <a:rPr lang="en-US" sz="900" b="1" dirty="0">
                <a:solidFill>
                  <a:srgbClr val="00F2FE"/>
                </a:solidFill>
                <a:latin typeface="Arial" pitchFamily="34" charset="0"/>
                <a:ea typeface="Arial" pitchFamily="34" charset="-122"/>
                <a:cs typeface="Arial" pitchFamily="34" charset="-120"/>
              </a:rPr>
              <a:t>INGESTION ENGINEERING</a:t>
            </a:r>
            <a:endParaRPr lang="en-US" sz="900" dirty="0"/>
          </a:p>
        </p:txBody>
      </p:sp>
      <p:sp>
        <p:nvSpPr>
          <p:cNvPr id="5" name="Text 3"/>
          <p:cNvSpPr/>
          <p:nvPr/>
        </p:nvSpPr>
        <p:spPr>
          <a:xfrm>
            <a:off x="731520" y="676656"/>
            <a:ext cx="10698480" cy="502920"/>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Data Ingestion Pipeline: Hierarchical Chunking &amp; Vision AI</a:t>
            </a:r>
            <a:endParaRPr lang="en-US" sz="2100" dirty="0"/>
          </a:p>
        </p:txBody>
      </p:sp>
      <p:sp>
        <p:nvSpPr>
          <p:cNvPr id="6" name="Text 4"/>
          <p:cNvSpPr/>
          <p:nvPr/>
        </p:nvSpPr>
        <p:spPr>
          <a:xfrm>
            <a:off x="731520" y="1170432"/>
            <a:ext cx="10698480" cy="292608"/>
          </a:xfrm>
          <a:prstGeom prst="rect">
            <a:avLst/>
          </a:prstGeom>
          <a:noFill/>
          <a:ln/>
        </p:spPr>
        <p:txBody>
          <a:bodyPr wrap="square" rtlCol="0" anchor="ctr"/>
          <a:lstStyle/>
          <a:p>
            <a:pPr indent="0" marL="0">
              <a:buNone/>
            </a:pPr>
            <a:r>
              <a:rPr lang="en-US" sz="1150" dirty="0">
                <a:solidFill>
                  <a:srgbClr val="94A3B8"/>
                </a:solidFill>
                <a:latin typeface="Arial" pitchFamily="34" charset="0"/>
                <a:ea typeface="Arial" pitchFamily="34" charset="-122"/>
                <a:cs typeface="Arial" pitchFamily="34" charset="-120"/>
              </a:rPr>
              <a:t>How raw SOP documents are transformed into clean, indexed vector representations with heading preservation</a:t>
            </a:r>
            <a:endParaRPr lang="en-US" sz="1150" dirty="0"/>
          </a:p>
        </p:txBody>
      </p:sp>
      <p:sp>
        <p:nvSpPr>
          <p:cNvPr id="7" name="Shape 5"/>
          <p:cNvSpPr/>
          <p:nvPr/>
        </p:nvSpPr>
        <p:spPr>
          <a:xfrm>
            <a:off x="731520" y="6400800"/>
            <a:ext cx="10698480" cy="18288"/>
          </a:xfrm>
          <a:prstGeom prst="rect">
            <a:avLst/>
          </a:prstGeom>
          <a:solidFill>
            <a:srgbClr val="1E3264"/>
          </a:solidFill>
          <a:ln/>
        </p:spPr>
      </p:sp>
      <p:sp>
        <p:nvSpPr>
          <p:cNvPr id="8" name="Text 6"/>
          <p:cNvSpPr/>
          <p:nvPr/>
        </p:nvSpPr>
        <p:spPr>
          <a:xfrm>
            <a:off x="731520" y="6446520"/>
            <a:ext cx="73152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LEINA • Local SOP RAG Architecture | Larsen &amp; Toubro Enterprise AI</a:t>
            </a:r>
            <a:endParaRPr lang="en-US" sz="850" dirty="0"/>
          </a:p>
        </p:txBody>
      </p:sp>
      <p:sp>
        <p:nvSpPr>
          <p:cNvPr id="9" name="Text 7"/>
          <p:cNvSpPr/>
          <p:nvPr/>
        </p:nvSpPr>
        <p:spPr>
          <a:xfrm>
            <a:off x="8686800" y="6446520"/>
            <a:ext cx="2743200" cy="274320"/>
          </a:xfrm>
          <a:prstGeom prst="rect">
            <a:avLst/>
          </a:prstGeom>
          <a:noFill/>
          <a:ln/>
        </p:spPr>
        <p:txBody>
          <a:bodyPr wrap="square" rtlCol="0" anchor="ctr"/>
          <a:lstStyle/>
          <a:p>
            <a:pPr algn="r" indent="0" marL="0">
              <a:buNone/>
            </a:pPr>
            <a:r>
              <a:rPr lang="en-US" sz="850" b="1" dirty="0">
                <a:solidFill>
                  <a:srgbClr val="00F2FE"/>
                </a:solidFill>
                <a:latin typeface="Arial" pitchFamily="34" charset="0"/>
                <a:ea typeface="Arial" pitchFamily="34" charset="-122"/>
                <a:cs typeface="Arial" pitchFamily="34" charset="-120"/>
              </a:rPr>
              <a:t>CONFIDENTIAL &amp; PROPRIETARY</a:t>
            </a:r>
            <a:endParaRPr lang="en-US" sz="850" dirty="0"/>
          </a:p>
        </p:txBody>
      </p:sp>
      <p:sp>
        <p:nvSpPr>
          <p:cNvPr id="10" name="Shape 8"/>
          <p:cNvSpPr/>
          <p:nvPr/>
        </p:nvSpPr>
        <p:spPr>
          <a:xfrm>
            <a:off x="731520" y="1600200"/>
            <a:ext cx="2560320" cy="4526280"/>
          </a:xfrm>
          <a:prstGeom prst="roundRect">
            <a:avLst>
              <a:gd name="adj" fmla="val 3571"/>
            </a:avLst>
          </a:prstGeom>
          <a:solidFill>
            <a:srgbClr val="0E1834"/>
          </a:solidFill>
          <a:ln w="15240">
            <a:solidFill>
              <a:srgbClr val="00F2FE"/>
            </a:solidFill>
            <a:prstDash val="solid"/>
          </a:ln>
        </p:spPr>
      </p:sp>
      <p:sp>
        <p:nvSpPr>
          <p:cNvPr id="11" name="Shape 9"/>
          <p:cNvSpPr/>
          <p:nvPr/>
        </p:nvSpPr>
        <p:spPr>
          <a:xfrm>
            <a:off x="868680" y="1737360"/>
            <a:ext cx="2286000" cy="292608"/>
          </a:xfrm>
          <a:prstGeom prst="roundRect">
            <a:avLst>
              <a:gd name="adj" fmla="val 18750"/>
            </a:avLst>
          </a:prstGeom>
          <a:solidFill>
            <a:srgbClr val="182958"/>
          </a:solidFill>
          <a:ln w="10160">
            <a:solidFill>
              <a:srgbClr val="00F2FE"/>
            </a:solidFill>
            <a:prstDash val="solid"/>
          </a:ln>
        </p:spPr>
      </p:sp>
      <p:sp>
        <p:nvSpPr>
          <p:cNvPr id="12" name="Text 10"/>
          <p:cNvSpPr/>
          <p:nvPr/>
        </p:nvSpPr>
        <p:spPr>
          <a:xfrm>
            <a:off x="868680" y="1737360"/>
            <a:ext cx="2286000" cy="292608"/>
          </a:xfrm>
          <a:prstGeom prst="rect">
            <a:avLst/>
          </a:prstGeom>
          <a:noFill/>
          <a:ln/>
        </p:spPr>
        <p:txBody>
          <a:bodyPr wrap="square" rtlCol="0" anchor="ctr"/>
          <a:lstStyle/>
          <a:p>
            <a:pPr algn="ctr" indent="0" marL="0">
              <a:buNone/>
            </a:pPr>
            <a:r>
              <a:rPr lang="en-US" sz="850" b="1" dirty="0">
                <a:solidFill>
                  <a:srgbClr val="00F2FE"/>
                </a:solidFill>
              </a:rPr>
              <a:t>STAGE 01: PARSING</a:t>
            </a:r>
            <a:endParaRPr lang="en-US" sz="850" dirty="0"/>
          </a:p>
        </p:txBody>
      </p:sp>
      <p:sp>
        <p:nvSpPr>
          <p:cNvPr id="13" name="Text 11"/>
          <p:cNvSpPr/>
          <p:nvPr/>
        </p:nvSpPr>
        <p:spPr>
          <a:xfrm>
            <a:off x="868680" y="2103120"/>
            <a:ext cx="2286000" cy="320040"/>
          </a:xfrm>
          <a:prstGeom prst="rect">
            <a:avLst/>
          </a:prstGeom>
          <a:noFill/>
          <a:ln/>
        </p:spPr>
        <p:txBody>
          <a:bodyPr wrap="square" rtlCol="0" anchor="ctr"/>
          <a:lstStyle/>
          <a:p>
            <a:pPr algn="ctr" indent="0" marL="0">
              <a:buNone/>
            </a:pPr>
            <a:r>
              <a:rPr lang="en-US" sz="1100" b="1" dirty="0">
                <a:solidFill>
                  <a:srgbClr val="FFFFFF"/>
                </a:solidFill>
              </a:rPr>
              <a:t>Multi-Format Parser</a:t>
            </a:r>
            <a:endParaRPr lang="en-US" sz="1100" dirty="0"/>
          </a:p>
        </p:txBody>
      </p:sp>
      <p:sp>
        <p:nvSpPr>
          <p:cNvPr id="14" name="Shape 12"/>
          <p:cNvSpPr/>
          <p:nvPr/>
        </p:nvSpPr>
        <p:spPr>
          <a:xfrm>
            <a:off x="868680" y="2514600"/>
            <a:ext cx="2286000" cy="777240"/>
          </a:xfrm>
          <a:prstGeom prst="roundRect">
            <a:avLst>
              <a:gd name="adj" fmla="val 7059"/>
            </a:avLst>
          </a:prstGeom>
          <a:solidFill>
            <a:srgbClr val="121F42"/>
          </a:solidFill>
          <a:ln w="7620">
            <a:solidFill>
              <a:srgbClr val="1E3264"/>
            </a:solidFill>
            <a:prstDash val="solid"/>
          </a:ln>
        </p:spPr>
      </p:sp>
      <p:sp>
        <p:nvSpPr>
          <p:cNvPr id="15" name="Text 13"/>
          <p:cNvSpPr/>
          <p:nvPr/>
        </p:nvSpPr>
        <p:spPr>
          <a:xfrm>
            <a:off x="932688" y="2587752"/>
            <a:ext cx="2157984" cy="640080"/>
          </a:xfrm>
          <a:prstGeom prst="rect">
            <a:avLst/>
          </a:prstGeom>
          <a:noFill/>
          <a:ln/>
        </p:spPr>
        <p:txBody>
          <a:bodyPr wrap="square" rtlCol="0" anchor="ctr"/>
          <a:lstStyle/>
          <a:p>
            <a:pPr indent="0" marL="0">
              <a:buNone/>
            </a:pPr>
            <a:r>
              <a:rPr lang="en-US" sz="850" dirty="0">
                <a:solidFill>
                  <a:srgbClr val="E2E8F0"/>
                </a:solidFill>
              </a:rPr>
              <a:t>• .pdf via pypdf (page-aware layout)</a:t>
            </a:r>
            <a:endParaRPr lang="en-US" sz="850" dirty="0"/>
          </a:p>
        </p:txBody>
      </p:sp>
      <p:sp>
        <p:nvSpPr>
          <p:cNvPr id="16" name="Shape 14"/>
          <p:cNvSpPr/>
          <p:nvPr/>
        </p:nvSpPr>
        <p:spPr>
          <a:xfrm>
            <a:off x="868680" y="3383280"/>
            <a:ext cx="2286000" cy="777240"/>
          </a:xfrm>
          <a:prstGeom prst="roundRect">
            <a:avLst>
              <a:gd name="adj" fmla="val 7059"/>
            </a:avLst>
          </a:prstGeom>
          <a:solidFill>
            <a:srgbClr val="121F42"/>
          </a:solidFill>
          <a:ln w="7620">
            <a:solidFill>
              <a:srgbClr val="1E3264"/>
            </a:solidFill>
            <a:prstDash val="solid"/>
          </a:ln>
        </p:spPr>
      </p:sp>
      <p:sp>
        <p:nvSpPr>
          <p:cNvPr id="17" name="Text 15"/>
          <p:cNvSpPr/>
          <p:nvPr/>
        </p:nvSpPr>
        <p:spPr>
          <a:xfrm>
            <a:off x="932688" y="3456432"/>
            <a:ext cx="2157984" cy="640080"/>
          </a:xfrm>
          <a:prstGeom prst="rect">
            <a:avLst/>
          </a:prstGeom>
          <a:noFill/>
          <a:ln/>
        </p:spPr>
        <p:txBody>
          <a:bodyPr wrap="square" rtlCol="0" anchor="ctr"/>
          <a:lstStyle/>
          <a:p>
            <a:pPr indent="0" marL="0">
              <a:buNone/>
            </a:pPr>
            <a:r>
              <a:rPr lang="en-US" sz="850" dirty="0">
                <a:solidFill>
                  <a:srgbClr val="E2E8F0"/>
                </a:solidFill>
              </a:rPr>
              <a:t>• .docx via python-docx traversal</a:t>
            </a:r>
            <a:endParaRPr lang="en-US" sz="850" dirty="0"/>
          </a:p>
        </p:txBody>
      </p:sp>
      <p:sp>
        <p:nvSpPr>
          <p:cNvPr id="18" name="Shape 16"/>
          <p:cNvSpPr/>
          <p:nvPr/>
        </p:nvSpPr>
        <p:spPr>
          <a:xfrm>
            <a:off x="868680" y="4251960"/>
            <a:ext cx="2286000" cy="777240"/>
          </a:xfrm>
          <a:prstGeom prst="roundRect">
            <a:avLst>
              <a:gd name="adj" fmla="val 7059"/>
            </a:avLst>
          </a:prstGeom>
          <a:solidFill>
            <a:srgbClr val="121F42"/>
          </a:solidFill>
          <a:ln w="7620">
            <a:solidFill>
              <a:srgbClr val="1E3264"/>
            </a:solidFill>
            <a:prstDash val="solid"/>
          </a:ln>
        </p:spPr>
      </p:sp>
      <p:sp>
        <p:nvSpPr>
          <p:cNvPr id="19" name="Text 17"/>
          <p:cNvSpPr/>
          <p:nvPr/>
        </p:nvSpPr>
        <p:spPr>
          <a:xfrm>
            <a:off x="932688" y="4325112"/>
            <a:ext cx="2157984" cy="640080"/>
          </a:xfrm>
          <a:prstGeom prst="rect">
            <a:avLst/>
          </a:prstGeom>
          <a:noFill/>
          <a:ln/>
        </p:spPr>
        <p:txBody>
          <a:bodyPr wrap="square" rtlCol="0" anchor="ctr"/>
          <a:lstStyle/>
          <a:p>
            <a:pPr indent="0" marL="0">
              <a:buNone/>
            </a:pPr>
            <a:r>
              <a:rPr lang="en-US" sz="850" dirty="0">
                <a:solidFill>
                  <a:srgbClr val="E2E8F0"/>
                </a:solidFill>
              </a:rPr>
              <a:t>• .txt / .md UTF-8 raw normalizers</a:t>
            </a:r>
            <a:endParaRPr lang="en-US" sz="850" dirty="0"/>
          </a:p>
        </p:txBody>
      </p:sp>
      <p:sp>
        <p:nvSpPr>
          <p:cNvPr id="20" name="Shape 18"/>
          <p:cNvSpPr/>
          <p:nvPr/>
        </p:nvSpPr>
        <p:spPr>
          <a:xfrm>
            <a:off x="868680" y="5120640"/>
            <a:ext cx="2286000" cy="777240"/>
          </a:xfrm>
          <a:prstGeom prst="roundRect">
            <a:avLst>
              <a:gd name="adj" fmla="val 7059"/>
            </a:avLst>
          </a:prstGeom>
          <a:solidFill>
            <a:srgbClr val="121F42"/>
          </a:solidFill>
          <a:ln w="7620">
            <a:solidFill>
              <a:srgbClr val="1E3264"/>
            </a:solidFill>
            <a:prstDash val="solid"/>
          </a:ln>
        </p:spPr>
      </p:sp>
      <p:sp>
        <p:nvSpPr>
          <p:cNvPr id="21" name="Text 19"/>
          <p:cNvSpPr/>
          <p:nvPr/>
        </p:nvSpPr>
        <p:spPr>
          <a:xfrm>
            <a:off x="932688" y="5193792"/>
            <a:ext cx="2157984" cy="640080"/>
          </a:xfrm>
          <a:prstGeom prst="rect">
            <a:avLst/>
          </a:prstGeom>
          <a:noFill/>
          <a:ln/>
        </p:spPr>
        <p:txBody>
          <a:bodyPr wrap="square" rtlCol="0" anchor="ctr"/>
          <a:lstStyle/>
          <a:p>
            <a:pPr indent="0" marL="0">
              <a:buNone/>
            </a:pPr>
            <a:r>
              <a:rPr lang="en-US" sz="850" dirty="0">
                <a:solidFill>
                  <a:srgbClr val="E2E8F0"/>
                </a:solidFill>
              </a:rPr>
              <a:t>• Extracts embedded flowchart images</a:t>
            </a:r>
            <a:endParaRPr lang="en-US" sz="850" dirty="0"/>
          </a:p>
        </p:txBody>
      </p:sp>
      <p:sp>
        <p:nvSpPr>
          <p:cNvPr id="22" name="Text 20"/>
          <p:cNvSpPr/>
          <p:nvPr/>
        </p:nvSpPr>
        <p:spPr>
          <a:xfrm>
            <a:off x="868680" y="5806440"/>
            <a:ext cx="2286000" cy="228600"/>
          </a:xfrm>
          <a:prstGeom prst="rect">
            <a:avLst/>
          </a:prstGeom>
          <a:noFill/>
          <a:ln/>
        </p:spPr>
        <p:txBody>
          <a:bodyPr wrap="square" rtlCol="0" anchor="ctr"/>
          <a:lstStyle/>
          <a:p>
            <a:pPr algn="ctr" indent="0" marL="0">
              <a:buNone/>
            </a:pPr>
            <a:r>
              <a:rPr lang="en-US" sz="800" dirty="0">
                <a:solidFill>
                  <a:srgbClr val="64748B"/>
                </a:solidFill>
                <a:latin typeface="Courier New" pitchFamily="34" charset="0"/>
                <a:ea typeface="Courier New" pitchFamily="34" charset="-122"/>
                <a:cs typeface="Courier New" pitchFamily="34" charset="-120"/>
              </a:rPr>
              <a:t>Latency: &lt; 2.0s</a:t>
            </a:r>
            <a:endParaRPr lang="en-US" sz="800" dirty="0"/>
          </a:p>
        </p:txBody>
      </p:sp>
      <p:sp>
        <p:nvSpPr>
          <p:cNvPr id="23" name="Shape 21"/>
          <p:cNvSpPr/>
          <p:nvPr/>
        </p:nvSpPr>
        <p:spPr>
          <a:xfrm>
            <a:off x="3429000" y="1600200"/>
            <a:ext cx="2560320" cy="4526280"/>
          </a:xfrm>
          <a:prstGeom prst="roundRect">
            <a:avLst>
              <a:gd name="adj" fmla="val 3571"/>
            </a:avLst>
          </a:prstGeom>
          <a:solidFill>
            <a:srgbClr val="0E1834"/>
          </a:solidFill>
          <a:ln w="15240">
            <a:solidFill>
              <a:srgbClr val="38BDF8"/>
            </a:solidFill>
            <a:prstDash val="solid"/>
          </a:ln>
        </p:spPr>
      </p:sp>
      <p:sp>
        <p:nvSpPr>
          <p:cNvPr id="24" name="Shape 22"/>
          <p:cNvSpPr/>
          <p:nvPr/>
        </p:nvSpPr>
        <p:spPr>
          <a:xfrm>
            <a:off x="3566160" y="1737360"/>
            <a:ext cx="2286000" cy="292608"/>
          </a:xfrm>
          <a:prstGeom prst="roundRect">
            <a:avLst>
              <a:gd name="adj" fmla="val 18750"/>
            </a:avLst>
          </a:prstGeom>
          <a:solidFill>
            <a:srgbClr val="182958"/>
          </a:solidFill>
          <a:ln w="10160">
            <a:solidFill>
              <a:srgbClr val="38BDF8"/>
            </a:solidFill>
            <a:prstDash val="solid"/>
          </a:ln>
        </p:spPr>
      </p:sp>
      <p:sp>
        <p:nvSpPr>
          <p:cNvPr id="25" name="Text 23"/>
          <p:cNvSpPr/>
          <p:nvPr/>
        </p:nvSpPr>
        <p:spPr>
          <a:xfrm>
            <a:off x="3566160" y="1737360"/>
            <a:ext cx="2286000" cy="292608"/>
          </a:xfrm>
          <a:prstGeom prst="rect">
            <a:avLst/>
          </a:prstGeom>
          <a:noFill/>
          <a:ln/>
        </p:spPr>
        <p:txBody>
          <a:bodyPr wrap="square" rtlCol="0" anchor="ctr"/>
          <a:lstStyle/>
          <a:p>
            <a:pPr algn="ctr" indent="0" marL="0">
              <a:buNone/>
            </a:pPr>
            <a:r>
              <a:rPr lang="en-US" sz="850" b="1" dirty="0">
                <a:solidFill>
                  <a:srgbClr val="38BDF8"/>
                </a:solidFill>
              </a:rPr>
              <a:t>STAGE 02: CHUNKING</a:t>
            </a:r>
            <a:endParaRPr lang="en-US" sz="850" dirty="0"/>
          </a:p>
        </p:txBody>
      </p:sp>
      <p:sp>
        <p:nvSpPr>
          <p:cNvPr id="26" name="Text 24"/>
          <p:cNvSpPr/>
          <p:nvPr/>
        </p:nvSpPr>
        <p:spPr>
          <a:xfrm>
            <a:off x="3566160" y="2103120"/>
            <a:ext cx="2286000" cy="320040"/>
          </a:xfrm>
          <a:prstGeom prst="rect">
            <a:avLst/>
          </a:prstGeom>
          <a:noFill/>
          <a:ln/>
        </p:spPr>
        <p:txBody>
          <a:bodyPr wrap="square" rtlCol="0" anchor="ctr"/>
          <a:lstStyle/>
          <a:p>
            <a:pPr algn="ctr" indent="0" marL="0">
              <a:buNone/>
            </a:pPr>
            <a:r>
              <a:rPr lang="en-US" sz="1100" b="1" dirty="0">
                <a:solidFill>
                  <a:srgbClr val="FFFFFF"/>
                </a:solidFill>
              </a:rPr>
              <a:t>Two-Stage Chunking</a:t>
            </a:r>
            <a:endParaRPr lang="en-US" sz="1100" dirty="0"/>
          </a:p>
        </p:txBody>
      </p:sp>
      <p:sp>
        <p:nvSpPr>
          <p:cNvPr id="27" name="Shape 25"/>
          <p:cNvSpPr/>
          <p:nvPr/>
        </p:nvSpPr>
        <p:spPr>
          <a:xfrm>
            <a:off x="3566160" y="2514600"/>
            <a:ext cx="2286000" cy="777240"/>
          </a:xfrm>
          <a:prstGeom prst="roundRect">
            <a:avLst>
              <a:gd name="adj" fmla="val 7059"/>
            </a:avLst>
          </a:prstGeom>
          <a:solidFill>
            <a:srgbClr val="121F42"/>
          </a:solidFill>
          <a:ln w="7620">
            <a:solidFill>
              <a:srgbClr val="1E3264"/>
            </a:solidFill>
            <a:prstDash val="solid"/>
          </a:ln>
        </p:spPr>
      </p:sp>
      <p:sp>
        <p:nvSpPr>
          <p:cNvPr id="28" name="Text 26"/>
          <p:cNvSpPr/>
          <p:nvPr/>
        </p:nvSpPr>
        <p:spPr>
          <a:xfrm>
            <a:off x="3630168" y="2587752"/>
            <a:ext cx="2157984" cy="640080"/>
          </a:xfrm>
          <a:prstGeom prst="rect">
            <a:avLst/>
          </a:prstGeom>
          <a:noFill/>
          <a:ln/>
        </p:spPr>
        <p:txBody>
          <a:bodyPr wrap="square" rtlCol="0" anchor="ctr"/>
          <a:lstStyle/>
          <a:p>
            <a:pPr indent="0" marL="0">
              <a:buNone/>
            </a:pPr>
            <a:r>
              <a:rPr lang="en-US" sz="850" dirty="0">
                <a:solidFill>
                  <a:srgbClr val="E2E8F0"/>
                </a:solidFill>
              </a:rPr>
              <a:t>• Stage A: Heading regex split (SECTION, SOP-xxx, ##)</a:t>
            </a:r>
            <a:endParaRPr lang="en-US" sz="850" dirty="0"/>
          </a:p>
        </p:txBody>
      </p:sp>
      <p:sp>
        <p:nvSpPr>
          <p:cNvPr id="29" name="Shape 27"/>
          <p:cNvSpPr/>
          <p:nvPr/>
        </p:nvSpPr>
        <p:spPr>
          <a:xfrm>
            <a:off x="3566160" y="3383280"/>
            <a:ext cx="2286000" cy="777240"/>
          </a:xfrm>
          <a:prstGeom prst="roundRect">
            <a:avLst>
              <a:gd name="adj" fmla="val 7059"/>
            </a:avLst>
          </a:prstGeom>
          <a:solidFill>
            <a:srgbClr val="121F42"/>
          </a:solidFill>
          <a:ln w="7620">
            <a:solidFill>
              <a:srgbClr val="1E3264"/>
            </a:solidFill>
            <a:prstDash val="solid"/>
          </a:ln>
        </p:spPr>
      </p:sp>
      <p:sp>
        <p:nvSpPr>
          <p:cNvPr id="30" name="Text 28"/>
          <p:cNvSpPr/>
          <p:nvPr/>
        </p:nvSpPr>
        <p:spPr>
          <a:xfrm>
            <a:off x="3630168" y="3456432"/>
            <a:ext cx="2157984" cy="640080"/>
          </a:xfrm>
          <a:prstGeom prst="rect">
            <a:avLst/>
          </a:prstGeom>
          <a:noFill/>
          <a:ln/>
        </p:spPr>
        <p:txBody>
          <a:bodyPr wrap="square" rtlCol="0" anchor="ctr"/>
          <a:lstStyle/>
          <a:p>
            <a:pPr indent="0" marL="0">
              <a:buNone/>
            </a:pPr>
            <a:r>
              <a:rPr lang="en-US" sz="850" dirty="0">
                <a:solidFill>
                  <a:srgbClr val="E2E8F0"/>
                </a:solidFill>
              </a:rPr>
              <a:t>• Stage B: Semantic window split if chunk &gt; 1500 chars</a:t>
            </a:r>
            <a:endParaRPr lang="en-US" sz="850" dirty="0"/>
          </a:p>
        </p:txBody>
      </p:sp>
      <p:sp>
        <p:nvSpPr>
          <p:cNvPr id="31" name="Shape 29"/>
          <p:cNvSpPr/>
          <p:nvPr/>
        </p:nvSpPr>
        <p:spPr>
          <a:xfrm>
            <a:off x="3566160" y="4251960"/>
            <a:ext cx="2286000" cy="777240"/>
          </a:xfrm>
          <a:prstGeom prst="roundRect">
            <a:avLst>
              <a:gd name="adj" fmla="val 7059"/>
            </a:avLst>
          </a:prstGeom>
          <a:solidFill>
            <a:srgbClr val="121F42"/>
          </a:solidFill>
          <a:ln w="7620">
            <a:solidFill>
              <a:srgbClr val="1E3264"/>
            </a:solidFill>
            <a:prstDash val="solid"/>
          </a:ln>
        </p:spPr>
      </p:sp>
      <p:sp>
        <p:nvSpPr>
          <p:cNvPr id="32" name="Text 30"/>
          <p:cNvSpPr/>
          <p:nvPr/>
        </p:nvSpPr>
        <p:spPr>
          <a:xfrm>
            <a:off x="3630168" y="4325112"/>
            <a:ext cx="2157984" cy="640080"/>
          </a:xfrm>
          <a:prstGeom prst="rect">
            <a:avLst/>
          </a:prstGeom>
          <a:noFill/>
          <a:ln/>
        </p:spPr>
        <p:txBody>
          <a:bodyPr wrap="square" rtlCol="0" anchor="ctr"/>
          <a:lstStyle/>
          <a:p>
            <a:pPr indent="0" marL="0">
              <a:buNone/>
            </a:pPr>
            <a:r>
              <a:rPr lang="en-US" sz="850" dirty="0">
                <a:solidFill>
                  <a:srgbClr val="E2E8F0"/>
                </a:solidFill>
              </a:rPr>
              <a:t>• Cosine Sim &lt; 0.55 triggers split</a:t>
            </a:r>
            <a:endParaRPr lang="en-US" sz="850" dirty="0"/>
          </a:p>
        </p:txBody>
      </p:sp>
      <p:sp>
        <p:nvSpPr>
          <p:cNvPr id="33" name="Shape 31"/>
          <p:cNvSpPr/>
          <p:nvPr/>
        </p:nvSpPr>
        <p:spPr>
          <a:xfrm>
            <a:off x="3566160" y="5120640"/>
            <a:ext cx="2286000" cy="777240"/>
          </a:xfrm>
          <a:prstGeom prst="roundRect">
            <a:avLst>
              <a:gd name="adj" fmla="val 7059"/>
            </a:avLst>
          </a:prstGeom>
          <a:solidFill>
            <a:srgbClr val="121F42"/>
          </a:solidFill>
          <a:ln w="7620">
            <a:solidFill>
              <a:srgbClr val="1E3264"/>
            </a:solidFill>
            <a:prstDash val="solid"/>
          </a:ln>
        </p:spPr>
      </p:sp>
      <p:sp>
        <p:nvSpPr>
          <p:cNvPr id="34" name="Text 32"/>
          <p:cNvSpPr/>
          <p:nvPr/>
        </p:nvSpPr>
        <p:spPr>
          <a:xfrm>
            <a:off x="3630168" y="5193792"/>
            <a:ext cx="2157984" cy="640080"/>
          </a:xfrm>
          <a:prstGeom prst="rect">
            <a:avLst/>
          </a:prstGeom>
          <a:noFill/>
          <a:ln/>
        </p:spPr>
        <p:txBody>
          <a:bodyPr wrap="square" rtlCol="0" anchor="ctr"/>
          <a:lstStyle/>
          <a:p>
            <a:pPr indent="0" marL="0">
              <a:buNone/>
            </a:pPr>
            <a:r>
              <a:rPr lang="en-US" sz="850" dirty="0">
                <a:solidFill>
                  <a:srgbClr val="E2E8F0"/>
                </a:solidFill>
              </a:rPr>
              <a:t>• 180-char sliding window overlap</a:t>
            </a:r>
            <a:endParaRPr lang="en-US" sz="850" dirty="0"/>
          </a:p>
        </p:txBody>
      </p:sp>
      <p:sp>
        <p:nvSpPr>
          <p:cNvPr id="35" name="Text 33"/>
          <p:cNvSpPr/>
          <p:nvPr/>
        </p:nvSpPr>
        <p:spPr>
          <a:xfrm>
            <a:off x="3566160" y="5806440"/>
            <a:ext cx="2286000" cy="228600"/>
          </a:xfrm>
          <a:prstGeom prst="rect">
            <a:avLst/>
          </a:prstGeom>
          <a:noFill/>
          <a:ln/>
        </p:spPr>
        <p:txBody>
          <a:bodyPr wrap="square" rtlCol="0" anchor="ctr"/>
          <a:lstStyle/>
          <a:p>
            <a:pPr algn="ctr" indent="0" marL="0">
              <a:buNone/>
            </a:pPr>
            <a:r>
              <a:rPr lang="en-US" sz="800" dirty="0">
                <a:solidFill>
                  <a:srgbClr val="64748B"/>
                </a:solidFill>
                <a:latin typeface="Courier New" pitchFamily="34" charset="0"/>
                <a:ea typeface="Courier New" pitchFamily="34" charset="-122"/>
                <a:cs typeface="Courier New" pitchFamily="34" charset="-120"/>
              </a:rPr>
              <a:t>Latency: &lt; 2.0s</a:t>
            </a:r>
            <a:endParaRPr lang="en-US" sz="800" dirty="0"/>
          </a:p>
        </p:txBody>
      </p:sp>
      <p:sp>
        <p:nvSpPr>
          <p:cNvPr id="36" name="Shape 34"/>
          <p:cNvSpPr/>
          <p:nvPr/>
        </p:nvSpPr>
        <p:spPr>
          <a:xfrm>
            <a:off x="6126480" y="1600200"/>
            <a:ext cx="2560320" cy="4526280"/>
          </a:xfrm>
          <a:prstGeom prst="roundRect">
            <a:avLst>
              <a:gd name="adj" fmla="val 3571"/>
            </a:avLst>
          </a:prstGeom>
          <a:solidFill>
            <a:srgbClr val="0E1834"/>
          </a:solidFill>
          <a:ln w="15240">
            <a:solidFill>
              <a:srgbClr val="A855F7"/>
            </a:solidFill>
            <a:prstDash val="solid"/>
          </a:ln>
        </p:spPr>
      </p:sp>
      <p:sp>
        <p:nvSpPr>
          <p:cNvPr id="37" name="Shape 35"/>
          <p:cNvSpPr/>
          <p:nvPr/>
        </p:nvSpPr>
        <p:spPr>
          <a:xfrm>
            <a:off x="6263640" y="1737360"/>
            <a:ext cx="2286000" cy="292608"/>
          </a:xfrm>
          <a:prstGeom prst="roundRect">
            <a:avLst>
              <a:gd name="adj" fmla="val 18750"/>
            </a:avLst>
          </a:prstGeom>
          <a:solidFill>
            <a:srgbClr val="182958"/>
          </a:solidFill>
          <a:ln w="10160">
            <a:solidFill>
              <a:srgbClr val="A855F7"/>
            </a:solidFill>
            <a:prstDash val="solid"/>
          </a:ln>
        </p:spPr>
      </p:sp>
      <p:sp>
        <p:nvSpPr>
          <p:cNvPr id="38" name="Text 36"/>
          <p:cNvSpPr/>
          <p:nvPr/>
        </p:nvSpPr>
        <p:spPr>
          <a:xfrm>
            <a:off x="6263640" y="1737360"/>
            <a:ext cx="2286000" cy="292608"/>
          </a:xfrm>
          <a:prstGeom prst="rect">
            <a:avLst/>
          </a:prstGeom>
          <a:noFill/>
          <a:ln/>
        </p:spPr>
        <p:txBody>
          <a:bodyPr wrap="square" rtlCol="0" anchor="ctr"/>
          <a:lstStyle/>
          <a:p>
            <a:pPr algn="ctr" indent="0" marL="0">
              <a:buNone/>
            </a:pPr>
            <a:r>
              <a:rPr lang="en-US" sz="850" b="1" dirty="0">
                <a:solidFill>
                  <a:srgbClr val="A855F7"/>
                </a:solidFill>
              </a:rPr>
              <a:t>STAGE 03: VISION AI</a:t>
            </a:r>
            <a:endParaRPr lang="en-US" sz="850" dirty="0"/>
          </a:p>
        </p:txBody>
      </p:sp>
      <p:sp>
        <p:nvSpPr>
          <p:cNvPr id="39" name="Text 37"/>
          <p:cNvSpPr/>
          <p:nvPr/>
        </p:nvSpPr>
        <p:spPr>
          <a:xfrm>
            <a:off x="6263640" y="2103120"/>
            <a:ext cx="2286000" cy="320040"/>
          </a:xfrm>
          <a:prstGeom prst="rect">
            <a:avLst/>
          </a:prstGeom>
          <a:noFill/>
          <a:ln/>
        </p:spPr>
        <p:txBody>
          <a:bodyPr wrap="square" rtlCol="0" anchor="ctr"/>
          <a:lstStyle/>
          <a:p>
            <a:pPr algn="ctr" indent="0" marL="0">
              <a:buNone/>
            </a:pPr>
            <a:r>
              <a:rPr lang="en-US" sz="1100" b="1" dirty="0">
                <a:solidFill>
                  <a:srgbClr val="FFFFFF"/>
                </a:solidFill>
              </a:rPr>
              <a:t>Diagram Captioning</a:t>
            </a:r>
            <a:endParaRPr lang="en-US" sz="1100" dirty="0"/>
          </a:p>
        </p:txBody>
      </p:sp>
      <p:sp>
        <p:nvSpPr>
          <p:cNvPr id="40" name="Shape 38"/>
          <p:cNvSpPr/>
          <p:nvPr/>
        </p:nvSpPr>
        <p:spPr>
          <a:xfrm>
            <a:off x="6263640" y="2514600"/>
            <a:ext cx="2286000" cy="777240"/>
          </a:xfrm>
          <a:prstGeom prst="roundRect">
            <a:avLst>
              <a:gd name="adj" fmla="val 7059"/>
            </a:avLst>
          </a:prstGeom>
          <a:solidFill>
            <a:srgbClr val="121F42"/>
          </a:solidFill>
          <a:ln w="7620">
            <a:solidFill>
              <a:srgbClr val="1E3264"/>
            </a:solidFill>
            <a:prstDash val="solid"/>
          </a:ln>
        </p:spPr>
      </p:sp>
      <p:sp>
        <p:nvSpPr>
          <p:cNvPr id="41" name="Text 39"/>
          <p:cNvSpPr/>
          <p:nvPr/>
        </p:nvSpPr>
        <p:spPr>
          <a:xfrm>
            <a:off x="6327648" y="2587752"/>
            <a:ext cx="2157984" cy="640080"/>
          </a:xfrm>
          <a:prstGeom prst="rect">
            <a:avLst/>
          </a:prstGeom>
          <a:noFill/>
          <a:ln/>
        </p:spPr>
        <p:txBody>
          <a:bodyPr wrap="square" rtlCol="0" anchor="ctr"/>
          <a:lstStyle/>
          <a:p>
            <a:pPr indent="0" marL="0">
              <a:buNone/>
            </a:pPr>
            <a:r>
              <a:rPr lang="en-US" sz="850" dirty="0">
                <a:solidFill>
                  <a:srgbClr val="E2E8F0"/>
                </a:solidFill>
              </a:rPr>
              <a:t>• Images sent to local Qwen2.5-VL</a:t>
            </a:r>
            <a:endParaRPr lang="en-US" sz="850" dirty="0"/>
          </a:p>
        </p:txBody>
      </p:sp>
      <p:sp>
        <p:nvSpPr>
          <p:cNvPr id="42" name="Shape 40"/>
          <p:cNvSpPr/>
          <p:nvPr/>
        </p:nvSpPr>
        <p:spPr>
          <a:xfrm>
            <a:off x="6263640" y="3383280"/>
            <a:ext cx="2286000" cy="777240"/>
          </a:xfrm>
          <a:prstGeom prst="roundRect">
            <a:avLst>
              <a:gd name="adj" fmla="val 7059"/>
            </a:avLst>
          </a:prstGeom>
          <a:solidFill>
            <a:srgbClr val="121F42"/>
          </a:solidFill>
          <a:ln w="7620">
            <a:solidFill>
              <a:srgbClr val="1E3264"/>
            </a:solidFill>
            <a:prstDash val="solid"/>
          </a:ln>
        </p:spPr>
      </p:sp>
      <p:sp>
        <p:nvSpPr>
          <p:cNvPr id="43" name="Text 41"/>
          <p:cNvSpPr/>
          <p:nvPr/>
        </p:nvSpPr>
        <p:spPr>
          <a:xfrm>
            <a:off x="6327648" y="3456432"/>
            <a:ext cx="2157984" cy="640080"/>
          </a:xfrm>
          <a:prstGeom prst="rect">
            <a:avLst/>
          </a:prstGeom>
          <a:noFill/>
          <a:ln/>
        </p:spPr>
        <p:txBody>
          <a:bodyPr wrap="square" rtlCol="0" anchor="ctr"/>
          <a:lstStyle/>
          <a:p>
            <a:pPr indent="0" marL="0">
              <a:buNone/>
            </a:pPr>
            <a:r>
              <a:rPr lang="en-US" sz="850" dirty="0">
                <a:solidFill>
                  <a:srgbClr val="E2E8F0"/>
                </a:solidFill>
              </a:rPr>
              <a:t>• Generates dense technical caption</a:t>
            </a:r>
            <a:endParaRPr lang="en-US" sz="850" dirty="0"/>
          </a:p>
        </p:txBody>
      </p:sp>
      <p:sp>
        <p:nvSpPr>
          <p:cNvPr id="44" name="Shape 42"/>
          <p:cNvSpPr/>
          <p:nvPr/>
        </p:nvSpPr>
        <p:spPr>
          <a:xfrm>
            <a:off x="6263640" y="4251960"/>
            <a:ext cx="2286000" cy="777240"/>
          </a:xfrm>
          <a:prstGeom prst="roundRect">
            <a:avLst>
              <a:gd name="adj" fmla="val 7059"/>
            </a:avLst>
          </a:prstGeom>
          <a:solidFill>
            <a:srgbClr val="121F42"/>
          </a:solidFill>
          <a:ln w="7620">
            <a:solidFill>
              <a:srgbClr val="1E3264"/>
            </a:solidFill>
            <a:prstDash val="solid"/>
          </a:ln>
        </p:spPr>
      </p:sp>
      <p:sp>
        <p:nvSpPr>
          <p:cNvPr id="45" name="Text 43"/>
          <p:cNvSpPr/>
          <p:nvPr/>
        </p:nvSpPr>
        <p:spPr>
          <a:xfrm>
            <a:off x="6327648" y="4325112"/>
            <a:ext cx="2157984" cy="640080"/>
          </a:xfrm>
          <a:prstGeom prst="rect">
            <a:avLst/>
          </a:prstGeom>
          <a:noFill/>
          <a:ln/>
        </p:spPr>
        <p:txBody>
          <a:bodyPr wrap="square" rtlCol="0" anchor="ctr"/>
          <a:lstStyle/>
          <a:p>
            <a:pPr indent="0" marL="0">
              <a:buNone/>
            </a:pPr>
            <a:r>
              <a:rPr lang="en-US" sz="850" dirty="0">
                <a:solidFill>
                  <a:srgbClr val="E2E8F0"/>
                </a:solidFill>
              </a:rPr>
              <a:t>• Indexed as searchable text: "[SOP IMAGE #n] &lt;caption&gt;"</a:t>
            </a:r>
            <a:endParaRPr lang="en-US" sz="850" dirty="0"/>
          </a:p>
        </p:txBody>
      </p:sp>
      <p:sp>
        <p:nvSpPr>
          <p:cNvPr id="46" name="Shape 44"/>
          <p:cNvSpPr/>
          <p:nvPr/>
        </p:nvSpPr>
        <p:spPr>
          <a:xfrm>
            <a:off x="6263640" y="5120640"/>
            <a:ext cx="2286000" cy="777240"/>
          </a:xfrm>
          <a:prstGeom prst="roundRect">
            <a:avLst>
              <a:gd name="adj" fmla="val 7059"/>
            </a:avLst>
          </a:prstGeom>
          <a:solidFill>
            <a:srgbClr val="121F42"/>
          </a:solidFill>
          <a:ln w="7620">
            <a:solidFill>
              <a:srgbClr val="1E3264"/>
            </a:solidFill>
            <a:prstDash val="solid"/>
          </a:ln>
        </p:spPr>
      </p:sp>
      <p:sp>
        <p:nvSpPr>
          <p:cNvPr id="47" name="Text 45"/>
          <p:cNvSpPr/>
          <p:nvPr/>
        </p:nvSpPr>
        <p:spPr>
          <a:xfrm>
            <a:off x="6327648" y="5193792"/>
            <a:ext cx="2157984" cy="640080"/>
          </a:xfrm>
          <a:prstGeom prst="rect">
            <a:avLst/>
          </a:prstGeom>
          <a:noFill/>
          <a:ln/>
        </p:spPr>
        <p:txBody>
          <a:bodyPr wrap="square" rtlCol="0" anchor="ctr"/>
          <a:lstStyle/>
          <a:p>
            <a:pPr indent="0" marL="0">
              <a:buNone/>
            </a:pPr>
            <a:r>
              <a:rPr lang="en-US" sz="850" dirty="0">
                <a:solidFill>
                  <a:srgbClr val="E2E8F0"/>
                </a:solidFill>
              </a:rPr>
              <a:t>• Enables visual flowchart search</a:t>
            </a:r>
            <a:endParaRPr lang="en-US" sz="850" dirty="0"/>
          </a:p>
        </p:txBody>
      </p:sp>
      <p:sp>
        <p:nvSpPr>
          <p:cNvPr id="48" name="Text 46"/>
          <p:cNvSpPr/>
          <p:nvPr/>
        </p:nvSpPr>
        <p:spPr>
          <a:xfrm>
            <a:off x="6263640" y="5806440"/>
            <a:ext cx="2286000" cy="228600"/>
          </a:xfrm>
          <a:prstGeom prst="rect">
            <a:avLst/>
          </a:prstGeom>
          <a:noFill/>
          <a:ln/>
        </p:spPr>
        <p:txBody>
          <a:bodyPr wrap="square" rtlCol="0" anchor="ctr"/>
          <a:lstStyle/>
          <a:p>
            <a:pPr algn="ctr" indent="0" marL="0">
              <a:buNone/>
            </a:pPr>
            <a:r>
              <a:rPr lang="en-US" sz="800" dirty="0">
                <a:solidFill>
                  <a:srgbClr val="64748B"/>
                </a:solidFill>
                <a:latin typeface="Courier New" pitchFamily="34" charset="0"/>
                <a:ea typeface="Courier New" pitchFamily="34" charset="-122"/>
                <a:cs typeface="Courier New" pitchFamily="34" charset="-120"/>
              </a:rPr>
              <a:t>Latency: &lt; 2.0s</a:t>
            </a:r>
            <a:endParaRPr lang="en-US" sz="800" dirty="0"/>
          </a:p>
        </p:txBody>
      </p:sp>
      <p:sp>
        <p:nvSpPr>
          <p:cNvPr id="49" name="Shape 47"/>
          <p:cNvSpPr/>
          <p:nvPr/>
        </p:nvSpPr>
        <p:spPr>
          <a:xfrm>
            <a:off x="8823960" y="1600200"/>
            <a:ext cx="2560320" cy="4526280"/>
          </a:xfrm>
          <a:prstGeom prst="roundRect">
            <a:avLst>
              <a:gd name="adj" fmla="val 3571"/>
            </a:avLst>
          </a:prstGeom>
          <a:solidFill>
            <a:srgbClr val="0E1834"/>
          </a:solidFill>
          <a:ln w="15240">
            <a:solidFill>
              <a:srgbClr val="10B981"/>
            </a:solidFill>
            <a:prstDash val="solid"/>
          </a:ln>
        </p:spPr>
      </p:sp>
      <p:sp>
        <p:nvSpPr>
          <p:cNvPr id="50" name="Shape 48"/>
          <p:cNvSpPr/>
          <p:nvPr/>
        </p:nvSpPr>
        <p:spPr>
          <a:xfrm>
            <a:off x="8961120" y="1737360"/>
            <a:ext cx="2286000" cy="292608"/>
          </a:xfrm>
          <a:prstGeom prst="roundRect">
            <a:avLst>
              <a:gd name="adj" fmla="val 18750"/>
            </a:avLst>
          </a:prstGeom>
          <a:solidFill>
            <a:srgbClr val="182958"/>
          </a:solidFill>
          <a:ln w="10160">
            <a:solidFill>
              <a:srgbClr val="10B981"/>
            </a:solidFill>
            <a:prstDash val="solid"/>
          </a:ln>
        </p:spPr>
      </p:sp>
      <p:sp>
        <p:nvSpPr>
          <p:cNvPr id="51" name="Text 49"/>
          <p:cNvSpPr/>
          <p:nvPr/>
        </p:nvSpPr>
        <p:spPr>
          <a:xfrm>
            <a:off x="8961120" y="1737360"/>
            <a:ext cx="2286000" cy="292608"/>
          </a:xfrm>
          <a:prstGeom prst="rect">
            <a:avLst/>
          </a:prstGeom>
          <a:noFill/>
          <a:ln/>
        </p:spPr>
        <p:txBody>
          <a:bodyPr wrap="square" rtlCol="0" anchor="ctr"/>
          <a:lstStyle/>
          <a:p>
            <a:pPr algn="ctr" indent="0" marL="0">
              <a:buNone/>
            </a:pPr>
            <a:r>
              <a:rPr lang="en-US" sz="850" b="1" dirty="0">
                <a:solidFill>
                  <a:srgbClr val="10B981"/>
                </a:solidFill>
              </a:rPr>
              <a:t>STAGE 04: INDEXING</a:t>
            </a:r>
            <a:endParaRPr lang="en-US" sz="850" dirty="0"/>
          </a:p>
        </p:txBody>
      </p:sp>
      <p:sp>
        <p:nvSpPr>
          <p:cNvPr id="52" name="Text 50"/>
          <p:cNvSpPr/>
          <p:nvPr/>
        </p:nvSpPr>
        <p:spPr>
          <a:xfrm>
            <a:off x="8961120" y="2103120"/>
            <a:ext cx="2286000" cy="320040"/>
          </a:xfrm>
          <a:prstGeom prst="rect">
            <a:avLst/>
          </a:prstGeom>
          <a:noFill/>
          <a:ln/>
        </p:spPr>
        <p:txBody>
          <a:bodyPr wrap="square" rtlCol="0" anchor="ctr"/>
          <a:lstStyle/>
          <a:p>
            <a:pPr algn="ctr" indent="0" marL="0">
              <a:buNone/>
            </a:pPr>
            <a:r>
              <a:rPr lang="en-US" sz="1100" b="1" dirty="0">
                <a:solidFill>
                  <a:srgbClr val="FFFFFF"/>
                </a:solidFill>
              </a:rPr>
              <a:t>Batch Vector Store</a:t>
            </a:r>
            <a:endParaRPr lang="en-US" sz="1100" dirty="0"/>
          </a:p>
        </p:txBody>
      </p:sp>
      <p:sp>
        <p:nvSpPr>
          <p:cNvPr id="53" name="Shape 51"/>
          <p:cNvSpPr/>
          <p:nvPr/>
        </p:nvSpPr>
        <p:spPr>
          <a:xfrm>
            <a:off x="8961120" y="2514600"/>
            <a:ext cx="2286000" cy="777240"/>
          </a:xfrm>
          <a:prstGeom prst="roundRect">
            <a:avLst>
              <a:gd name="adj" fmla="val 7059"/>
            </a:avLst>
          </a:prstGeom>
          <a:solidFill>
            <a:srgbClr val="121F42"/>
          </a:solidFill>
          <a:ln w="7620">
            <a:solidFill>
              <a:srgbClr val="1E3264"/>
            </a:solidFill>
            <a:prstDash val="solid"/>
          </a:ln>
        </p:spPr>
      </p:sp>
      <p:sp>
        <p:nvSpPr>
          <p:cNvPr id="54" name="Text 52"/>
          <p:cNvSpPr/>
          <p:nvPr/>
        </p:nvSpPr>
        <p:spPr>
          <a:xfrm>
            <a:off x="9025128" y="2587752"/>
            <a:ext cx="2157984" cy="640080"/>
          </a:xfrm>
          <a:prstGeom prst="rect">
            <a:avLst/>
          </a:prstGeom>
          <a:noFill/>
          <a:ln/>
        </p:spPr>
        <p:txBody>
          <a:bodyPr wrap="square" rtlCol="0" anchor="ctr"/>
          <a:lstStyle/>
          <a:p>
            <a:pPr indent="0" marL="0">
              <a:buNone/>
            </a:pPr>
            <a:r>
              <a:rPr lang="en-US" sz="850" dirty="0">
                <a:solidFill>
                  <a:srgbClr val="E2E8F0"/>
                </a:solidFill>
              </a:rPr>
              <a:t>• Model: nomic-embed-text (768-D)</a:t>
            </a:r>
            <a:endParaRPr lang="en-US" sz="850" dirty="0"/>
          </a:p>
        </p:txBody>
      </p:sp>
      <p:sp>
        <p:nvSpPr>
          <p:cNvPr id="55" name="Shape 53"/>
          <p:cNvSpPr/>
          <p:nvPr/>
        </p:nvSpPr>
        <p:spPr>
          <a:xfrm>
            <a:off x="8961120" y="3383280"/>
            <a:ext cx="2286000" cy="777240"/>
          </a:xfrm>
          <a:prstGeom prst="roundRect">
            <a:avLst>
              <a:gd name="adj" fmla="val 7059"/>
            </a:avLst>
          </a:prstGeom>
          <a:solidFill>
            <a:srgbClr val="121F42"/>
          </a:solidFill>
          <a:ln w="7620">
            <a:solidFill>
              <a:srgbClr val="1E3264"/>
            </a:solidFill>
            <a:prstDash val="solid"/>
          </a:ln>
        </p:spPr>
      </p:sp>
      <p:sp>
        <p:nvSpPr>
          <p:cNvPr id="56" name="Text 54"/>
          <p:cNvSpPr/>
          <p:nvPr/>
        </p:nvSpPr>
        <p:spPr>
          <a:xfrm>
            <a:off x="9025128" y="3456432"/>
            <a:ext cx="2157984" cy="640080"/>
          </a:xfrm>
          <a:prstGeom prst="rect">
            <a:avLst/>
          </a:prstGeom>
          <a:noFill/>
          <a:ln/>
        </p:spPr>
        <p:txBody>
          <a:bodyPr wrap="square" rtlCol="0" anchor="ctr"/>
          <a:lstStyle/>
          <a:p>
            <a:pPr indent="0" marL="0">
              <a:buNone/>
            </a:pPr>
            <a:r>
              <a:rPr lang="en-US" sz="850" dirty="0">
                <a:solidFill>
                  <a:srgbClr val="E2E8F0"/>
                </a:solidFill>
              </a:rPr>
              <a:t>• Batch size: 25 chunks per request</a:t>
            </a:r>
            <a:endParaRPr lang="en-US" sz="850" dirty="0"/>
          </a:p>
        </p:txBody>
      </p:sp>
      <p:sp>
        <p:nvSpPr>
          <p:cNvPr id="57" name="Shape 55"/>
          <p:cNvSpPr/>
          <p:nvPr/>
        </p:nvSpPr>
        <p:spPr>
          <a:xfrm>
            <a:off x="8961120" y="4251960"/>
            <a:ext cx="2286000" cy="777240"/>
          </a:xfrm>
          <a:prstGeom prst="roundRect">
            <a:avLst>
              <a:gd name="adj" fmla="val 7059"/>
            </a:avLst>
          </a:prstGeom>
          <a:solidFill>
            <a:srgbClr val="121F42"/>
          </a:solidFill>
          <a:ln w="7620">
            <a:solidFill>
              <a:srgbClr val="1E3264"/>
            </a:solidFill>
            <a:prstDash val="solid"/>
          </a:ln>
        </p:spPr>
      </p:sp>
      <p:sp>
        <p:nvSpPr>
          <p:cNvPr id="58" name="Text 56"/>
          <p:cNvSpPr/>
          <p:nvPr/>
        </p:nvSpPr>
        <p:spPr>
          <a:xfrm>
            <a:off x="9025128" y="4325112"/>
            <a:ext cx="2157984" cy="640080"/>
          </a:xfrm>
          <a:prstGeom prst="rect">
            <a:avLst/>
          </a:prstGeom>
          <a:noFill/>
          <a:ln/>
        </p:spPr>
        <p:txBody>
          <a:bodyPr wrap="square" rtlCol="0" anchor="ctr"/>
          <a:lstStyle/>
          <a:p>
            <a:pPr indent="0" marL="0">
              <a:buNone/>
            </a:pPr>
            <a:r>
              <a:rPr lang="en-US" sz="850" dirty="0">
                <a:solidFill>
                  <a:srgbClr val="E2E8F0"/>
                </a:solidFill>
              </a:rPr>
              <a:t>• Collection: sop_documents in ChromaDB</a:t>
            </a:r>
            <a:endParaRPr lang="en-US" sz="850" dirty="0"/>
          </a:p>
        </p:txBody>
      </p:sp>
      <p:sp>
        <p:nvSpPr>
          <p:cNvPr id="59" name="Shape 57"/>
          <p:cNvSpPr/>
          <p:nvPr/>
        </p:nvSpPr>
        <p:spPr>
          <a:xfrm>
            <a:off x="8961120" y="5120640"/>
            <a:ext cx="2286000" cy="777240"/>
          </a:xfrm>
          <a:prstGeom prst="roundRect">
            <a:avLst>
              <a:gd name="adj" fmla="val 7059"/>
            </a:avLst>
          </a:prstGeom>
          <a:solidFill>
            <a:srgbClr val="121F42"/>
          </a:solidFill>
          <a:ln w="7620">
            <a:solidFill>
              <a:srgbClr val="1E3264"/>
            </a:solidFill>
            <a:prstDash val="solid"/>
          </a:ln>
        </p:spPr>
      </p:sp>
      <p:sp>
        <p:nvSpPr>
          <p:cNvPr id="60" name="Text 58"/>
          <p:cNvSpPr/>
          <p:nvPr/>
        </p:nvSpPr>
        <p:spPr>
          <a:xfrm>
            <a:off x="9025128" y="5193792"/>
            <a:ext cx="2157984" cy="640080"/>
          </a:xfrm>
          <a:prstGeom prst="rect">
            <a:avLst/>
          </a:prstGeom>
          <a:noFill/>
          <a:ln/>
        </p:spPr>
        <p:txBody>
          <a:bodyPr wrap="square" rtlCol="0" anchor="ctr"/>
          <a:lstStyle/>
          <a:p>
            <a:pPr indent="0" marL="0">
              <a:buNone/>
            </a:pPr>
            <a:r>
              <a:rPr lang="en-US" sz="850" dirty="0">
                <a:solidFill>
                  <a:srgbClr val="E2E8F0"/>
                </a:solidFill>
              </a:rPr>
              <a:t>• Auto-deduplication on re-upload</a:t>
            </a:r>
            <a:endParaRPr lang="en-US" sz="850" dirty="0"/>
          </a:p>
        </p:txBody>
      </p:sp>
      <p:sp>
        <p:nvSpPr>
          <p:cNvPr id="61" name="Text 59"/>
          <p:cNvSpPr/>
          <p:nvPr/>
        </p:nvSpPr>
        <p:spPr>
          <a:xfrm>
            <a:off x="8961120" y="5806440"/>
            <a:ext cx="2286000" cy="228600"/>
          </a:xfrm>
          <a:prstGeom prst="rect">
            <a:avLst/>
          </a:prstGeom>
          <a:noFill/>
          <a:ln/>
        </p:spPr>
        <p:txBody>
          <a:bodyPr wrap="square" rtlCol="0" anchor="ctr"/>
          <a:lstStyle/>
          <a:p>
            <a:pPr algn="ctr" indent="0" marL="0">
              <a:buNone/>
            </a:pPr>
            <a:r>
              <a:rPr lang="en-US" sz="800" dirty="0">
                <a:solidFill>
                  <a:srgbClr val="64748B"/>
                </a:solidFill>
                <a:latin typeface="Courier New" pitchFamily="34" charset="0"/>
                <a:ea typeface="Courier New" pitchFamily="34" charset="-122"/>
                <a:cs typeface="Courier New" pitchFamily="34" charset="-120"/>
              </a:rPr>
              <a:t>Latency: &lt; 2.0s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D1E"/>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F2FE"/>
          </a:solidFill>
          <a:ln/>
        </p:spPr>
      </p:sp>
      <p:sp>
        <p:nvSpPr>
          <p:cNvPr id="3" name="Shape 1"/>
          <p:cNvSpPr/>
          <p:nvPr/>
        </p:nvSpPr>
        <p:spPr>
          <a:xfrm>
            <a:off x="731520" y="347472"/>
            <a:ext cx="2560320" cy="274320"/>
          </a:xfrm>
          <a:prstGeom prst="roundRect">
            <a:avLst>
              <a:gd name="adj" fmla="val 26667"/>
            </a:avLst>
          </a:prstGeom>
          <a:solidFill>
            <a:srgbClr val="0E1834"/>
          </a:solidFill>
          <a:ln w="12700">
            <a:solidFill>
              <a:srgbClr val="00F2FE"/>
            </a:solidFill>
            <a:prstDash val="solid"/>
          </a:ln>
        </p:spPr>
      </p:sp>
      <p:sp>
        <p:nvSpPr>
          <p:cNvPr id="4" name="Text 2"/>
          <p:cNvSpPr/>
          <p:nvPr/>
        </p:nvSpPr>
        <p:spPr>
          <a:xfrm>
            <a:off x="731520" y="347472"/>
            <a:ext cx="2560320" cy="274320"/>
          </a:xfrm>
          <a:prstGeom prst="rect">
            <a:avLst/>
          </a:prstGeom>
          <a:noFill/>
          <a:ln/>
        </p:spPr>
        <p:txBody>
          <a:bodyPr wrap="square" rtlCol="0" anchor="ctr"/>
          <a:lstStyle/>
          <a:p>
            <a:pPr algn="ctr" indent="0" marL="0">
              <a:buNone/>
            </a:pPr>
            <a:r>
              <a:rPr lang="en-US" sz="900" b="1" dirty="0">
                <a:solidFill>
                  <a:srgbClr val="00F2FE"/>
                </a:solidFill>
                <a:latin typeface="Arial" pitchFamily="34" charset="0"/>
                <a:ea typeface="Arial" pitchFamily="34" charset="-122"/>
                <a:cs typeface="Arial" pitchFamily="34" charset="-120"/>
              </a:rPr>
              <a:t>RETRIEVAL PIPELINE</a:t>
            </a:r>
            <a:endParaRPr lang="en-US" sz="900" dirty="0"/>
          </a:p>
        </p:txBody>
      </p:sp>
      <p:sp>
        <p:nvSpPr>
          <p:cNvPr id="5" name="Text 3"/>
          <p:cNvSpPr/>
          <p:nvPr/>
        </p:nvSpPr>
        <p:spPr>
          <a:xfrm>
            <a:off x="731520" y="676656"/>
            <a:ext cx="10698480" cy="502920"/>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Advanced Hybrid Search: Dense Vector + BM25 Lexical + RRF Fusion</a:t>
            </a:r>
            <a:endParaRPr lang="en-US" sz="2100" dirty="0"/>
          </a:p>
        </p:txBody>
      </p:sp>
      <p:sp>
        <p:nvSpPr>
          <p:cNvPr id="6" name="Text 4"/>
          <p:cNvSpPr/>
          <p:nvPr/>
        </p:nvSpPr>
        <p:spPr>
          <a:xfrm>
            <a:off x="731520" y="1170432"/>
            <a:ext cx="10698480" cy="292608"/>
          </a:xfrm>
          <a:prstGeom prst="rect">
            <a:avLst/>
          </a:prstGeom>
          <a:noFill/>
          <a:ln/>
        </p:spPr>
        <p:txBody>
          <a:bodyPr wrap="square" rtlCol="0" anchor="ctr"/>
          <a:lstStyle/>
          <a:p>
            <a:pPr indent="0" marL="0">
              <a:buNone/>
            </a:pPr>
            <a:r>
              <a:rPr lang="en-US" sz="1150" dirty="0">
                <a:solidFill>
                  <a:srgbClr val="94A3B8"/>
                </a:solidFill>
                <a:latin typeface="Arial" pitchFamily="34" charset="0"/>
                <a:ea typeface="Arial" pitchFamily="34" charset="-122"/>
                <a:cs typeface="Arial" pitchFamily="34" charset="-120"/>
              </a:rPr>
              <a:t>Achieving high precision on exact codes, form numbers, and conceptual queries</a:t>
            </a:r>
            <a:endParaRPr lang="en-US" sz="1150" dirty="0"/>
          </a:p>
        </p:txBody>
      </p:sp>
      <p:sp>
        <p:nvSpPr>
          <p:cNvPr id="7" name="Shape 5"/>
          <p:cNvSpPr/>
          <p:nvPr/>
        </p:nvSpPr>
        <p:spPr>
          <a:xfrm>
            <a:off x="731520" y="6400800"/>
            <a:ext cx="10698480" cy="18288"/>
          </a:xfrm>
          <a:prstGeom prst="rect">
            <a:avLst/>
          </a:prstGeom>
          <a:solidFill>
            <a:srgbClr val="1E3264"/>
          </a:solidFill>
          <a:ln/>
        </p:spPr>
      </p:sp>
      <p:sp>
        <p:nvSpPr>
          <p:cNvPr id="8" name="Text 6"/>
          <p:cNvSpPr/>
          <p:nvPr/>
        </p:nvSpPr>
        <p:spPr>
          <a:xfrm>
            <a:off x="731520" y="6446520"/>
            <a:ext cx="73152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LEINA • Local SOP RAG Architecture | Larsen &amp; Toubro Enterprise AI</a:t>
            </a:r>
            <a:endParaRPr lang="en-US" sz="850" dirty="0"/>
          </a:p>
        </p:txBody>
      </p:sp>
      <p:sp>
        <p:nvSpPr>
          <p:cNvPr id="9" name="Text 7"/>
          <p:cNvSpPr/>
          <p:nvPr/>
        </p:nvSpPr>
        <p:spPr>
          <a:xfrm>
            <a:off x="8686800" y="6446520"/>
            <a:ext cx="2743200" cy="274320"/>
          </a:xfrm>
          <a:prstGeom prst="rect">
            <a:avLst/>
          </a:prstGeom>
          <a:noFill/>
          <a:ln/>
        </p:spPr>
        <p:txBody>
          <a:bodyPr wrap="square" rtlCol="0" anchor="ctr"/>
          <a:lstStyle/>
          <a:p>
            <a:pPr algn="r" indent="0" marL="0">
              <a:buNone/>
            </a:pPr>
            <a:r>
              <a:rPr lang="en-US" sz="850" b="1" dirty="0">
                <a:solidFill>
                  <a:srgbClr val="00F2FE"/>
                </a:solidFill>
                <a:latin typeface="Arial" pitchFamily="34" charset="0"/>
                <a:ea typeface="Arial" pitchFamily="34" charset="-122"/>
                <a:cs typeface="Arial" pitchFamily="34" charset="-120"/>
              </a:rPr>
              <a:t>CONFIDENTIAL &amp; PROPRIETARY</a:t>
            </a:r>
            <a:endParaRPr lang="en-US" sz="850" dirty="0"/>
          </a:p>
        </p:txBody>
      </p:sp>
      <p:sp>
        <p:nvSpPr>
          <p:cNvPr id="10" name="Shape 8"/>
          <p:cNvSpPr/>
          <p:nvPr/>
        </p:nvSpPr>
        <p:spPr>
          <a:xfrm>
            <a:off x="731520" y="1600200"/>
            <a:ext cx="5166360" cy="4526280"/>
          </a:xfrm>
          <a:prstGeom prst="roundRect">
            <a:avLst>
              <a:gd name="adj" fmla="val 2424"/>
            </a:avLst>
          </a:prstGeom>
          <a:solidFill>
            <a:srgbClr val="0E1834"/>
          </a:solidFill>
          <a:ln w="15240">
            <a:solidFill>
              <a:srgbClr val="00F2FE"/>
            </a:solidFill>
            <a:prstDash val="solid"/>
          </a:ln>
        </p:spPr>
      </p:sp>
      <p:sp>
        <p:nvSpPr>
          <p:cNvPr id="11" name="Shape 9"/>
          <p:cNvSpPr/>
          <p:nvPr/>
        </p:nvSpPr>
        <p:spPr>
          <a:xfrm>
            <a:off x="960120" y="1783080"/>
            <a:ext cx="4709160" cy="347472"/>
          </a:xfrm>
          <a:prstGeom prst="roundRect">
            <a:avLst>
              <a:gd name="adj" fmla="val 21053"/>
            </a:avLst>
          </a:prstGeom>
          <a:solidFill>
            <a:srgbClr val="182958"/>
          </a:solidFill>
          <a:ln w="10160">
            <a:solidFill>
              <a:srgbClr val="00F2FE"/>
            </a:solidFill>
            <a:prstDash val="solid"/>
          </a:ln>
        </p:spPr>
      </p:sp>
      <p:sp>
        <p:nvSpPr>
          <p:cNvPr id="12" name="Text 10"/>
          <p:cNvSpPr/>
          <p:nvPr/>
        </p:nvSpPr>
        <p:spPr>
          <a:xfrm>
            <a:off x="960120" y="1783080"/>
            <a:ext cx="4709160" cy="347472"/>
          </a:xfrm>
          <a:prstGeom prst="rect">
            <a:avLst/>
          </a:prstGeom>
          <a:noFill/>
          <a:ln/>
        </p:spPr>
        <p:txBody>
          <a:bodyPr wrap="square" rtlCol="0" anchor="ctr"/>
          <a:lstStyle/>
          <a:p>
            <a:pPr algn="ctr" indent="0" marL="0">
              <a:buNone/>
            </a:pPr>
            <a:r>
              <a:rPr lang="en-US" sz="1000" b="1" dirty="0">
                <a:solidFill>
                  <a:srgbClr val="00F2FE"/>
                </a:solidFill>
              </a:rPr>
              <a:t>DUAL-PATH RETRIEVAL ARCHITECTURE</a:t>
            </a:r>
            <a:endParaRPr lang="en-US" sz="1000" dirty="0"/>
          </a:p>
        </p:txBody>
      </p:sp>
      <p:sp>
        <p:nvSpPr>
          <p:cNvPr id="13" name="Shape 11"/>
          <p:cNvSpPr/>
          <p:nvPr/>
        </p:nvSpPr>
        <p:spPr>
          <a:xfrm>
            <a:off x="960120" y="2240280"/>
            <a:ext cx="4709160" cy="841248"/>
          </a:xfrm>
          <a:prstGeom prst="roundRect">
            <a:avLst>
              <a:gd name="adj" fmla="val 8696"/>
            </a:avLst>
          </a:prstGeom>
          <a:solidFill>
            <a:srgbClr val="121F42"/>
          </a:solidFill>
          <a:ln w="10160">
            <a:solidFill>
              <a:srgbClr val="1E3264"/>
            </a:solidFill>
            <a:prstDash val="solid"/>
          </a:ln>
        </p:spPr>
      </p:sp>
      <p:sp>
        <p:nvSpPr>
          <p:cNvPr id="14" name="Text 12"/>
          <p:cNvSpPr/>
          <p:nvPr/>
        </p:nvSpPr>
        <p:spPr>
          <a:xfrm>
            <a:off x="1097280" y="2313432"/>
            <a:ext cx="4434840" cy="228600"/>
          </a:xfrm>
          <a:prstGeom prst="rect">
            <a:avLst/>
          </a:prstGeom>
          <a:noFill/>
          <a:ln/>
        </p:spPr>
        <p:txBody>
          <a:bodyPr wrap="square" rtlCol="0" anchor="ctr"/>
          <a:lstStyle/>
          <a:p>
            <a:pPr indent="0" marL="0">
              <a:buNone/>
            </a:pPr>
            <a:r>
              <a:rPr lang="en-US" sz="1000" b="1" dirty="0">
                <a:solidFill>
                  <a:srgbClr val="FFFFFF"/>
                </a:solidFill>
              </a:rPr>
              <a:t>▶ Path A: Dense Vector Search (ChromaDB HNSW)</a:t>
            </a:r>
            <a:endParaRPr lang="en-US" sz="1000" dirty="0"/>
          </a:p>
        </p:txBody>
      </p:sp>
      <p:sp>
        <p:nvSpPr>
          <p:cNvPr id="15" name="Text 13"/>
          <p:cNvSpPr/>
          <p:nvPr/>
        </p:nvSpPr>
        <p:spPr>
          <a:xfrm>
            <a:off x="1097280" y="2532888"/>
            <a:ext cx="4434840" cy="493776"/>
          </a:xfrm>
          <a:prstGeom prst="rect">
            <a:avLst/>
          </a:prstGeom>
          <a:noFill/>
          <a:ln/>
        </p:spPr>
        <p:txBody>
          <a:bodyPr wrap="square" rtlCol="0" anchor="ctr"/>
          <a:lstStyle/>
          <a:p>
            <a:pPr indent="0" marL="0">
              <a:buNone/>
            </a:pPr>
            <a:r>
              <a:rPr lang="en-US" sz="850" dirty="0">
                <a:solidFill>
                  <a:srgbClr val="94A3B8"/>
                </a:solidFill>
              </a:rPr>
              <a:t>Embeds the expanded query with nomic-embed-text and queries HNSW space for Top-15 semantic matches (handles synonyms, paraphrasing, intent).</a:t>
            </a:r>
            <a:endParaRPr lang="en-US" sz="850" dirty="0"/>
          </a:p>
        </p:txBody>
      </p:sp>
      <p:sp>
        <p:nvSpPr>
          <p:cNvPr id="16" name="Shape 14"/>
          <p:cNvSpPr/>
          <p:nvPr/>
        </p:nvSpPr>
        <p:spPr>
          <a:xfrm>
            <a:off x="960120" y="3172968"/>
            <a:ext cx="4709160" cy="841248"/>
          </a:xfrm>
          <a:prstGeom prst="roundRect">
            <a:avLst>
              <a:gd name="adj" fmla="val 8696"/>
            </a:avLst>
          </a:prstGeom>
          <a:solidFill>
            <a:srgbClr val="121F42"/>
          </a:solidFill>
          <a:ln w="10160">
            <a:solidFill>
              <a:srgbClr val="1E3264"/>
            </a:solidFill>
            <a:prstDash val="solid"/>
          </a:ln>
        </p:spPr>
      </p:sp>
      <p:sp>
        <p:nvSpPr>
          <p:cNvPr id="17" name="Text 15"/>
          <p:cNvSpPr/>
          <p:nvPr/>
        </p:nvSpPr>
        <p:spPr>
          <a:xfrm>
            <a:off x="1097280" y="3246120"/>
            <a:ext cx="4434840" cy="228600"/>
          </a:xfrm>
          <a:prstGeom prst="rect">
            <a:avLst/>
          </a:prstGeom>
          <a:noFill/>
          <a:ln/>
        </p:spPr>
        <p:txBody>
          <a:bodyPr wrap="square" rtlCol="0" anchor="ctr"/>
          <a:lstStyle/>
          <a:p>
            <a:pPr indent="0" marL="0">
              <a:buNone/>
            </a:pPr>
            <a:r>
              <a:rPr lang="en-US" sz="1000" b="1" dirty="0">
                <a:solidFill>
                  <a:srgbClr val="FFFFFF"/>
                </a:solidFill>
              </a:rPr>
              <a:t>▶ Path B: Sparse Lexical Search (BM25 Engine)</a:t>
            </a:r>
            <a:endParaRPr lang="en-US" sz="1000" dirty="0"/>
          </a:p>
        </p:txBody>
      </p:sp>
      <p:sp>
        <p:nvSpPr>
          <p:cNvPr id="18" name="Text 16"/>
          <p:cNvSpPr/>
          <p:nvPr/>
        </p:nvSpPr>
        <p:spPr>
          <a:xfrm>
            <a:off x="1097280" y="3465576"/>
            <a:ext cx="4434840" cy="493776"/>
          </a:xfrm>
          <a:prstGeom prst="rect">
            <a:avLst/>
          </a:prstGeom>
          <a:noFill/>
          <a:ln/>
        </p:spPr>
        <p:txBody>
          <a:bodyPr wrap="square" rtlCol="0" anchor="ctr"/>
          <a:lstStyle/>
          <a:p>
            <a:pPr indent="0" marL="0">
              <a:buNone/>
            </a:pPr>
            <a:r>
              <a:rPr lang="en-US" sz="850" dirty="0">
                <a:solidFill>
                  <a:srgbClr val="94A3B8"/>
                </a:solidFill>
              </a:rPr>
              <a:t>Performs BM25 frequency search across all indexed chunks for Top-15 lexical matches (essential for exact form numbers like "Form 402", extensions "ext. 4357").</a:t>
            </a:r>
            <a:endParaRPr lang="en-US" sz="850" dirty="0"/>
          </a:p>
        </p:txBody>
      </p:sp>
      <p:sp>
        <p:nvSpPr>
          <p:cNvPr id="19" name="Shape 17"/>
          <p:cNvSpPr/>
          <p:nvPr/>
        </p:nvSpPr>
        <p:spPr>
          <a:xfrm>
            <a:off x="960120" y="4105656"/>
            <a:ext cx="4709160" cy="841248"/>
          </a:xfrm>
          <a:prstGeom prst="roundRect">
            <a:avLst>
              <a:gd name="adj" fmla="val 8696"/>
            </a:avLst>
          </a:prstGeom>
          <a:solidFill>
            <a:srgbClr val="121F42"/>
          </a:solidFill>
          <a:ln w="10160">
            <a:solidFill>
              <a:srgbClr val="1E3264"/>
            </a:solidFill>
            <a:prstDash val="solid"/>
          </a:ln>
        </p:spPr>
      </p:sp>
      <p:sp>
        <p:nvSpPr>
          <p:cNvPr id="20" name="Text 18"/>
          <p:cNvSpPr/>
          <p:nvPr/>
        </p:nvSpPr>
        <p:spPr>
          <a:xfrm>
            <a:off x="1097280" y="4178808"/>
            <a:ext cx="4434840" cy="228600"/>
          </a:xfrm>
          <a:prstGeom prst="rect">
            <a:avLst/>
          </a:prstGeom>
          <a:noFill/>
          <a:ln/>
        </p:spPr>
        <p:txBody>
          <a:bodyPr wrap="square" rtlCol="0" anchor="ctr"/>
          <a:lstStyle/>
          <a:p>
            <a:pPr indent="0" marL="0">
              <a:buNone/>
            </a:pPr>
            <a:r>
              <a:rPr lang="en-US" sz="1000" b="1" dirty="0">
                <a:solidFill>
                  <a:srgbClr val="FFFFFF"/>
                </a:solidFill>
              </a:rPr>
              <a:t>▶ Reciprocal Rank Fusion (RRF Formula, k = 60)</a:t>
            </a:r>
            <a:endParaRPr lang="en-US" sz="1000" dirty="0"/>
          </a:p>
        </p:txBody>
      </p:sp>
      <p:sp>
        <p:nvSpPr>
          <p:cNvPr id="21" name="Text 19"/>
          <p:cNvSpPr/>
          <p:nvPr/>
        </p:nvSpPr>
        <p:spPr>
          <a:xfrm>
            <a:off x="1097280" y="4398264"/>
            <a:ext cx="4434840" cy="493776"/>
          </a:xfrm>
          <a:prstGeom prst="rect">
            <a:avLst/>
          </a:prstGeom>
          <a:noFill/>
          <a:ln/>
        </p:spPr>
        <p:txBody>
          <a:bodyPr wrap="square" rtlCol="0" anchor="ctr"/>
          <a:lstStyle/>
          <a:p>
            <a:pPr indent="0" marL="0">
              <a:buNone/>
            </a:pPr>
            <a:r>
              <a:rPr lang="en-US" sz="850" dirty="0">
                <a:solidFill>
                  <a:srgbClr val="94A3B8"/>
                </a:solidFill>
              </a:rPr>
              <a:t>Score(d) = Σ [ 1 / (60 + rank_vector(d)) + 1 / (60 + rank_bm25(d)) ]</a:t>
            </a:r>
            <a:endParaRPr lang="en-US" sz="850" dirty="0"/>
          </a:p>
          <a:p>
            <a:pPr indent="0" marL="0">
              <a:buNone/>
            </a:pPr>
            <a:r>
              <a:rPr lang="en-US" sz="850" dirty="0">
                <a:solidFill>
                  <a:srgbClr val="94A3B8"/>
                </a:solidFill>
              </a:rPr>
              <a:t>Merges both ranked candidate lists into a robust Top-10 without score mismatch.</a:t>
            </a:r>
            <a:endParaRPr lang="en-US" sz="850" dirty="0"/>
          </a:p>
        </p:txBody>
      </p:sp>
      <p:sp>
        <p:nvSpPr>
          <p:cNvPr id="22" name="Shape 20"/>
          <p:cNvSpPr/>
          <p:nvPr/>
        </p:nvSpPr>
        <p:spPr>
          <a:xfrm>
            <a:off x="960120" y="5038344"/>
            <a:ext cx="4709160" cy="841248"/>
          </a:xfrm>
          <a:prstGeom prst="roundRect">
            <a:avLst>
              <a:gd name="adj" fmla="val 8696"/>
            </a:avLst>
          </a:prstGeom>
          <a:solidFill>
            <a:srgbClr val="121F42"/>
          </a:solidFill>
          <a:ln w="10160">
            <a:solidFill>
              <a:srgbClr val="1E3264"/>
            </a:solidFill>
            <a:prstDash val="solid"/>
          </a:ln>
        </p:spPr>
      </p:sp>
      <p:sp>
        <p:nvSpPr>
          <p:cNvPr id="23" name="Text 21"/>
          <p:cNvSpPr/>
          <p:nvPr/>
        </p:nvSpPr>
        <p:spPr>
          <a:xfrm>
            <a:off x="1097280" y="5111496"/>
            <a:ext cx="4434840" cy="228600"/>
          </a:xfrm>
          <a:prstGeom prst="rect">
            <a:avLst/>
          </a:prstGeom>
          <a:noFill/>
          <a:ln/>
        </p:spPr>
        <p:txBody>
          <a:bodyPr wrap="square" rtlCol="0" anchor="ctr"/>
          <a:lstStyle/>
          <a:p>
            <a:pPr indent="0" marL="0">
              <a:buNone/>
            </a:pPr>
            <a:r>
              <a:rPr lang="en-US" sz="1000" b="1" dirty="0">
                <a:solidFill>
                  <a:srgbClr val="FFFFFF"/>
                </a:solidFill>
              </a:rPr>
              <a:t>▶ Cross-Encoder Reranker (ms-marco-MiniLM)</a:t>
            </a:r>
            <a:endParaRPr lang="en-US" sz="1000" dirty="0"/>
          </a:p>
        </p:txBody>
      </p:sp>
      <p:sp>
        <p:nvSpPr>
          <p:cNvPr id="24" name="Text 22"/>
          <p:cNvSpPr/>
          <p:nvPr/>
        </p:nvSpPr>
        <p:spPr>
          <a:xfrm>
            <a:off x="1097280" y="5330952"/>
            <a:ext cx="4434840" cy="493776"/>
          </a:xfrm>
          <a:prstGeom prst="rect">
            <a:avLst/>
          </a:prstGeom>
          <a:noFill/>
          <a:ln/>
        </p:spPr>
        <p:txBody>
          <a:bodyPr wrap="square" rtlCol="0" anchor="ctr"/>
          <a:lstStyle/>
          <a:p>
            <a:pPr indent="0" marL="0">
              <a:buNone/>
            </a:pPr>
            <a:r>
              <a:rPr lang="en-US" sz="850" dirty="0">
                <a:solidFill>
                  <a:srgbClr val="94A3B8"/>
                </a:solidFill>
              </a:rPr>
              <a:t>Deep cross-attention scoring isolates the Top-3 highest relevance chunks for LLM context injection.</a:t>
            </a:r>
            <a:endParaRPr lang="en-US" sz="850" dirty="0"/>
          </a:p>
        </p:txBody>
      </p:sp>
      <p:sp>
        <p:nvSpPr>
          <p:cNvPr id="25" name="Shape 23"/>
          <p:cNvSpPr/>
          <p:nvPr/>
        </p:nvSpPr>
        <p:spPr>
          <a:xfrm>
            <a:off x="6263640" y="1600200"/>
            <a:ext cx="5166360" cy="4526280"/>
          </a:xfrm>
          <a:prstGeom prst="roundRect">
            <a:avLst>
              <a:gd name="adj" fmla="val 2424"/>
            </a:avLst>
          </a:prstGeom>
          <a:solidFill>
            <a:srgbClr val="0E1834"/>
          </a:solidFill>
          <a:ln w="15240">
            <a:solidFill>
              <a:srgbClr val="38BDF8"/>
            </a:solidFill>
            <a:prstDash val="solid"/>
          </a:ln>
        </p:spPr>
      </p:sp>
      <p:sp>
        <p:nvSpPr>
          <p:cNvPr id="26" name="Shape 24"/>
          <p:cNvSpPr/>
          <p:nvPr/>
        </p:nvSpPr>
        <p:spPr>
          <a:xfrm>
            <a:off x="6492240" y="1783080"/>
            <a:ext cx="4709160" cy="347472"/>
          </a:xfrm>
          <a:prstGeom prst="roundRect">
            <a:avLst>
              <a:gd name="adj" fmla="val 21053"/>
            </a:avLst>
          </a:prstGeom>
          <a:solidFill>
            <a:srgbClr val="182958"/>
          </a:solidFill>
          <a:ln w="10160">
            <a:solidFill>
              <a:srgbClr val="38BDF8"/>
            </a:solidFill>
            <a:prstDash val="solid"/>
          </a:ln>
        </p:spPr>
      </p:sp>
      <p:sp>
        <p:nvSpPr>
          <p:cNvPr id="27" name="Text 25"/>
          <p:cNvSpPr/>
          <p:nvPr/>
        </p:nvSpPr>
        <p:spPr>
          <a:xfrm>
            <a:off x="6492240" y="1783080"/>
            <a:ext cx="4709160" cy="347472"/>
          </a:xfrm>
          <a:prstGeom prst="rect">
            <a:avLst/>
          </a:prstGeom>
          <a:noFill/>
          <a:ln/>
        </p:spPr>
        <p:txBody>
          <a:bodyPr wrap="square" rtlCol="0" anchor="ctr"/>
          <a:lstStyle/>
          <a:p>
            <a:pPr algn="ctr" indent="0" marL="0">
              <a:buNone/>
            </a:pPr>
            <a:r>
              <a:rPr lang="en-US" sz="1000" b="1" dirty="0">
                <a:solidFill>
                  <a:srgbClr val="38BDF8"/>
                </a:solidFill>
              </a:rPr>
              <a:t>QUERY EXECUTION FLOW &amp; CONFIDENCE GATE</a:t>
            </a:r>
            <a:endParaRPr lang="en-US" sz="1000" dirty="0"/>
          </a:p>
        </p:txBody>
      </p:sp>
      <p:sp>
        <p:nvSpPr>
          <p:cNvPr id="28" name="Shape 26"/>
          <p:cNvSpPr/>
          <p:nvPr/>
        </p:nvSpPr>
        <p:spPr>
          <a:xfrm>
            <a:off x="6492240" y="2240280"/>
            <a:ext cx="4709160" cy="548640"/>
          </a:xfrm>
          <a:prstGeom prst="roundRect">
            <a:avLst>
              <a:gd name="adj" fmla="val 13333"/>
            </a:avLst>
          </a:prstGeom>
          <a:solidFill>
            <a:srgbClr val="121F42"/>
          </a:solidFill>
          <a:ln w="10160">
            <a:solidFill>
              <a:srgbClr val="1E3264"/>
            </a:solidFill>
            <a:prstDash val="solid"/>
          </a:ln>
        </p:spPr>
      </p:sp>
      <p:sp>
        <p:nvSpPr>
          <p:cNvPr id="29" name="Text 27"/>
          <p:cNvSpPr/>
          <p:nvPr/>
        </p:nvSpPr>
        <p:spPr>
          <a:xfrm>
            <a:off x="6629400" y="2295144"/>
            <a:ext cx="4434840" cy="201168"/>
          </a:xfrm>
          <a:prstGeom prst="rect">
            <a:avLst/>
          </a:prstGeom>
          <a:noFill/>
          <a:ln/>
        </p:spPr>
        <p:txBody>
          <a:bodyPr wrap="square" rtlCol="0" anchor="ctr"/>
          <a:lstStyle/>
          <a:p>
            <a:pPr indent="0" marL="0">
              <a:buNone/>
            </a:pPr>
            <a:r>
              <a:rPr lang="en-US" sz="950" b="1" dirty="0">
                <a:solidFill>
                  <a:srgbClr val="00F2FE"/>
                </a:solidFill>
              </a:rPr>
              <a:t>1. Query Expansion:</a:t>
            </a:r>
            <a:endParaRPr lang="en-US" sz="950" dirty="0"/>
          </a:p>
        </p:txBody>
      </p:sp>
      <p:sp>
        <p:nvSpPr>
          <p:cNvPr id="30" name="Text 28"/>
          <p:cNvSpPr/>
          <p:nvPr/>
        </p:nvSpPr>
        <p:spPr>
          <a:xfrm>
            <a:off x="6629400" y="2496312"/>
            <a:ext cx="4434840" cy="256032"/>
          </a:xfrm>
          <a:prstGeom prst="rect">
            <a:avLst/>
          </a:prstGeom>
          <a:noFill/>
          <a:ln/>
        </p:spPr>
        <p:txBody>
          <a:bodyPr wrap="square" rtlCol="0" anchor="ctr"/>
          <a:lstStyle/>
          <a:p>
            <a:pPr indent="0" marL="0">
              <a:buNone/>
            </a:pPr>
            <a:r>
              <a:rPr lang="en-US" sz="820" dirty="0">
                <a:solidFill>
                  <a:srgbClr val="E2E8F0"/>
                </a:solidFill>
              </a:rPr>
              <a:t>"PTO" → "Paid Time Off Leave" via domain dictionary</a:t>
            </a:r>
            <a:endParaRPr lang="en-US" sz="820" dirty="0"/>
          </a:p>
        </p:txBody>
      </p:sp>
      <p:sp>
        <p:nvSpPr>
          <p:cNvPr id="31" name="Shape 29"/>
          <p:cNvSpPr/>
          <p:nvPr/>
        </p:nvSpPr>
        <p:spPr>
          <a:xfrm>
            <a:off x="6492240" y="2862072"/>
            <a:ext cx="4709160" cy="548640"/>
          </a:xfrm>
          <a:prstGeom prst="roundRect">
            <a:avLst>
              <a:gd name="adj" fmla="val 13333"/>
            </a:avLst>
          </a:prstGeom>
          <a:solidFill>
            <a:srgbClr val="121F42"/>
          </a:solidFill>
          <a:ln w="10160">
            <a:solidFill>
              <a:srgbClr val="1E3264"/>
            </a:solidFill>
            <a:prstDash val="solid"/>
          </a:ln>
        </p:spPr>
      </p:sp>
      <p:sp>
        <p:nvSpPr>
          <p:cNvPr id="32" name="Text 30"/>
          <p:cNvSpPr/>
          <p:nvPr/>
        </p:nvSpPr>
        <p:spPr>
          <a:xfrm>
            <a:off x="6629400" y="2916936"/>
            <a:ext cx="4434840" cy="201168"/>
          </a:xfrm>
          <a:prstGeom prst="rect">
            <a:avLst/>
          </a:prstGeom>
          <a:noFill/>
          <a:ln/>
        </p:spPr>
        <p:txBody>
          <a:bodyPr wrap="square" rtlCol="0" anchor="ctr"/>
          <a:lstStyle/>
          <a:p>
            <a:pPr indent="0" marL="0">
              <a:buNone/>
            </a:pPr>
            <a:r>
              <a:rPr lang="en-US" sz="950" b="1" dirty="0">
                <a:solidFill>
                  <a:srgbClr val="00F2FE"/>
                </a:solidFill>
              </a:rPr>
              <a:t>2. Parallel Retrieval:</a:t>
            </a:r>
            <a:endParaRPr lang="en-US" sz="950" dirty="0"/>
          </a:p>
        </p:txBody>
      </p:sp>
      <p:sp>
        <p:nvSpPr>
          <p:cNvPr id="33" name="Text 31"/>
          <p:cNvSpPr/>
          <p:nvPr/>
        </p:nvSpPr>
        <p:spPr>
          <a:xfrm>
            <a:off x="6629400" y="3118104"/>
            <a:ext cx="4434840" cy="256032"/>
          </a:xfrm>
          <a:prstGeom prst="rect">
            <a:avLst/>
          </a:prstGeom>
          <a:noFill/>
          <a:ln/>
        </p:spPr>
        <p:txBody>
          <a:bodyPr wrap="square" rtlCol="0" anchor="ctr"/>
          <a:lstStyle/>
          <a:p>
            <a:pPr indent="0" marL="0">
              <a:buNone/>
            </a:pPr>
            <a:r>
              <a:rPr lang="en-US" sz="820" dirty="0">
                <a:solidFill>
                  <a:srgbClr val="E2E8F0"/>
                </a:solidFill>
              </a:rPr>
              <a:t>ChromaDB Vector (top 15) ⇄ BM25 Keyword (top 15)</a:t>
            </a:r>
            <a:endParaRPr lang="en-US" sz="820" dirty="0"/>
          </a:p>
        </p:txBody>
      </p:sp>
      <p:sp>
        <p:nvSpPr>
          <p:cNvPr id="34" name="Shape 32"/>
          <p:cNvSpPr/>
          <p:nvPr/>
        </p:nvSpPr>
        <p:spPr>
          <a:xfrm>
            <a:off x="6492240" y="3483864"/>
            <a:ext cx="4709160" cy="548640"/>
          </a:xfrm>
          <a:prstGeom prst="roundRect">
            <a:avLst>
              <a:gd name="adj" fmla="val 13333"/>
            </a:avLst>
          </a:prstGeom>
          <a:solidFill>
            <a:srgbClr val="121F42"/>
          </a:solidFill>
          <a:ln w="10160">
            <a:solidFill>
              <a:srgbClr val="1E3264"/>
            </a:solidFill>
            <a:prstDash val="solid"/>
          </a:ln>
        </p:spPr>
      </p:sp>
      <p:sp>
        <p:nvSpPr>
          <p:cNvPr id="35" name="Text 33"/>
          <p:cNvSpPr/>
          <p:nvPr/>
        </p:nvSpPr>
        <p:spPr>
          <a:xfrm>
            <a:off x="6629400" y="3538728"/>
            <a:ext cx="4434840" cy="201168"/>
          </a:xfrm>
          <a:prstGeom prst="rect">
            <a:avLst/>
          </a:prstGeom>
          <a:noFill/>
          <a:ln/>
        </p:spPr>
        <p:txBody>
          <a:bodyPr wrap="square" rtlCol="0" anchor="ctr"/>
          <a:lstStyle/>
          <a:p>
            <a:pPr indent="0" marL="0">
              <a:buNone/>
            </a:pPr>
            <a:r>
              <a:rPr lang="en-US" sz="950" b="1" dirty="0">
                <a:solidFill>
                  <a:srgbClr val="00F2FE"/>
                </a:solidFill>
              </a:rPr>
              <a:t>3. RRF Rank Fusion:</a:t>
            </a:r>
            <a:endParaRPr lang="en-US" sz="950" dirty="0"/>
          </a:p>
        </p:txBody>
      </p:sp>
      <p:sp>
        <p:nvSpPr>
          <p:cNvPr id="36" name="Text 34"/>
          <p:cNvSpPr/>
          <p:nvPr/>
        </p:nvSpPr>
        <p:spPr>
          <a:xfrm>
            <a:off x="6629400" y="3739896"/>
            <a:ext cx="4434840" cy="256032"/>
          </a:xfrm>
          <a:prstGeom prst="rect">
            <a:avLst/>
          </a:prstGeom>
          <a:noFill/>
          <a:ln/>
        </p:spPr>
        <p:txBody>
          <a:bodyPr wrap="square" rtlCol="0" anchor="ctr"/>
          <a:lstStyle/>
          <a:p>
            <a:pPr indent="0" marL="0">
              <a:buNone/>
            </a:pPr>
            <a:r>
              <a:rPr lang="en-US" sz="820" dirty="0">
                <a:solidFill>
                  <a:srgbClr val="E2E8F0"/>
                </a:solidFill>
              </a:rPr>
              <a:t>Fuses candidate lists into unified Top-10</a:t>
            </a:r>
            <a:endParaRPr lang="en-US" sz="820" dirty="0"/>
          </a:p>
        </p:txBody>
      </p:sp>
      <p:sp>
        <p:nvSpPr>
          <p:cNvPr id="37" name="Shape 35"/>
          <p:cNvSpPr/>
          <p:nvPr/>
        </p:nvSpPr>
        <p:spPr>
          <a:xfrm>
            <a:off x="6492240" y="4105656"/>
            <a:ext cx="4709160" cy="548640"/>
          </a:xfrm>
          <a:prstGeom prst="roundRect">
            <a:avLst>
              <a:gd name="adj" fmla="val 13333"/>
            </a:avLst>
          </a:prstGeom>
          <a:solidFill>
            <a:srgbClr val="121F42"/>
          </a:solidFill>
          <a:ln w="10160">
            <a:solidFill>
              <a:srgbClr val="1E3264"/>
            </a:solidFill>
            <a:prstDash val="solid"/>
          </a:ln>
        </p:spPr>
      </p:sp>
      <p:sp>
        <p:nvSpPr>
          <p:cNvPr id="38" name="Text 36"/>
          <p:cNvSpPr/>
          <p:nvPr/>
        </p:nvSpPr>
        <p:spPr>
          <a:xfrm>
            <a:off x="6629400" y="4160520"/>
            <a:ext cx="4434840" cy="201168"/>
          </a:xfrm>
          <a:prstGeom prst="rect">
            <a:avLst/>
          </a:prstGeom>
          <a:noFill/>
          <a:ln/>
        </p:spPr>
        <p:txBody>
          <a:bodyPr wrap="square" rtlCol="0" anchor="ctr"/>
          <a:lstStyle/>
          <a:p>
            <a:pPr indent="0" marL="0">
              <a:buNone/>
            </a:pPr>
            <a:r>
              <a:rPr lang="en-US" sz="950" b="1" dirty="0">
                <a:solidFill>
                  <a:srgbClr val="00F2FE"/>
                </a:solidFill>
              </a:rPr>
              <a:t>4. Cross-Encoder Rerank:</a:t>
            </a:r>
            <a:endParaRPr lang="en-US" sz="950" dirty="0"/>
          </a:p>
        </p:txBody>
      </p:sp>
      <p:sp>
        <p:nvSpPr>
          <p:cNvPr id="39" name="Text 37"/>
          <p:cNvSpPr/>
          <p:nvPr/>
        </p:nvSpPr>
        <p:spPr>
          <a:xfrm>
            <a:off x="6629400" y="4361688"/>
            <a:ext cx="4434840" cy="256032"/>
          </a:xfrm>
          <a:prstGeom prst="rect">
            <a:avLst/>
          </a:prstGeom>
          <a:noFill/>
          <a:ln/>
        </p:spPr>
        <p:txBody>
          <a:bodyPr wrap="square" rtlCol="0" anchor="ctr"/>
          <a:lstStyle/>
          <a:p>
            <a:pPr indent="0" marL="0">
              <a:buNone/>
            </a:pPr>
            <a:r>
              <a:rPr lang="en-US" sz="820" dirty="0">
                <a:solidFill>
                  <a:srgbClr val="E2E8F0"/>
                </a:solidFill>
              </a:rPr>
              <a:t>Cross-attention scoring extracts Top-3 definitive chunks</a:t>
            </a:r>
            <a:endParaRPr lang="en-US" sz="820" dirty="0"/>
          </a:p>
        </p:txBody>
      </p:sp>
      <p:sp>
        <p:nvSpPr>
          <p:cNvPr id="40" name="Shape 38"/>
          <p:cNvSpPr/>
          <p:nvPr/>
        </p:nvSpPr>
        <p:spPr>
          <a:xfrm>
            <a:off x="6492240" y="4727448"/>
            <a:ext cx="4709160" cy="548640"/>
          </a:xfrm>
          <a:prstGeom prst="roundRect">
            <a:avLst>
              <a:gd name="adj" fmla="val 13333"/>
            </a:avLst>
          </a:prstGeom>
          <a:solidFill>
            <a:srgbClr val="2A1A08"/>
          </a:solidFill>
          <a:ln w="10160">
            <a:solidFill>
              <a:srgbClr val="F59E0B"/>
            </a:solidFill>
            <a:prstDash val="solid"/>
          </a:ln>
        </p:spPr>
      </p:sp>
      <p:sp>
        <p:nvSpPr>
          <p:cNvPr id="41" name="Text 39"/>
          <p:cNvSpPr/>
          <p:nvPr/>
        </p:nvSpPr>
        <p:spPr>
          <a:xfrm>
            <a:off x="6629400" y="4782312"/>
            <a:ext cx="4434840" cy="201168"/>
          </a:xfrm>
          <a:prstGeom prst="rect">
            <a:avLst/>
          </a:prstGeom>
          <a:noFill/>
          <a:ln/>
        </p:spPr>
        <p:txBody>
          <a:bodyPr wrap="square" rtlCol="0" anchor="ctr"/>
          <a:lstStyle/>
          <a:p>
            <a:pPr indent="0" marL="0">
              <a:buNone/>
            </a:pPr>
            <a:r>
              <a:rPr lang="en-US" sz="950" b="1" dirty="0">
                <a:solidFill>
                  <a:srgbClr val="F59E0B"/>
                </a:solidFill>
              </a:rPr>
              <a:t>5. 0.45 Confidence Gate:</a:t>
            </a:r>
            <a:endParaRPr lang="en-US" sz="950" dirty="0"/>
          </a:p>
        </p:txBody>
      </p:sp>
      <p:sp>
        <p:nvSpPr>
          <p:cNvPr id="42" name="Text 40"/>
          <p:cNvSpPr/>
          <p:nvPr/>
        </p:nvSpPr>
        <p:spPr>
          <a:xfrm>
            <a:off x="6629400" y="4983480"/>
            <a:ext cx="4434840" cy="256032"/>
          </a:xfrm>
          <a:prstGeom prst="rect">
            <a:avLst/>
          </a:prstGeom>
          <a:noFill/>
          <a:ln/>
        </p:spPr>
        <p:txBody>
          <a:bodyPr wrap="square" rtlCol="0" anchor="ctr"/>
          <a:lstStyle/>
          <a:p>
            <a:pPr indent="0" marL="0">
              <a:buNone/>
            </a:pPr>
            <a:r>
              <a:rPr lang="en-US" sz="820" dirty="0">
                <a:solidFill>
                  <a:srgbClr val="E2E8F0"/>
                </a:solidFill>
              </a:rPr>
              <a:t>If Score &lt; 0.45, returns instant fallback bypass in &lt; 300ms</a:t>
            </a:r>
            <a:endParaRPr lang="en-US" sz="820" dirty="0"/>
          </a:p>
        </p:txBody>
      </p:sp>
      <p:sp>
        <p:nvSpPr>
          <p:cNvPr id="43" name="Shape 41"/>
          <p:cNvSpPr/>
          <p:nvPr/>
        </p:nvSpPr>
        <p:spPr>
          <a:xfrm>
            <a:off x="6492240" y="5349240"/>
            <a:ext cx="4709160" cy="548640"/>
          </a:xfrm>
          <a:prstGeom prst="roundRect">
            <a:avLst>
              <a:gd name="adj" fmla="val 13333"/>
            </a:avLst>
          </a:prstGeom>
          <a:solidFill>
            <a:srgbClr val="121F42"/>
          </a:solidFill>
          <a:ln w="10160">
            <a:solidFill>
              <a:srgbClr val="1E3264"/>
            </a:solidFill>
            <a:prstDash val="solid"/>
          </a:ln>
        </p:spPr>
      </p:sp>
      <p:sp>
        <p:nvSpPr>
          <p:cNvPr id="44" name="Text 42"/>
          <p:cNvSpPr/>
          <p:nvPr/>
        </p:nvSpPr>
        <p:spPr>
          <a:xfrm>
            <a:off x="6629400" y="5404104"/>
            <a:ext cx="4434840" cy="201168"/>
          </a:xfrm>
          <a:prstGeom prst="rect">
            <a:avLst/>
          </a:prstGeom>
          <a:noFill/>
          <a:ln/>
        </p:spPr>
        <p:txBody>
          <a:bodyPr wrap="square" rtlCol="0" anchor="ctr"/>
          <a:lstStyle/>
          <a:p>
            <a:pPr indent="0" marL="0">
              <a:buNone/>
            </a:pPr>
            <a:r>
              <a:rPr lang="en-US" sz="950" b="1" dirty="0">
                <a:solidFill>
                  <a:srgbClr val="00F2FE"/>
                </a:solidFill>
              </a:rPr>
              <a:t>6. Grounded LLM Generation:</a:t>
            </a:r>
            <a:endParaRPr lang="en-US" sz="950" dirty="0"/>
          </a:p>
        </p:txBody>
      </p:sp>
      <p:sp>
        <p:nvSpPr>
          <p:cNvPr id="45" name="Text 43"/>
          <p:cNvSpPr/>
          <p:nvPr/>
        </p:nvSpPr>
        <p:spPr>
          <a:xfrm>
            <a:off x="6629400" y="5605272"/>
            <a:ext cx="4434840" cy="256032"/>
          </a:xfrm>
          <a:prstGeom prst="rect">
            <a:avLst/>
          </a:prstGeom>
          <a:noFill/>
          <a:ln/>
        </p:spPr>
        <p:txBody>
          <a:bodyPr wrap="square" rtlCol="0" anchor="ctr"/>
          <a:lstStyle/>
          <a:p>
            <a:pPr indent="0" marL="0">
              <a:buNone/>
            </a:pPr>
            <a:r>
              <a:rPr lang="en-US" sz="820" dirty="0">
                <a:solidFill>
                  <a:srgbClr val="E2E8F0"/>
                </a:solidFill>
              </a:rPr>
              <a:t>Top-3 chunks formatted into strict extractor prompt → Ollama</a:t>
            </a:r>
            <a:endParaRPr lang="en-US" sz="8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D1E"/>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F2FE"/>
          </a:solidFill>
          <a:ln/>
        </p:spPr>
      </p:sp>
      <p:sp>
        <p:nvSpPr>
          <p:cNvPr id="3" name="Shape 1"/>
          <p:cNvSpPr/>
          <p:nvPr/>
        </p:nvSpPr>
        <p:spPr>
          <a:xfrm>
            <a:off x="731520" y="347472"/>
            <a:ext cx="2560320" cy="274320"/>
          </a:xfrm>
          <a:prstGeom prst="roundRect">
            <a:avLst>
              <a:gd name="adj" fmla="val 26667"/>
            </a:avLst>
          </a:prstGeom>
          <a:solidFill>
            <a:srgbClr val="0E1834"/>
          </a:solidFill>
          <a:ln w="12700">
            <a:solidFill>
              <a:srgbClr val="00F2FE"/>
            </a:solidFill>
            <a:prstDash val="solid"/>
          </a:ln>
        </p:spPr>
      </p:sp>
      <p:sp>
        <p:nvSpPr>
          <p:cNvPr id="4" name="Text 2"/>
          <p:cNvSpPr/>
          <p:nvPr/>
        </p:nvSpPr>
        <p:spPr>
          <a:xfrm>
            <a:off x="731520" y="347472"/>
            <a:ext cx="2560320" cy="274320"/>
          </a:xfrm>
          <a:prstGeom prst="rect">
            <a:avLst/>
          </a:prstGeom>
          <a:noFill/>
          <a:ln/>
        </p:spPr>
        <p:txBody>
          <a:bodyPr wrap="square" rtlCol="0" anchor="ctr"/>
          <a:lstStyle/>
          <a:p>
            <a:pPr algn="ctr" indent="0" marL="0">
              <a:buNone/>
            </a:pPr>
            <a:r>
              <a:rPr lang="en-US" sz="900" b="1" dirty="0">
                <a:solidFill>
                  <a:srgbClr val="00F2FE"/>
                </a:solidFill>
                <a:latin typeface="Arial" pitchFamily="34" charset="0"/>
                <a:ea typeface="Arial" pitchFamily="34" charset="-122"/>
                <a:cs typeface="Arial" pitchFamily="34" charset="-120"/>
              </a:rPr>
              <a:t>GUARDRAILS &amp; PROMPTS</a:t>
            </a:r>
            <a:endParaRPr lang="en-US" sz="900" dirty="0"/>
          </a:p>
        </p:txBody>
      </p:sp>
      <p:sp>
        <p:nvSpPr>
          <p:cNvPr id="5" name="Text 3"/>
          <p:cNvSpPr/>
          <p:nvPr/>
        </p:nvSpPr>
        <p:spPr>
          <a:xfrm>
            <a:off x="731520" y="676656"/>
            <a:ext cx="10698480" cy="502920"/>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Prompt Engineering, Citations &amp; Hallucination Guardrails</a:t>
            </a:r>
            <a:endParaRPr lang="en-US" sz="2100" dirty="0"/>
          </a:p>
        </p:txBody>
      </p:sp>
      <p:sp>
        <p:nvSpPr>
          <p:cNvPr id="6" name="Text 4"/>
          <p:cNvSpPr/>
          <p:nvPr/>
        </p:nvSpPr>
        <p:spPr>
          <a:xfrm>
            <a:off x="731520" y="1170432"/>
            <a:ext cx="10698480" cy="292608"/>
          </a:xfrm>
          <a:prstGeom prst="rect">
            <a:avLst/>
          </a:prstGeom>
          <a:noFill/>
          <a:ln/>
        </p:spPr>
        <p:txBody>
          <a:bodyPr wrap="square" rtlCol="0" anchor="ctr"/>
          <a:lstStyle/>
          <a:p>
            <a:pPr indent="0" marL="0">
              <a:buNone/>
            </a:pPr>
            <a:r>
              <a:rPr lang="en-US" sz="1150" dirty="0">
                <a:solidFill>
                  <a:srgbClr val="94A3B8"/>
                </a:solidFill>
                <a:latin typeface="Arial" pitchFamily="34" charset="0"/>
                <a:ea typeface="Arial" pitchFamily="34" charset="-122"/>
                <a:cs typeface="Arial" pitchFamily="34" charset="-120"/>
              </a:rPr>
              <a:t>Strict constraints and dynamic confidence gating ensure zero fabricated company policies</a:t>
            </a:r>
            <a:endParaRPr lang="en-US" sz="1150" dirty="0"/>
          </a:p>
        </p:txBody>
      </p:sp>
      <p:sp>
        <p:nvSpPr>
          <p:cNvPr id="7" name="Shape 5"/>
          <p:cNvSpPr/>
          <p:nvPr/>
        </p:nvSpPr>
        <p:spPr>
          <a:xfrm>
            <a:off x="731520" y="6400800"/>
            <a:ext cx="10698480" cy="18288"/>
          </a:xfrm>
          <a:prstGeom prst="rect">
            <a:avLst/>
          </a:prstGeom>
          <a:solidFill>
            <a:srgbClr val="1E3264"/>
          </a:solidFill>
          <a:ln/>
        </p:spPr>
      </p:sp>
      <p:sp>
        <p:nvSpPr>
          <p:cNvPr id="8" name="Text 6"/>
          <p:cNvSpPr/>
          <p:nvPr/>
        </p:nvSpPr>
        <p:spPr>
          <a:xfrm>
            <a:off x="731520" y="6446520"/>
            <a:ext cx="73152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LEINA • Local SOP RAG Architecture | Larsen &amp; Toubro Enterprise AI</a:t>
            </a:r>
            <a:endParaRPr lang="en-US" sz="850" dirty="0"/>
          </a:p>
        </p:txBody>
      </p:sp>
      <p:sp>
        <p:nvSpPr>
          <p:cNvPr id="9" name="Text 7"/>
          <p:cNvSpPr/>
          <p:nvPr/>
        </p:nvSpPr>
        <p:spPr>
          <a:xfrm>
            <a:off x="8686800" y="6446520"/>
            <a:ext cx="2743200" cy="274320"/>
          </a:xfrm>
          <a:prstGeom prst="rect">
            <a:avLst/>
          </a:prstGeom>
          <a:noFill/>
          <a:ln/>
        </p:spPr>
        <p:txBody>
          <a:bodyPr wrap="square" rtlCol="0" anchor="ctr"/>
          <a:lstStyle/>
          <a:p>
            <a:pPr algn="r" indent="0" marL="0">
              <a:buNone/>
            </a:pPr>
            <a:r>
              <a:rPr lang="en-US" sz="850" b="1" dirty="0">
                <a:solidFill>
                  <a:srgbClr val="00F2FE"/>
                </a:solidFill>
                <a:latin typeface="Arial" pitchFamily="34" charset="0"/>
                <a:ea typeface="Arial" pitchFamily="34" charset="-122"/>
                <a:cs typeface="Arial" pitchFamily="34" charset="-120"/>
              </a:rPr>
              <a:t>CONFIDENTIAL &amp; PROPRIETARY</a:t>
            </a:r>
            <a:endParaRPr lang="en-US" sz="850" dirty="0"/>
          </a:p>
        </p:txBody>
      </p:sp>
      <p:sp>
        <p:nvSpPr>
          <p:cNvPr id="10" name="Shape 8"/>
          <p:cNvSpPr/>
          <p:nvPr/>
        </p:nvSpPr>
        <p:spPr>
          <a:xfrm>
            <a:off x="731520" y="1600200"/>
            <a:ext cx="5166360" cy="4526280"/>
          </a:xfrm>
          <a:prstGeom prst="roundRect">
            <a:avLst>
              <a:gd name="adj" fmla="val 2424"/>
            </a:avLst>
          </a:prstGeom>
          <a:solidFill>
            <a:srgbClr val="0E1834"/>
          </a:solidFill>
          <a:ln w="15240">
            <a:solidFill>
              <a:srgbClr val="10B981"/>
            </a:solidFill>
            <a:prstDash val="solid"/>
          </a:ln>
        </p:spPr>
      </p:sp>
      <p:sp>
        <p:nvSpPr>
          <p:cNvPr id="11" name="Shape 9"/>
          <p:cNvSpPr/>
          <p:nvPr/>
        </p:nvSpPr>
        <p:spPr>
          <a:xfrm>
            <a:off x="960120" y="1783080"/>
            <a:ext cx="4709160" cy="347472"/>
          </a:xfrm>
          <a:prstGeom prst="roundRect">
            <a:avLst>
              <a:gd name="adj" fmla="val 21053"/>
            </a:avLst>
          </a:prstGeom>
          <a:solidFill>
            <a:srgbClr val="062D20"/>
          </a:solidFill>
          <a:ln w="10160">
            <a:solidFill>
              <a:srgbClr val="10B981"/>
            </a:solidFill>
            <a:prstDash val="solid"/>
          </a:ln>
        </p:spPr>
      </p:sp>
      <p:sp>
        <p:nvSpPr>
          <p:cNvPr id="12" name="Text 10"/>
          <p:cNvSpPr/>
          <p:nvPr/>
        </p:nvSpPr>
        <p:spPr>
          <a:xfrm>
            <a:off x="960120" y="1783080"/>
            <a:ext cx="4709160" cy="347472"/>
          </a:xfrm>
          <a:prstGeom prst="rect">
            <a:avLst/>
          </a:prstGeom>
          <a:noFill/>
          <a:ln/>
        </p:spPr>
        <p:txBody>
          <a:bodyPr wrap="square" rtlCol="0" anchor="ctr"/>
          <a:lstStyle/>
          <a:p>
            <a:pPr algn="ctr" indent="0" marL="0">
              <a:buNone/>
            </a:pPr>
            <a:r>
              <a:rPr lang="en-US" sz="1000" b="1" dirty="0">
                <a:solidFill>
                  <a:srgbClr val="10B981"/>
                </a:solidFill>
              </a:rPr>
              <a:t>STRICT SYSTEM EXTRACTOR PROMPT</a:t>
            </a:r>
            <a:endParaRPr lang="en-US" sz="1000" dirty="0"/>
          </a:p>
        </p:txBody>
      </p:sp>
      <p:sp>
        <p:nvSpPr>
          <p:cNvPr id="13" name="Shape 11"/>
          <p:cNvSpPr/>
          <p:nvPr/>
        </p:nvSpPr>
        <p:spPr>
          <a:xfrm>
            <a:off x="960120" y="2240280"/>
            <a:ext cx="4709160" cy="841248"/>
          </a:xfrm>
          <a:prstGeom prst="roundRect">
            <a:avLst>
              <a:gd name="adj" fmla="val 8696"/>
            </a:avLst>
          </a:prstGeom>
          <a:solidFill>
            <a:srgbClr val="121F42"/>
          </a:solidFill>
          <a:ln w="10160">
            <a:solidFill>
              <a:srgbClr val="1E3264"/>
            </a:solidFill>
            <a:prstDash val="solid"/>
          </a:ln>
        </p:spPr>
      </p:sp>
      <p:sp>
        <p:nvSpPr>
          <p:cNvPr id="14" name="Text 12"/>
          <p:cNvSpPr/>
          <p:nvPr/>
        </p:nvSpPr>
        <p:spPr>
          <a:xfrm>
            <a:off x="1097280" y="2313432"/>
            <a:ext cx="4434840" cy="228600"/>
          </a:xfrm>
          <a:prstGeom prst="rect">
            <a:avLst/>
          </a:prstGeom>
          <a:noFill/>
          <a:ln/>
        </p:spPr>
        <p:txBody>
          <a:bodyPr wrap="square" rtlCol="0" anchor="ctr"/>
          <a:lstStyle/>
          <a:p>
            <a:pPr indent="0" marL="0">
              <a:buNone/>
            </a:pPr>
            <a:r>
              <a:rPr lang="en-US" sz="1000" b="1" dirty="0">
                <a:solidFill>
                  <a:srgbClr val="FFFFFF"/>
                </a:solidFill>
              </a:rPr>
              <a:t>🔒 Strict Extractor Persona</a:t>
            </a:r>
            <a:endParaRPr lang="en-US" sz="1000" dirty="0"/>
          </a:p>
        </p:txBody>
      </p:sp>
      <p:sp>
        <p:nvSpPr>
          <p:cNvPr id="15" name="Text 13"/>
          <p:cNvSpPr/>
          <p:nvPr/>
        </p:nvSpPr>
        <p:spPr>
          <a:xfrm>
            <a:off x="1097280" y="2532888"/>
            <a:ext cx="4434840" cy="493776"/>
          </a:xfrm>
          <a:prstGeom prst="rect">
            <a:avLst/>
          </a:prstGeom>
          <a:noFill/>
          <a:ln/>
        </p:spPr>
        <p:txBody>
          <a:bodyPr wrap="square" rtlCol="0" anchor="ctr"/>
          <a:lstStyle/>
          <a:p>
            <a:pPr indent="0" marL="0">
              <a:buNone/>
            </a:pPr>
            <a:r>
              <a:rPr lang="en-US" sz="850" dirty="0">
                <a:solidFill>
                  <a:srgbClr val="94A3B8"/>
                </a:solidFill>
              </a:rPr>
              <a:t>The model acts purely as an information extractor, explicitly barred from injecting outside knowledge or assumptions.</a:t>
            </a:r>
            <a:endParaRPr lang="en-US" sz="850" dirty="0"/>
          </a:p>
        </p:txBody>
      </p:sp>
      <p:sp>
        <p:nvSpPr>
          <p:cNvPr id="16" name="Shape 14"/>
          <p:cNvSpPr/>
          <p:nvPr/>
        </p:nvSpPr>
        <p:spPr>
          <a:xfrm>
            <a:off x="960120" y="3172968"/>
            <a:ext cx="4709160" cy="841248"/>
          </a:xfrm>
          <a:prstGeom prst="roundRect">
            <a:avLst>
              <a:gd name="adj" fmla="val 8696"/>
            </a:avLst>
          </a:prstGeom>
          <a:solidFill>
            <a:srgbClr val="121F42"/>
          </a:solidFill>
          <a:ln w="10160">
            <a:solidFill>
              <a:srgbClr val="1E3264"/>
            </a:solidFill>
            <a:prstDash val="solid"/>
          </a:ln>
        </p:spPr>
      </p:sp>
      <p:sp>
        <p:nvSpPr>
          <p:cNvPr id="17" name="Text 15"/>
          <p:cNvSpPr/>
          <p:nvPr/>
        </p:nvSpPr>
        <p:spPr>
          <a:xfrm>
            <a:off x="1097280" y="3246120"/>
            <a:ext cx="4434840" cy="228600"/>
          </a:xfrm>
          <a:prstGeom prst="rect">
            <a:avLst/>
          </a:prstGeom>
          <a:noFill/>
          <a:ln/>
        </p:spPr>
        <p:txBody>
          <a:bodyPr wrap="square" rtlCol="0" anchor="ctr"/>
          <a:lstStyle/>
          <a:p>
            <a:pPr indent="0" marL="0">
              <a:buNone/>
            </a:pPr>
            <a:r>
              <a:rPr lang="en-US" sz="1000" b="1" dirty="0">
                <a:solidFill>
                  <a:srgbClr val="FFFFFF"/>
                </a:solidFill>
              </a:rPr>
              <a:t>🔒 Structured Output Format</a:t>
            </a:r>
            <a:endParaRPr lang="en-US" sz="1000" dirty="0"/>
          </a:p>
        </p:txBody>
      </p:sp>
      <p:sp>
        <p:nvSpPr>
          <p:cNvPr id="18" name="Text 16"/>
          <p:cNvSpPr/>
          <p:nvPr/>
        </p:nvSpPr>
        <p:spPr>
          <a:xfrm>
            <a:off x="1097280" y="3465576"/>
            <a:ext cx="4434840" cy="493776"/>
          </a:xfrm>
          <a:prstGeom prst="rect">
            <a:avLst/>
          </a:prstGeom>
          <a:noFill/>
          <a:ln/>
        </p:spPr>
        <p:txBody>
          <a:bodyPr wrap="square" rtlCol="0" anchor="ctr"/>
          <a:lstStyle/>
          <a:p>
            <a:pPr indent="0" marL="0">
              <a:buNone/>
            </a:pPr>
            <a:r>
              <a:rPr lang="en-US" sz="850" dirty="0">
                <a:solidFill>
                  <a:srgbClr val="94A3B8"/>
                </a:solidFill>
              </a:rPr>
              <a:t>Mandates numbered steps for workflows, bullet points for rules, and exact numeric quotations.</a:t>
            </a:r>
            <a:endParaRPr lang="en-US" sz="850" dirty="0"/>
          </a:p>
        </p:txBody>
      </p:sp>
      <p:sp>
        <p:nvSpPr>
          <p:cNvPr id="19" name="Shape 17"/>
          <p:cNvSpPr/>
          <p:nvPr/>
        </p:nvSpPr>
        <p:spPr>
          <a:xfrm>
            <a:off x="960120" y="4105656"/>
            <a:ext cx="4709160" cy="841248"/>
          </a:xfrm>
          <a:prstGeom prst="roundRect">
            <a:avLst>
              <a:gd name="adj" fmla="val 8696"/>
            </a:avLst>
          </a:prstGeom>
          <a:solidFill>
            <a:srgbClr val="121F42"/>
          </a:solidFill>
          <a:ln w="10160">
            <a:solidFill>
              <a:srgbClr val="1E3264"/>
            </a:solidFill>
            <a:prstDash val="solid"/>
          </a:ln>
        </p:spPr>
      </p:sp>
      <p:sp>
        <p:nvSpPr>
          <p:cNvPr id="20" name="Text 18"/>
          <p:cNvSpPr/>
          <p:nvPr/>
        </p:nvSpPr>
        <p:spPr>
          <a:xfrm>
            <a:off x="1097280" y="4178808"/>
            <a:ext cx="4434840" cy="228600"/>
          </a:xfrm>
          <a:prstGeom prst="rect">
            <a:avLst/>
          </a:prstGeom>
          <a:noFill/>
          <a:ln/>
        </p:spPr>
        <p:txBody>
          <a:bodyPr wrap="square" rtlCol="0" anchor="ctr"/>
          <a:lstStyle/>
          <a:p>
            <a:pPr indent="0" marL="0">
              <a:buNone/>
            </a:pPr>
            <a:r>
              <a:rPr lang="en-US" sz="1000" b="1" dirty="0">
                <a:solidFill>
                  <a:srgbClr val="FFFFFF"/>
                </a:solidFill>
              </a:rPr>
              <a:t>🔒 Mandatory Section Citation</a:t>
            </a:r>
            <a:endParaRPr lang="en-US" sz="1000" dirty="0"/>
          </a:p>
        </p:txBody>
      </p:sp>
      <p:sp>
        <p:nvSpPr>
          <p:cNvPr id="21" name="Text 19"/>
          <p:cNvSpPr/>
          <p:nvPr/>
        </p:nvSpPr>
        <p:spPr>
          <a:xfrm>
            <a:off x="1097280" y="4398264"/>
            <a:ext cx="4434840" cy="493776"/>
          </a:xfrm>
          <a:prstGeom prst="rect">
            <a:avLst/>
          </a:prstGeom>
          <a:noFill/>
          <a:ln/>
        </p:spPr>
        <p:txBody>
          <a:bodyPr wrap="square" rtlCol="0" anchor="ctr"/>
          <a:lstStyle/>
          <a:p>
            <a:pPr indent="0" marL="0">
              <a:buNone/>
            </a:pPr>
            <a:r>
              <a:rPr lang="en-US" sz="850" dirty="0">
                <a:solidFill>
                  <a:srgbClr val="94A3B8"/>
                </a:solidFill>
              </a:rPr>
              <a:t>Every answer must terminate with: Source: &lt;filename&gt; (Section: &lt;heading&gt;).</a:t>
            </a:r>
            <a:endParaRPr lang="en-US" sz="850" dirty="0"/>
          </a:p>
        </p:txBody>
      </p:sp>
      <p:sp>
        <p:nvSpPr>
          <p:cNvPr id="22" name="Shape 20"/>
          <p:cNvSpPr/>
          <p:nvPr/>
        </p:nvSpPr>
        <p:spPr>
          <a:xfrm>
            <a:off x="960120" y="5038344"/>
            <a:ext cx="4709160" cy="841248"/>
          </a:xfrm>
          <a:prstGeom prst="roundRect">
            <a:avLst>
              <a:gd name="adj" fmla="val 8696"/>
            </a:avLst>
          </a:prstGeom>
          <a:solidFill>
            <a:srgbClr val="121F42"/>
          </a:solidFill>
          <a:ln w="10160">
            <a:solidFill>
              <a:srgbClr val="1E3264"/>
            </a:solidFill>
            <a:prstDash val="solid"/>
          </a:ln>
        </p:spPr>
      </p:sp>
      <p:sp>
        <p:nvSpPr>
          <p:cNvPr id="23" name="Text 21"/>
          <p:cNvSpPr/>
          <p:nvPr/>
        </p:nvSpPr>
        <p:spPr>
          <a:xfrm>
            <a:off x="1097280" y="5111496"/>
            <a:ext cx="4434840" cy="228600"/>
          </a:xfrm>
          <a:prstGeom prst="rect">
            <a:avLst/>
          </a:prstGeom>
          <a:noFill/>
          <a:ln/>
        </p:spPr>
        <p:txBody>
          <a:bodyPr wrap="square" rtlCol="0" anchor="ctr"/>
          <a:lstStyle/>
          <a:p>
            <a:pPr indent="0" marL="0">
              <a:buNone/>
            </a:pPr>
            <a:r>
              <a:rPr lang="en-US" sz="1000" b="1" dirty="0">
                <a:solidFill>
                  <a:srgbClr val="FFFFFF"/>
                </a:solidFill>
              </a:rPr>
              <a:t>🔒 Deterministic Inference Params</a:t>
            </a:r>
            <a:endParaRPr lang="en-US" sz="1000" dirty="0"/>
          </a:p>
        </p:txBody>
      </p:sp>
      <p:sp>
        <p:nvSpPr>
          <p:cNvPr id="24" name="Text 22"/>
          <p:cNvSpPr/>
          <p:nvPr/>
        </p:nvSpPr>
        <p:spPr>
          <a:xfrm>
            <a:off x="1097280" y="5330952"/>
            <a:ext cx="4434840" cy="493776"/>
          </a:xfrm>
          <a:prstGeom prst="rect">
            <a:avLst/>
          </a:prstGeom>
          <a:noFill/>
          <a:ln/>
        </p:spPr>
        <p:txBody>
          <a:bodyPr wrap="square" rtlCol="0" anchor="ctr"/>
          <a:lstStyle/>
          <a:p>
            <a:pPr indent="0" marL="0">
              <a:buNone/>
            </a:pPr>
            <a:r>
              <a:rPr lang="en-US" sz="850" dirty="0">
                <a:solidFill>
                  <a:srgbClr val="94A3B8"/>
                </a:solidFill>
              </a:rPr>
              <a:t>Temperature = 0.2, Top_P = 0.9, Max Tokens = 512, Keep_Alive = 1 hour.</a:t>
            </a:r>
            <a:endParaRPr lang="en-US" sz="850" dirty="0"/>
          </a:p>
        </p:txBody>
      </p:sp>
      <p:sp>
        <p:nvSpPr>
          <p:cNvPr id="25" name="Shape 23"/>
          <p:cNvSpPr/>
          <p:nvPr/>
        </p:nvSpPr>
        <p:spPr>
          <a:xfrm>
            <a:off x="6263640" y="1600200"/>
            <a:ext cx="5166360" cy="4526280"/>
          </a:xfrm>
          <a:prstGeom prst="roundRect">
            <a:avLst>
              <a:gd name="adj" fmla="val 2424"/>
            </a:avLst>
          </a:prstGeom>
          <a:solidFill>
            <a:srgbClr val="0E1834"/>
          </a:solidFill>
          <a:ln w="15240">
            <a:solidFill>
              <a:srgbClr val="F59E0B"/>
            </a:solidFill>
            <a:prstDash val="solid"/>
          </a:ln>
        </p:spPr>
      </p:sp>
      <p:sp>
        <p:nvSpPr>
          <p:cNvPr id="26" name="Shape 24"/>
          <p:cNvSpPr/>
          <p:nvPr/>
        </p:nvSpPr>
        <p:spPr>
          <a:xfrm>
            <a:off x="6492240" y="1783080"/>
            <a:ext cx="4709160" cy="347472"/>
          </a:xfrm>
          <a:prstGeom prst="roundRect">
            <a:avLst>
              <a:gd name="adj" fmla="val 21053"/>
            </a:avLst>
          </a:prstGeom>
          <a:solidFill>
            <a:srgbClr val="2A1A08"/>
          </a:solidFill>
          <a:ln w="10160">
            <a:solidFill>
              <a:srgbClr val="F59E0B"/>
            </a:solidFill>
            <a:prstDash val="solid"/>
          </a:ln>
        </p:spPr>
      </p:sp>
      <p:sp>
        <p:nvSpPr>
          <p:cNvPr id="27" name="Text 25"/>
          <p:cNvSpPr/>
          <p:nvPr/>
        </p:nvSpPr>
        <p:spPr>
          <a:xfrm>
            <a:off x="6492240" y="1783080"/>
            <a:ext cx="4709160" cy="347472"/>
          </a:xfrm>
          <a:prstGeom prst="rect">
            <a:avLst/>
          </a:prstGeom>
          <a:noFill/>
          <a:ln/>
        </p:spPr>
        <p:txBody>
          <a:bodyPr wrap="square" rtlCol="0" anchor="ctr"/>
          <a:lstStyle/>
          <a:p>
            <a:pPr algn="ctr" indent="0" marL="0">
              <a:buNone/>
            </a:pPr>
            <a:r>
              <a:rPr lang="en-US" sz="1000" b="1" dirty="0">
                <a:solidFill>
                  <a:srgbClr val="F59E0B"/>
                </a:solidFill>
              </a:rPr>
              <a:t>DYNAMIC CONFIDENCE GATE &amp; FALLBACK</a:t>
            </a:r>
            <a:endParaRPr lang="en-US" sz="1000" dirty="0"/>
          </a:p>
        </p:txBody>
      </p:sp>
      <p:sp>
        <p:nvSpPr>
          <p:cNvPr id="28" name="Shape 26"/>
          <p:cNvSpPr/>
          <p:nvPr/>
        </p:nvSpPr>
        <p:spPr>
          <a:xfrm>
            <a:off x="6492240" y="2240280"/>
            <a:ext cx="4709160" cy="841248"/>
          </a:xfrm>
          <a:prstGeom prst="roundRect">
            <a:avLst>
              <a:gd name="adj" fmla="val 8696"/>
            </a:avLst>
          </a:prstGeom>
          <a:solidFill>
            <a:srgbClr val="121F42"/>
          </a:solidFill>
          <a:ln w="10160">
            <a:solidFill>
              <a:srgbClr val="1E3264"/>
            </a:solidFill>
            <a:prstDash val="solid"/>
          </a:ln>
        </p:spPr>
      </p:sp>
      <p:sp>
        <p:nvSpPr>
          <p:cNvPr id="29" name="Text 27"/>
          <p:cNvSpPr/>
          <p:nvPr/>
        </p:nvSpPr>
        <p:spPr>
          <a:xfrm>
            <a:off x="6629400" y="2313432"/>
            <a:ext cx="4434840" cy="228600"/>
          </a:xfrm>
          <a:prstGeom prst="rect">
            <a:avLst/>
          </a:prstGeom>
          <a:noFill/>
          <a:ln/>
        </p:spPr>
        <p:txBody>
          <a:bodyPr wrap="square" rtlCol="0" anchor="ctr"/>
          <a:lstStyle/>
          <a:p>
            <a:pPr indent="0" marL="0">
              <a:buNone/>
            </a:pPr>
            <a:r>
              <a:rPr lang="en-US" sz="1000" b="1" dirty="0">
                <a:solidFill>
                  <a:srgbClr val="F59E0B"/>
                </a:solidFill>
              </a:rPr>
              <a:t>🛡️ Confidence Score Formula</a:t>
            </a:r>
            <a:endParaRPr lang="en-US" sz="1000" dirty="0"/>
          </a:p>
        </p:txBody>
      </p:sp>
      <p:sp>
        <p:nvSpPr>
          <p:cNvPr id="30" name="Text 28"/>
          <p:cNvSpPr/>
          <p:nvPr/>
        </p:nvSpPr>
        <p:spPr>
          <a:xfrm>
            <a:off x="6629400" y="2532888"/>
            <a:ext cx="4434840" cy="493776"/>
          </a:xfrm>
          <a:prstGeom prst="rect">
            <a:avLst/>
          </a:prstGeom>
          <a:noFill/>
          <a:ln/>
        </p:spPr>
        <p:txBody>
          <a:bodyPr wrap="square" rtlCol="0" anchor="ctr"/>
          <a:lstStyle/>
          <a:p>
            <a:pPr indent="0" marL="0">
              <a:buNone/>
            </a:pPr>
            <a:r>
              <a:rPr lang="en-US" sz="850" dirty="0">
                <a:solidFill>
                  <a:srgbClr val="E2E8F0"/>
                </a:solidFill>
              </a:rPr>
              <a:t>Confidence = 1.0 − BestCosineDistance(Top3Chunks)</a:t>
            </a:r>
            <a:endParaRPr lang="en-US" sz="850" dirty="0"/>
          </a:p>
          <a:p>
            <a:pPr indent="0" marL="0">
              <a:buNone/>
            </a:pPr>
            <a:r>
              <a:rPr lang="en-US" sz="850" dirty="0">
                <a:solidFill>
                  <a:srgbClr val="E2E8F0"/>
                </a:solidFill>
              </a:rPr>
              <a:t>Calculated in real-time from vector space proximity.</a:t>
            </a:r>
            <a:endParaRPr lang="en-US" sz="850" dirty="0"/>
          </a:p>
        </p:txBody>
      </p:sp>
      <p:sp>
        <p:nvSpPr>
          <p:cNvPr id="31" name="Shape 29"/>
          <p:cNvSpPr/>
          <p:nvPr/>
        </p:nvSpPr>
        <p:spPr>
          <a:xfrm>
            <a:off x="6492240" y="3172968"/>
            <a:ext cx="4709160" cy="841248"/>
          </a:xfrm>
          <a:prstGeom prst="roundRect">
            <a:avLst>
              <a:gd name="adj" fmla="val 8696"/>
            </a:avLst>
          </a:prstGeom>
          <a:solidFill>
            <a:srgbClr val="121F42"/>
          </a:solidFill>
          <a:ln w="10160">
            <a:solidFill>
              <a:srgbClr val="1E3264"/>
            </a:solidFill>
            <a:prstDash val="solid"/>
          </a:ln>
        </p:spPr>
      </p:sp>
      <p:sp>
        <p:nvSpPr>
          <p:cNvPr id="32" name="Text 30"/>
          <p:cNvSpPr/>
          <p:nvPr/>
        </p:nvSpPr>
        <p:spPr>
          <a:xfrm>
            <a:off x="6629400" y="3246120"/>
            <a:ext cx="4434840" cy="228600"/>
          </a:xfrm>
          <a:prstGeom prst="rect">
            <a:avLst/>
          </a:prstGeom>
          <a:noFill/>
          <a:ln/>
        </p:spPr>
        <p:txBody>
          <a:bodyPr wrap="square" rtlCol="0" anchor="ctr"/>
          <a:lstStyle/>
          <a:p>
            <a:pPr indent="0" marL="0">
              <a:buNone/>
            </a:pPr>
            <a:r>
              <a:rPr lang="en-US" sz="1000" b="1" dirty="0">
                <a:solidFill>
                  <a:srgbClr val="F59E0B"/>
                </a:solidFill>
              </a:rPr>
              <a:t>🛡️ Threshold Cutoff (0.45 Gate)</a:t>
            </a:r>
            <a:endParaRPr lang="en-US" sz="1000" dirty="0"/>
          </a:p>
        </p:txBody>
      </p:sp>
      <p:sp>
        <p:nvSpPr>
          <p:cNvPr id="33" name="Text 31"/>
          <p:cNvSpPr/>
          <p:nvPr/>
        </p:nvSpPr>
        <p:spPr>
          <a:xfrm>
            <a:off x="6629400" y="3465576"/>
            <a:ext cx="4434840" cy="493776"/>
          </a:xfrm>
          <a:prstGeom prst="rect">
            <a:avLst/>
          </a:prstGeom>
          <a:noFill/>
          <a:ln/>
        </p:spPr>
        <p:txBody>
          <a:bodyPr wrap="square" rtlCol="0" anchor="ctr"/>
          <a:lstStyle/>
          <a:p>
            <a:pPr indent="0" marL="0">
              <a:buNone/>
            </a:pPr>
            <a:r>
              <a:rPr lang="en-US" sz="850" dirty="0">
                <a:solidFill>
                  <a:srgbClr val="E2E8F0"/>
                </a:solidFill>
              </a:rPr>
              <a:t>If Confidence &lt; 0.45, the query is immediately flagged as out-of-scope enterprise inquiry.</a:t>
            </a:r>
            <a:endParaRPr lang="en-US" sz="850" dirty="0"/>
          </a:p>
        </p:txBody>
      </p:sp>
      <p:sp>
        <p:nvSpPr>
          <p:cNvPr id="34" name="Shape 32"/>
          <p:cNvSpPr/>
          <p:nvPr/>
        </p:nvSpPr>
        <p:spPr>
          <a:xfrm>
            <a:off x="6492240" y="4105656"/>
            <a:ext cx="4709160" cy="841248"/>
          </a:xfrm>
          <a:prstGeom prst="roundRect">
            <a:avLst>
              <a:gd name="adj" fmla="val 8696"/>
            </a:avLst>
          </a:prstGeom>
          <a:solidFill>
            <a:srgbClr val="121F42"/>
          </a:solidFill>
          <a:ln w="10160">
            <a:solidFill>
              <a:srgbClr val="1E3264"/>
            </a:solidFill>
            <a:prstDash val="solid"/>
          </a:ln>
        </p:spPr>
      </p:sp>
      <p:sp>
        <p:nvSpPr>
          <p:cNvPr id="35" name="Text 33"/>
          <p:cNvSpPr/>
          <p:nvPr/>
        </p:nvSpPr>
        <p:spPr>
          <a:xfrm>
            <a:off x="6629400" y="4178808"/>
            <a:ext cx="4434840" cy="228600"/>
          </a:xfrm>
          <a:prstGeom prst="rect">
            <a:avLst/>
          </a:prstGeom>
          <a:noFill/>
          <a:ln/>
        </p:spPr>
        <p:txBody>
          <a:bodyPr wrap="square" rtlCol="0" anchor="ctr"/>
          <a:lstStyle/>
          <a:p>
            <a:pPr indent="0" marL="0">
              <a:buNone/>
            </a:pPr>
            <a:r>
              <a:rPr lang="en-US" sz="1000" b="1" dirty="0">
                <a:solidFill>
                  <a:srgbClr val="F59E0B"/>
                </a:solidFill>
              </a:rPr>
              <a:t>🛡️ Zero-Compute Fallback Bypass</a:t>
            </a:r>
            <a:endParaRPr lang="en-US" sz="1000" dirty="0"/>
          </a:p>
        </p:txBody>
      </p:sp>
      <p:sp>
        <p:nvSpPr>
          <p:cNvPr id="36" name="Text 34"/>
          <p:cNvSpPr/>
          <p:nvPr/>
        </p:nvSpPr>
        <p:spPr>
          <a:xfrm>
            <a:off x="6629400" y="4398264"/>
            <a:ext cx="4434840" cy="493776"/>
          </a:xfrm>
          <a:prstGeom prst="rect">
            <a:avLst/>
          </a:prstGeom>
          <a:noFill/>
          <a:ln/>
        </p:spPr>
        <p:txBody>
          <a:bodyPr wrap="square" rtlCol="0" anchor="ctr"/>
          <a:lstStyle/>
          <a:p>
            <a:pPr indent="0" marL="0">
              <a:buNone/>
            </a:pPr>
            <a:r>
              <a:rPr lang="en-US" sz="850" dirty="0">
                <a:solidFill>
                  <a:srgbClr val="E2E8F0"/>
                </a:solidFill>
              </a:rPr>
              <a:t>LLM is completely bypassed; server returns: "This isn't covered in our SOPs — please contact the concerned department" in &lt; 300ms.</a:t>
            </a:r>
            <a:endParaRPr lang="en-US" sz="850" dirty="0"/>
          </a:p>
        </p:txBody>
      </p:sp>
      <p:sp>
        <p:nvSpPr>
          <p:cNvPr id="37" name="Shape 35"/>
          <p:cNvSpPr/>
          <p:nvPr/>
        </p:nvSpPr>
        <p:spPr>
          <a:xfrm>
            <a:off x="6492240" y="5038344"/>
            <a:ext cx="4709160" cy="841248"/>
          </a:xfrm>
          <a:prstGeom prst="roundRect">
            <a:avLst>
              <a:gd name="adj" fmla="val 8696"/>
            </a:avLst>
          </a:prstGeom>
          <a:solidFill>
            <a:srgbClr val="121F42"/>
          </a:solidFill>
          <a:ln w="10160">
            <a:solidFill>
              <a:srgbClr val="1E3264"/>
            </a:solidFill>
            <a:prstDash val="solid"/>
          </a:ln>
        </p:spPr>
      </p:sp>
      <p:sp>
        <p:nvSpPr>
          <p:cNvPr id="38" name="Text 36"/>
          <p:cNvSpPr/>
          <p:nvPr/>
        </p:nvSpPr>
        <p:spPr>
          <a:xfrm>
            <a:off x="6629400" y="5111496"/>
            <a:ext cx="4434840" cy="228600"/>
          </a:xfrm>
          <a:prstGeom prst="rect">
            <a:avLst/>
          </a:prstGeom>
          <a:noFill/>
          <a:ln/>
        </p:spPr>
        <p:txBody>
          <a:bodyPr wrap="square" rtlCol="0" anchor="ctr"/>
          <a:lstStyle/>
          <a:p>
            <a:pPr indent="0" marL="0">
              <a:buNone/>
            </a:pPr>
            <a:r>
              <a:rPr lang="en-US" sz="1000" b="1" dirty="0">
                <a:solidFill>
                  <a:srgbClr val="F59E0B"/>
                </a:solidFill>
              </a:rPr>
              <a:t>🛡️ UI Verification Badge</a:t>
            </a:r>
            <a:endParaRPr lang="en-US" sz="1000" dirty="0"/>
          </a:p>
        </p:txBody>
      </p:sp>
      <p:sp>
        <p:nvSpPr>
          <p:cNvPr id="39" name="Text 37"/>
          <p:cNvSpPr/>
          <p:nvPr/>
        </p:nvSpPr>
        <p:spPr>
          <a:xfrm>
            <a:off x="6629400" y="5330952"/>
            <a:ext cx="4434840" cy="493776"/>
          </a:xfrm>
          <a:prstGeom prst="rect">
            <a:avLst/>
          </a:prstGeom>
          <a:noFill/>
          <a:ln/>
        </p:spPr>
        <p:txBody>
          <a:bodyPr wrap="square" rtlCol="0" anchor="ctr"/>
          <a:lstStyle/>
          <a:p>
            <a:pPr indent="0" marL="0">
              <a:buNone/>
            </a:pPr>
            <a:r>
              <a:rPr lang="en-US" sz="850" dirty="0">
                <a:solidFill>
                  <a:srgbClr val="E2E8F0"/>
                </a:solidFill>
              </a:rPr>
              <a:t>Frontend displays live confidence metrics (e.g. "Confidence: 91%"), retrieved chunks drawer, and model telemetry.</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D1E"/>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F2FE"/>
          </a:solidFill>
          <a:ln/>
        </p:spPr>
      </p:sp>
      <p:sp>
        <p:nvSpPr>
          <p:cNvPr id="3" name="Shape 1"/>
          <p:cNvSpPr/>
          <p:nvPr/>
        </p:nvSpPr>
        <p:spPr>
          <a:xfrm>
            <a:off x="731520" y="347472"/>
            <a:ext cx="2560320" cy="274320"/>
          </a:xfrm>
          <a:prstGeom prst="roundRect">
            <a:avLst>
              <a:gd name="adj" fmla="val 26667"/>
            </a:avLst>
          </a:prstGeom>
          <a:solidFill>
            <a:srgbClr val="0E1834"/>
          </a:solidFill>
          <a:ln w="12700">
            <a:solidFill>
              <a:srgbClr val="00F2FE"/>
            </a:solidFill>
            <a:prstDash val="solid"/>
          </a:ln>
        </p:spPr>
      </p:sp>
      <p:sp>
        <p:nvSpPr>
          <p:cNvPr id="4" name="Text 2"/>
          <p:cNvSpPr/>
          <p:nvPr/>
        </p:nvSpPr>
        <p:spPr>
          <a:xfrm>
            <a:off x="731520" y="347472"/>
            <a:ext cx="2560320" cy="274320"/>
          </a:xfrm>
          <a:prstGeom prst="rect">
            <a:avLst/>
          </a:prstGeom>
          <a:noFill/>
          <a:ln/>
        </p:spPr>
        <p:txBody>
          <a:bodyPr wrap="square" rtlCol="0" anchor="ctr"/>
          <a:lstStyle/>
          <a:p>
            <a:pPr algn="ctr" indent="0" marL="0">
              <a:buNone/>
            </a:pPr>
            <a:r>
              <a:rPr lang="en-US" sz="900" b="1" dirty="0">
                <a:solidFill>
                  <a:srgbClr val="00F2FE"/>
                </a:solidFill>
                <a:latin typeface="Arial" pitchFamily="34" charset="0"/>
                <a:ea typeface="Arial" pitchFamily="34" charset="-122"/>
                <a:cs typeface="Arial" pitchFamily="34" charset="-120"/>
              </a:rPr>
              <a:t>ENTERPRISE UX &amp; PORTAL</a:t>
            </a:r>
            <a:endParaRPr lang="en-US" sz="900" dirty="0"/>
          </a:p>
        </p:txBody>
      </p:sp>
      <p:sp>
        <p:nvSpPr>
          <p:cNvPr id="5" name="Text 3"/>
          <p:cNvSpPr/>
          <p:nvPr/>
        </p:nvSpPr>
        <p:spPr>
          <a:xfrm>
            <a:off x="731520" y="676656"/>
            <a:ext cx="10698480" cy="502920"/>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Enterprise Portal Interface: LEINA Intelligent Network Associate</a:t>
            </a:r>
            <a:endParaRPr lang="en-US" sz="2100" dirty="0"/>
          </a:p>
        </p:txBody>
      </p:sp>
      <p:sp>
        <p:nvSpPr>
          <p:cNvPr id="6" name="Text 4"/>
          <p:cNvSpPr/>
          <p:nvPr/>
        </p:nvSpPr>
        <p:spPr>
          <a:xfrm>
            <a:off x="731520" y="1170432"/>
            <a:ext cx="10698480" cy="292608"/>
          </a:xfrm>
          <a:prstGeom prst="rect">
            <a:avLst/>
          </a:prstGeom>
          <a:noFill/>
          <a:ln/>
        </p:spPr>
        <p:txBody>
          <a:bodyPr wrap="square" rtlCol="0" anchor="ctr"/>
          <a:lstStyle/>
          <a:p>
            <a:pPr indent="0" marL="0">
              <a:buNone/>
            </a:pPr>
            <a:r>
              <a:rPr lang="en-US" sz="1150" dirty="0">
                <a:solidFill>
                  <a:srgbClr val="94A3B8"/>
                </a:solidFill>
                <a:latin typeface="Arial" pitchFamily="34" charset="0"/>
                <a:ea typeface="Arial" pitchFamily="34" charset="-122"/>
                <a:cs typeface="Arial" pitchFamily="34" charset="-120"/>
              </a:rPr>
              <a:t>Production workplace portal powered by LLaMA 3.1 8B / Qwen2.5-VL with 11+ departmental agents</a:t>
            </a:r>
            <a:endParaRPr lang="en-US" sz="1150" dirty="0"/>
          </a:p>
        </p:txBody>
      </p:sp>
      <p:sp>
        <p:nvSpPr>
          <p:cNvPr id="7" name="Shape 5"/>
          <p:cNvSpPr/>
          <p:nvPr/>
        </p:nvSpPr>
        <p:spPr>
          <a:xfrm>
            <a:off x="731520" y="6400800"/>
            <a:ext cx="10698480" cy="18288"/>
          </a:xfrm>
          <a:prstGeom prst="rect">
            <a:avLst/>
          </a:prstGeom>
          <a:solidFill>
            <a:srgbClr val="1E3264"/>
          </a:solidFill>
          <a:ln/>
        </p:spPr>
      </p:sp>
      <p:sp>
        <p:nvSpPr>
          <p:cNvPr id="8" name="Text 6"/>
          <p:cNvSpPr/>
          <p:nvPr/>
        </p:nvSpPr>
        <p:spPr>
          <a:xfrm>
            <a:off x="731520" y="6446520"/>
            <a:ext cx="73152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LEINA • Local SOP RAG Architecture | Larsen &amp; Toubro Enterprise AI</a:t>
            </a:r>
            <a:endParaRPr lang="en-US" sz="850" dirty="0"/>
          </a:p>
        </p:txBody>
      </p:sp>
      <p:sp>
        <p:nvSpPr>
          <p:cNvPr id="9" name="Text 7"/>
          <p:cNvSpPr/>
          <p:nvPr/>
        </p:nvSpPr>
        <p:spPr>
          <a:xfrm>
            <a:off x="8686800" y="6446520"/>
            <a:ext cx="2743200" cy="274320"/>
          </a:xfrm>
          <a:prstGeom prst="rect">
            <a:avLst/>
          </a:prstGeom>
          <a:noFill/>
          <a:ln/>
        </p:spPr>
        <p:txBody>
          <a:bodyPr wrap="square" rtlCol="0" anchor="ctr"/>
          <a:lstStyle/>
          <a:p>
            <a:pPr algn="r" indent="0" marL="0">
              <a:buNone/>
            </a:pPr>
            <a:r>
              <a:rPr lang="en-US" sz="850" b="1" dirty="0">
                <a:solidFill>
                  <a:srgbClr val="00F2FE"/>
                </a:solidFill>
                <a:latin typeface="Arial" pitchFamily="34" charset="0"/>
                <a:ea typeface="Arial" pitchFamily="34" charset="-122"/>
                <a:cs typeface="Arial" pitchFamily="34" charset="-120"/>
              </a:rPr>
              <a:t>CONFIDENTIAL &amp; PROPRIETARY</a:t>
            </a:r>
            <a:endParaRPr lang="en-US" sz="850" dirty="0"/>
          </a:p>
        </p:txBody>
      </p:sp>
      <p:sp>
        <p:nvSpPr>
          <p:cNvPr id="10" name="Shape 8"/>
          <p:cNvSpPr/>
          <p:nvPr/>
        </p:nvSpPr>
        <p:spPr>
          <a:xfrm>
            <a:off x="731520" y="1600200"/>
            <a:ext cx="6217920" cy="4526280"/>
          </a:xfrm>
          <a:prstGeom prst="roundRect">
            <a:avLst>
              <a:gd name="adj" fmla="val 2424"/>
            </a:avLst>
          </a:prstGeom>
          <a:solidFill>
            <a:srgbClr val="0E1834"/>
          </a:solidFill>
          <a:ln w="15240">
            <a:solidFill>
              <a:srgbClr val="00F2FE"/>
            </a:solidFill>
            <a:prstDash val="solid"/>
          </a:ln>
        </p:spPr>
      </p:sp>
      <p:pic>
        <p:nvPicPr>
          <p:cNvPr id="11" name="Image 0" descr="D:\downloadss\local-rag-sop-chatbot\assets\leina_enterprise_ui.png">    </p:cNvPr>
          <p:cNvPicPr>
            <a:picLocks noChangeAspect="1"/>
          </p:cNvPicPr>
          <p:nvPr/>
        </p:nvPicPr>
        <p:blipFill>
          <a:blip r:embed="rId1"/>
          <a:stretch>
            <a:fillRect/>
          </a:stretch>
        </p:blipFill>
        <p:spPr>
          <a:xfrm>
            <a:off x="868680" y="1737360"/>
            <a:ext cx="5943600" cy="4251960"/>
          </a:xfrm>
          <a:prstGeom prst="ellipse">
            <a:avLst/>
          </a:prstGeom>
        </p:spPr>
      </p:pic>
      <p:sp>
        <p:nvSpPr>
          <p:cNvPr id="12" name="Shape 9"/>
          <p:cNvSpPr/>
          <p:nvPr/>
        </p:nvSpPr>
        <p:spPr>
          <a:xfrm>
            <a:off x="7132320" y="1600200"/>
            <a:ext cx="4297680" cy="4526280"/>
          </a:xfrm>
          <a:prstGeom prst="roundRect">
            <a:avLst>
              <a:gd name="adj" fmla="val 2553"/>
            </a:avLst>
          </a:prstGeom>
          <a:solidFill>
            <a:srgbClr val="0E1834"/>
          </a:solidFill>
          <a:ln w="15240">
            <a:solidFill>
              <a:srgbClr val="38BDF8"/>
            </a:solidFill>
            <a:prstDash val="solid"/>
          </a:ln>
        </p:spPr>
      </p:sp>
      <p:sp>
        <p:nvSpPr>
          <p:cNvPr id="13" name="Shape 10"/>
          <p:cNvSpPr/>
          <p:nvPr/>
        </p:nvSpPr>
        <p:spPr>
          <a:xfrm>
            <a:off x="7315200" y="1783080"/>
            <a:ext cx="3931920" cy="347472"/>
          </a:xfrm>
          <a:prstGeom prst="roundRect">
            <a:avLst>
              <a:gd name="adj" fmla="val 21053"/>
            </a:avLst>
          </a:prstGeom>
          <a:solidFill>
            <a:srgbClr val="182958"/>
          </a:solidFill>
          <a:ln w="10160">
            <a:solidFill>
              <a:srgbClr val="38BDF8"/>
            </a:solidFill>
            <a:prstDash val="solid"/>
          </a:ln>
        </p:spPr>
      </p:sp>
      <p:sp>
        <p:nvSpPr>
          <p:cNvPr id="14" name="Text 11"/>
          <p:cNvSpPr/>
          <p:nvPr/>
        </p:nvSpPr>
        <p:spPr>
          <a:xfrm>
            <a:off x="7315200" y="1783080"/>
            <a:ext cx="3931920" cy="347472"/>
          </a:xfrm>
          <a:prstGeom prst="rect">
            <a:avLst/>
          </a:prstGeom>
          <a:noFill/>
          <a:ln/>
        </p:spPr>
        <p:txBody>
          <a:bodyPr wrap="square" rtlCol="0" anchor="ctr"/>
          <a:lstStyle/>
          <a:p>
            <a:pPr algn="ctr" indent="0" marL="0">
              <a:buNone/>
            </a:pPr>
            <a:r>
              <a:rPr lang="en-US" sz="950" b="1" dirty="0">
                <a:solidFill>
                  <a:srgbClr val="00F2FE"/>
                </a:solidFill>
              </a:rPr>
              <a:t>KEY PORTAL CAPABILITIES</a:t>
            </a:r>
            <a:endParaRPr lang="en-US" sz="950" dirty="0"/>
          </a:p>
        </p:txBody>
      </p:sp>
      <p:sp>
        <p:nvSpPr>
          <p:cNvPr id="15" name="Shape 12"/>
          <p:cNvSpPr/>
          <p:nvPr/>
        </p:nvSpPr>
        <p:spPr>
          <a:xfrm>
            <a:off x="7315200" y="2240280"/>
            <a:ext cx="3931920" cy="841248"/>
          </a:xfrm>
          <a:prstGeom prst="roundRect">
            <a:avLst>
              <a:gd name="adj" fmla="val 8696"/>
            </a:avLst>
          </a:prstGeom>
          <a:solidFill>
            <a:srgbClr val="121F42"/>
          </a:solidFill>
          <a:ln w="10160">
            <a:solidFill>
              <a:srgbClr val="1E3264"/>
            </a:solidFill>
            <a:prstDash val="solid"/>
          </a:ln>
        </p:spPr>
      </p:sp>
      <p:sp>
        <p:nvSpPr>
          <p:cNvPr id="16" name="Text 13"/>
          <p:cNvSpPr/>
          <p:nvPr/>
        </p:nvSpPr>
        <p:spPr>
          <a:xfrm>
            <a:off x="7406640" y="2313432"/>
            <a:ext cx="3749040" cy="228600"/>
          </a:xfrm>
          <a:prstGeom prst="rect">
            <a:avLst/>
          </a:prstGeom>
          <a:noFill/>
          <a:ln/>
        </p:spPr>
        <p:txBody>
          <a:bodyPr wrap="square" rtlCol="0" anchor="ctr"/>
          <a:lstStyle/>
          <a:p>
            <a:pPr indent="0" marL="0">
              <a:buNone/>
            </a:pPr>
            <a:r>
              <a:rPr lang="en-US" sz="950" b="1" dirty="0">
                <a:solidFill>
                  <a:srgbClr val="FFFFFF"/>
                </a:solidFill>
              </a:rPr>
              <a:t>✦ 11+ Domain Specialized Agents</a:t>
            </a:r>
            <a:endParaRPr lang="en-US" sz="950" dirty="0"/>
          </a:p>
        </p:txBody>
      </p:sp>
      <p:sp>
        <p:nvSpPr>
          <p:cNvPr id="17" name="Text 14"/>
          <p:cNvSpPr/>
          <p:nvPr/>
        </p:nvSpPr>
        <p:spPr>
          <a:xfrm>
            <a:off x="7406640" y="2532888"/>
            <a:ext cx="3749040" cy="493776"/>
          </a:xfrm>
          <a:prstGeom prst="rect">
            <a:avLst/>
          </a:prstGeom>
          <a:noFill/>
          <a:ln/>
        </p:spPr>
        <p:txBody>
          <a:bodyPr wrap="square" rtlCol="0" anchor="ctr"/>
          <a:lstStyle/>
          <a:p>
            <a:pPr indent="0" marL="0">
              <a:buNone/>
            </a:pPr>
            <a:r>
              <a:rPr lang="en-US" sz="850" dirty="0">
                <a:solidFill>
                  <a:srgbClr val="94A3B8"/>
                </a:solidFill>
              </a:rPr>
              <a:t>Pre-configured routing: Finance, HR &amp; People (4), IT Helpdesk, Quality (2), Sales, WMG, Utility.</a:t>
            </a:r>
            <a:endParaRPr lang="en-US" sz="850" dirty="0"/>
          </a:p>
        </p:txBody>
      </p:sp>
      <p:sp>
        <p:nvSpPr>
          <p:cNvPr id="18" name="Shape 15"/>
          <p:cNvSpPr/>
          <p:nvPr/>
        </p:nvSpPr>
        <p:spPr>
          <a:xfrm>
            <a:off x="7315200" y="3172968"/>
            <a:ext cx="3931920" cy="841248"/>
          </a:xfrm>
          <a:prstGeom prst="roundRect">
            <a:avLst>
              <a:gd name="adj" fmla="val 8696"/>
            </a:avLst>
          </a:prstGeom>
          <a:solidFill>
            <a:srgbClr val="121F42"/>
          </a:solidFill>
          <a:ln w="10160">
            <a:solidFill>
              <a:srgbClr val="1E3264"/>
            </a:solidFill>
            <a:prstDash val="solid"/>
          </a:ln>
        </p:spPr>
      </p:sp>
      <p:sp>
        <p:nvSpPr>
          <p:cNvPr id="19" name="Text 16"/>
          <p:cNvSpPr/>
          <p:nvPr/>
        </p:nvSpPr>
        <p:spPr>
          <a:xfrm>
            <a:off x="7406640" y="3246120"/>
            <a:ext cx="3749040" cy="228600"/>
          </a:xfrm>
          <a:prstGeom prst="rect">
            <a:avLst/>
          </a:prstGeom>
          <a:noFill/>
          <a:ln/>
        </p:spPr>
        <p:txBody>
          <a:bodyPr wrap="square" rtlCol="0" anchor="ctr"/>
          <a:lstStyle/>
          <a:p>
            <a:pPr indent="0" marL="0">
              <a:buNone/>
            </a:pPr>
            <a:r>
              <a:rPr lang="en-US" sz="950" b="1" dirty="0">
                <a:solidFill>
                  <a:srgbClr val="FFFFFF"/>
                </a:solidFill>
              </a:rPr>
              <a:t>✦ 1-Click Popular Prompts</a:t>
            </a:r>
            <a:endParaRPr lang="en-US" sz="950" dirty="0"/>
          </a:p>
        </p:txBody>
      </p:sp>
      <p:sp>
        <p:nvSpPr>
          <p:cNvPr id="20" name="Text 17"/>
          <p:cNvSpPr/>
          <p:nvPr/>
        </p:nvSpPr>
        <p:spPr>
          <a:xfrm>
            <a:off x="7406640" y="3465576"/>
            <a:ext cx="3749040" cy="493776"/>
          </a:xfrm>
          <a:prstGeom prst="rect">
            <a:avLst/>
          </a:prstGeom>
          <a:noFill/>
          <a:ln/>
        </p:spPr>
        <p:txBody>
          <a:bodyPr wrap="square" rtlCol="0" anchor="ctr"/>
          <a:lstStyle/>
          <a:p>
            <a:pPr indent="0" marL="0">
              <a:buNone/>
            </a:pPr>
            <a:r>
              <a:rPr lang="en-US" sz="850" dirty="0">
                <a:solidFill>
                  <a:srgbClr val="94A3B8"/>
                </a:solidFill>
              </a:rPr>
              <a:t>Apply Leave, Regularize Attendance, Leave Summary, Holiday Calendar, Summarize Document, Approvals.</a:t>
            </a:r>
            <a:endParaRPr lang="en-US" sz="850" dirty="0"/>
          </a:p>
        </p:txBody>
      </p:sp>
      <p:sp>
        <p:nvSpPr>
          <p:cNvPr id="21" name="Shape 18"/>
          <p:cNvSpPr/>
          <p:nvPr/>
        </p:nvSpPr>
        <p:spPr>
          <a:xfrm>
            <a:off x="7315200" y="4105656"/>
            <a:ext cx="3931920" cy="841248"/>
          </a:xfrm>
          <a:prstGeom prst="roundRect">
            <a:avLst>
              <a:gd name="adj" fmla="val 8696"/>
            </a:avLst>
          </a:prstGeom>
          <a:solidFill>
            <a:srgbClr val="121F42"/>
          </a:solidFill>
          <a:ln w="10160">
            <a:solidFill>
              <a:srgbClr val="1E3264"/>
            </a:solidFill>
            <a:prstDash val="solid"/>
          </a:ln>
        </p:spPr>
      </p:sp>
      <p:sp>
        <p:nvSpPr>
          <p:cNvPr id="22" name="Text 19"/>
          <p:cNvSpPr/>
          <p:nvPr/>
        </p:nvSpPr>
        <p:spPr>
          <a:xfrm>
            <a:off x="7406640" y="4178808"/>
            <a:ext cx="3749040" cy="228600"/>
          </a:xfrm>
          <a:prstGeom prst="rect">
            <a:avLst/>
          </a:prstGeom>
          <a:noFill/>
          <a:ln/>
        </p:spPr>
        <p:txBody>
          <a:bodyPr wrap="square" rtlCol="0" anchor="ctr"/>
          <a:lstStyle/>
          <a:p>
            <a:pPr indent="0" marL="0">
              <a:buNone/>
            </a:pPr>
            <a:r>
              <a:rPr lang="en-US" sz="950" b="1" dirty="0">
                <a:solidFill>
                  <a:srgbClr val="FFFFFF"/>
                </a:solidFill>
              </a:rPr>
              <a:t>✦ Deep Search &amp; Multimodal</a:t>
            </a:r>
            <a:endParaRPr lang="en-US" sz="950" dirty="0"/>
          </a:p>
        </p:txBody>
      </p:sp>
      <p:sp>
        <p:nvSpPr>
          <p:cNvPr id="23" name="Text 20"/>
          <p:cNvSpPr/>
          <p:nvPr/>
        </p:nvSpPr>
        <p:spPr>
          <a:xfrm>
            <a:off x="7406640" y="4398264"/>
            <a:ext cx="3749040" cy="493776"/>
          </a:xfrm>
          <a:prstGeom prst="rect">
            <a:avLst/>
          </a:prstGeom>
          <a:noFill/>
          <a:ln/>
        </p:spPr>
        <p:txBody>
          <a:bodyPr wrap="square" rtlCol="0" anchor="ctr"/>
          <a:lstStyle/>
          <a:p>
            <a:pPr indent="0" marL="0">
              <a:buNone/>
            </a:pPr>
            <a:r>
              <a:rPr lang="en-US" sz="850" dirty="0">
                <a:solidFill>
                  <a:srgbClr val="94A3B8"/>
                </a:solidFill>
              </a:rPr>
              <a:t>Full-text deep search across enterprise repositories with attachment &amp; voice query support.</a:t>
            </a:r>
            <a:endParaRPr lang="en-US" sz="850" dirty="0"/>
          </a:p>
        </p:txBody>
      </p:sp>
      <p:sp>
        <p:nvSpPr>
          <p:cNvPr id="24" name="Shape 21"/>
          <p:cNvSpPr/>
          <p:nvPr/>
        </p:nvSpPr>
        <p:spPr>
          <a:xfrm>
            <a:off x="7315200" y="5038344"/>
            <a:ext cx="3931920" cy="841248"/>
          </a:xfrm>
          <a:prstGeom prst="roundRect">
            <a:avLst>
              <a:gd name="adj" fmla="val 8696"/>
            </a:avLst>
          </a:prstGeom>
          <a:solidFill>
            <a:srgbClr val="121F42"/>
          </a:solidFill>
          <a:ln w="10160">
            <a:solidFill>
              <a:srgbClr val="1E3264"/>
            </a:solidFill>
            <a:prstDash val="solid"/>
          </a:ln>
        </p:spPr>
      </p:sp>
      <p:sp>
        <p:nvSpPr>
          <p:cNvPr id="25" name="Text 22"/>
          <p:cNvSpPr/>
          <p:nvPr/>
        </p:nvSpPr>
        <p:spPr>
          <a:xfrm>
            <a:off x="7406640" y="5111496"/>
            <a:ext cx="3749040" cy="228600"/>
          </a:xfrm>
          <a:prstGeom prst="rect">
            <a:avLst/>
          </a:prstGeom>
          <a:noFill/>
          <a:ln/>
        </p:spPr>
        <p:txBody>
          <a:bodyPr wrap="square" rtlCol="0" anchor="ctr"/>
          <a:lstStyle/>
          <a:p>
            <a:pPr indent="0" marL="0">
              <a:buNone/>
            </a:pPr>
            <a:r>
              <a:rPr lang="en-US" sz="950" b="1" dirty="0">
                <a:solidFill>
                  <a:srgbClr val="FFFFFF"/>
                </a:solidFill>
              </a:rPr>
              <a:t>✦ LLaMA 3.1 8B Model Engine</a:t>
            </a:r>
            <a:endParaRPr lang="en-US" sz="950" dirty="0"/>
          </a:p>
        </p:txBody>
      </p:sp>
      <p:sp>
        <p:nvSpPr>
          <p:cNvPr id="26" name="Text 23"/>
          <p:cNvSpPr/>
          <p:nvPr/>
        </p:nvSpPr>
        <p:spPr>
          <a:xfrm>
            <a:off x="7406640" y="5330952"/>
            <a:ext cx="3749040" cy="493776"/>
          </a:xfrm>
          <a:prstGeom prst="rect">
            <a:avLst/>
          </a:prstGeom>
          <a:noFill/>
          <a:ln/>
        </p:spPr>
        <p:txBody>
          <a:bodyPr wrap="square" rtlCol="0" anchor="ctr"/>
          <a:lstStyle/>
          <a:p>
            <a:pPr indent="0" marL="0">
              <a:buNone/>
            </a:pPr>
            <a:r>
              <a:rPr lang="en-US" sz="850" dirty="0">
                <a:solidFill>
                  <a:srgbClr val="94A3B8"/>
                </a:solidFill>
              </a:rPr>
              <a:t>High-speed local inference with active session persistence and prompt template libraries.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D1E"/>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F2FE"/>
          </a:solidFill>
          <a:ln/>
        </p:spPr>
      </p:sp>
      <p:sp>
        <p:nvSpPr>
          <p:cNvPr id="3" name="Shape 1"/>
          <p:cNvSpPr/>
          <p:nvPr/>
        </p:nvSpPr>
        <p:spPr>
          <a:xfrm>
            <a:off x="731520" y="347472"/>
            <a:ext cx="2560320" cy="274320"/>
          </a:xfrm>
          <a:prstGeom prst="roundRect">
            <a:avLst>
              <a:gd name="adj" fmla="val 26667"/>
            </a:avLst>
          </a:prstGeom>
          <a:solidFill>
            <a:srgbClr val="0E1834"/>
          </a:solidFill>
          <a:ln w="12700">
            <a:solidFill>
              <a:srgbClr val="00F2FE"/>
            </a:solidFill>
            <a:prstDash val="solid"/>
          </a:ln>
        </p:spPr>
      </p:sp>
      <p:sp>
        <p:nvSpPr>
          <p:cNvPr id="4" name="Text 2"/>
          <p:cNvSpPr/>
          <p:nvPr/>
        </p:nvSpPr>
        <p:spPr>
          <a:xfrm>
            <a:off x="731520" y="347472"/>
            <a:ext cx="2560320" cy="274320"/>
          </a:xfrm>
          <a:prstGeom prst="rect">
            <a:avLst/>
          </a:prstGeom>
          <a:noFill/>
          <a:ln/>
        </p:spPr>
        <p:txBody>
          <a:bodyPr wrap="square" rtlCol="0" anchor="ctr"/>
          <a:lstStyle/>
          <a:p>
            <a:pPr algn="ctr" indent="0" marL="0">
              <a:buNone/>
            </a:pPr>
            <a:r>
              <a:rPr lang="en-US" sz="900" b="1" dirty="0">
                <a:solidFill>
                  <a:srgbClr val="00F2FE"/>
                </a:solidFill>
                <a:latin typeface="Arial" pitchFamily="34" charset="0"/>
                <a:ea typeface="Arial" pitchFamily="34" charset="-122"/>
                <a:cs typeface="Arial" pitchFamily="34" charset="-120"/>
              </a:rPr>
              <a:t>DATABASE DESIGN</a:t>
            </a:r>
            <a:endParaRPr lang="en-US" sz="900" dirty="0"/>
          </a:p>
        </p:txBody>
      </p:sp>
      <p:sp>
        <p:nvSpPr>
          <p:cNvPr id="5" name="Text 3"/>
          <p:cNvSpPr/>
          <p:nvPr/>
        </p:nvSpPr>
        <p:spPr>
          <a:xfrm>
            <a:off x="731520" y="676656"/>
            <a:ext cx="10698480" cy="502920"/>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Database Architecture: ChromaDB Vector Store &amp; Relational Schemas</a:t>
            </a:r>
            <a:endParaRPr lang="en-US" sz="2100" dirty="0"/>
          </a:p>
        </p:txBody>
      </p:sp>
      <p:sp>
        <p:nvSpPr>
          <p:cNvPr id="6" name="Text 4"/>
          <p:cNvSpPr/>
          <p:nvPr/>
        </p:nvSpPr>
        <p:spPr>
          <a:xfrm>
            <a:off x="731520" y="1170432"/>
            <a:ext cx="10698480" cy="292608"/>
          </a:xfrm>
          <a:prstGeom prst="rect">
            <a:avLst/>
          </a:prstGeom>
          <a:noFill/>
          <a:ln/>
        </p:spPr>
        <p:txBody>
          <a:bodyPr wrap="square" rtlCol="0" anchor="ctr"/>
          <a:lstStyle/>
          <a:p>
            <a:pPr indent="0" marL="0">
              <a:buNone/>
            </a:pPr>
            <a:r>
              <a:rPr lang="en-US" sz="1150" dirty="0">
                <a:solidFill>
                  <a:srgbClr val="94A3B8"/>
                </a:solidFill>
                <a:latin typeface="Arial" pitchFamily="34" charset="0"/>
                <a:ea typeface="Arial" pitchFamily="34" charset="-122"/>
                <a:cs typeface="Arial" pitchFamily="34" charset="-120"/>
              </a:rPr>
              <a:t>Dual-database strategy: High-dimensional vector index for similarity search + Relational DB for metadata &amp; auditing</a:t>
            </a:r>
            <a:endParaRPr lang="en-US" sz="1150" dirty="0"/>
          </a:p>
        </p:txBody>
      </p:sp>
      <p:sp>
        <p:nvSpPr>
          <p:cNvPr id="7" name="Shape 5"/>
          <p:cNvSpPr/>
          <p:nvPr/>
        </p:nvSpPr>
        <p:spPr>
          <a:xfrm>
            <a:off x="731520" y="6400800"/>
            <a:ext cx="10698480" cy="18288"/>
          </a:xfrm>
          <a:prstGeom prst="rect">
            <a:avLst/>
          </a:prstGeom>
          <a:solidFill>
            <a:srgbClr val="1E3264"/>
          </a:solidFill>
          <a:ln/>
        </p:spPr>
      </p:sp>
      <p:sp>
        <p:nvSpPr>
          <p:cNvPr id="8" name="Text 6"/>
          <p:cNvSpPr/>
          <p:nvPr/>
        </p:nvSpPr>
        <p:spPr>
          <a:xfrm>
            <a:off x="731520" y="6446520"/>
            <a:ext cx="73152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LEINA • Local SOP RAG Architecture | Larsen &amp; Toubro Enterprise AI</a:t>
            </a:r>
            <a:endParaRPr lang="en-US" sz="850" dirty="0"/>
          </a:p>
        </p:txBody>
      </p:sp>
      <p:sp>
        <p:nvSpPr>
          <p:cNvPr id="9" name="Text 7"/>
          <p:cNvSpPr/>
          <p:nvPr/>
        </p:nvSpPr>
        <p:spPr>
          <a:xfrm>
            <a:off x="8686800" y="6446520"/>
            <a:ext cx="2743200" cy="274320"/>
          </a:xfrm>
          <a:prstGeom prst="rect">
            <a:avLst/>
          </a:prstGeom>
          <a:noFill/>
          <a:ln/>
        </p:spPr>
        <p:txBody>
          <a:bodyPr wrap="square" rtlCol="0" anchor="ctr"/>
          <a:lstStyle/>
          <a:p>
            <a:pPr algn="r" indent="0" marL="0">
              <a:buNone/>
            </a:pPr>
            <a:r>
              <a:rPr lang="en-US" sz="850" b="1" dirty="0">
                <a:solidFill>
                  <a:srgbClr val="00F2FE"/>
                </a:solidFill>
                <a:latin typeface="Arial" pitchFamily="34" charset="0"/>
                <a:ea typeface="Arial" pitchFamily="34" charset="-122"/>
                <a:cs typeface="Arial" pitchFamily="34" charset="-120"/>
              </a:rPr>
              <a:t>CONFIDENTIAL &amp; PROPRIETARY</a:t>
            </a:r>
            <a:endParaRPr lang="en-US" sz="850" dirty="0"/>
          </a:p>
        </p:txBody>
      </p:sp>
      <p:sp>
        <p:nvSpPr>
          <p:cNvPr id="10" name="Shape 8"/>
          <p:cNvSpPr/>
          <p:nvPr/>
        </p:nvSpPr>
        <p:spPr>
          <a:xfrm>
            <a:off x="731520" y="1600200"/>
            <a:ext cx="5166360" cy="4526280"/>
          </a:xfrm>
          <a:prstGeom prst="roundRect">
            <a:avLst>
              <a:gd name="adj" fmla="val 2424"/>
            </a:avLst>
          </a:prstGeom>
          <a:solidFill>
            <a:srgbClr val="0E1834"/>
          </a:solidFill>
          <a:ln w="15240">
            <a:solidFill>
              <a:srgbClr val="00F2FE"/>
            </a:solidFill>
            <a:prstDash val="solid"/>
          </a:ln>
        </p:spPr>
      </p:sp>
      <p:sp>
        <p:nvSpPr>
          <p:cNvPr id="11" name="Shape 9"/>
          <p:cNvSpPr/>
          <p:nvPr/>
        </p:nvSpPr>
        <p:spPr>
          <a:xfrm>
            <a:off x="960120" y="1783080"/>
            <a:ext cx="4709160" cy="347472"/>
          </a:xfrm>
          <a:prstGeom prst="roundRect">
            <a:avLst>
              <a:gd name="adj" fmla="val 21053"/>
            </a:avLst>
          </a:prstGeom>
          <a:solidFill>
            <a:srgbClr val="182958"/>
          </a:solidFill>
          <a:ln w="10160">
            <a:solidFill>
              <a:srgbClr val="00F2FE"/>
            </a:solidFill>
            <a:prstDash val="solid"/>
          </a:ln>
        </p:spPr>
      </p:sp>
      <p:sp>
        <p:nvSpPr>
          <p:cNvPr id="12" name="Text 10"/>
          <p:cNvSpPr/>
          <p:nvPr/>
        </p:nvSpPr>
        <p:spPr>
          <a:xfrm>
            <a:off x="960120" y="1783080"/>
            <a:ext cx="4709160" cy="347472"/>
          </a:xfrm>
          <a:prstGeom prst="rect">
            <a:avLst/>
          </a:prstGeom>
          <a:noFill/>
          <a:ln/>
        </p:spPr>
        <p:txBody>
          <a:bodyPr wrap="square" rtlCol="0" anchor="ctr"/>
          <a:lstStyle/>
          <a:p>
            <a:pPr algn="ctr" indent="0" marL="0">
              <a:buNone/>
            </a:pPr>
            <a:r>
              <a:rPr lang="en-US" sz="1000" b="1" dirty="0">
                <a:solidFill>
                  <a:srgbClr val="00F2FE"/>
                </a:solidFill>
              </a:rPr>
              <a:t>1. VECTOR DATABASE: CHROMADB (HNSW)</a:t>
            </a:r>
            <a:endParaRPr lang="en-US" sz="1000" dirty="0"/>
          </a:p>
        </p:txBody>
      </p:sp>
      <p:sp>
        <p:nvSpPr>
          <p:cNvPr id="13" name="Shape 11"/>
          <p:cNvSpPr/>
          <p:nvPr/>
        </p:nvSpPr>
        <p:spPr>
          <a:xfrm>
            <a:off x="960120" y="2240280"/>
            <a:ext cx="4709160" cy="676656"/>
          </a:xfrm>
          <a:prstGeom prst="roundRect">
            <a:avLst>
              <a:gd name="adj" fmla="val 10811"/>
            </a:avLst>
          </a:prstGeom>
          <a:solidFill>
            <a:srgbClr val="121F42"/>
          </a:solidFill>
          <a:ln w="10160">
            <a:solidFill>
              <a:srgbClr val="1E3264"/>
            </a:solidFill>
            <a:prstDash val="solid"/>
          </a:ln>
        </p:spPr>
      </p:sp>
      <p:sp>
        <p:nvSpPr>
          <p:cNvPr id="14" name="Text 12"/>
          <p:cNvSpPr/>
          <p:nvPr/>
        </p:nvSpPr>
        <p:spPr>
          <a:xfrm>
            <a:off x="1097280" y="2313432"/>
            <a:ext cx="4434840" cy="201168"/>
          </a:xfrm>
          <a:prstGeom prst="rect">
            <a:avLst/>
          </a:prstGeom>
          <a:noFill/>
          <a:ln/>
        </p:spPr>
        <p:txBody>
          <a:bodyPr wrap="square" rtlCol="0" anchor="ctr"/>
          <a:lstStyle/>
          <a:p>
            <a:pPr indent="0" marL="0">
              <a:buNone/>
            </a:pPr>
            <a:r>
              <a:rPr lang="en-US" sz="950" b="1" dirty="0">
                <a:solidFill>
                  <a:srgbClr val="FFFFFF"/>
                </a:solidFill>
              </a:rPr>
              <a:t>• Collection Name:</a:t>
            </a:r>
            <a:endParaRPr lang="en-US" sz="950" dirty="0"/>
          </a:p>
        </p:txBody>
      </p:sp>
      <p:sp>
        <p:nvSpPr>
          <p:cNvPr id="15" name="Text 13"/>
          <p:cNvSpPr/>
          <p:nvPr/>
        </p:nvSpPr>
        <p:spPr>
          <a:xfrm>
            <a:off x="1234440" y="2514600"/>
            <a:ext cx="4297680" cy="347472"/>
          </a:xfrm>
          <a:prstGeom prst="rect">
            <a:avLst/>
          </a:prstGeom>
          <a:noFill/>
          <a:ln/>
        </p:spPr>
        <p:txBody>
          <a:bodyPr wrap="square" rtlCol="0" anchor="ctr"/>
          <a:lstStyle/>
          <a:p>
            <a:pPr indent="0" marL="0">
              <a:buNone/>
            </a:pPr>
            <a:r>
              <a:rPr lang="en-US" sz="850" dirty="0">
                <a:solidFill>
                  <a:srgbClr val="E2E8F0"/>
                </a:solidFill>
              </a:rPr>
              <a:t>sop_documents (persistent file-based storage)</a:t>
            </a:r>
            <a:endParaRPr lang="en-US" sz="850" dirty="0"/>
          </a:p>
        </p:txBody>
      </p:sp>
      <p:sp>
        <p:nvSpPr>
          <p:cNvPr id="16" name="Shape 14"/>
          <p:cNvSpPr/>
          <p:nvPr/>
        </p:nvSpPr>
        <p:spPr>
          <a:xfrm>
            <a:off x="960120" y="2990088"/>
            <a:ext cx="4709160" cy="676656"/>
          </a:xfrm>
          <a:prstGeom prst="roundRect">
            <a:avLst>
              <a:gd name="adj" fmla="val 10811"/>
            </a:avLst>
          </a:prstGeom>
          <a:solidFill>
            <a:srgbClr val="121F42"/>
          </a:solidFill>
          <a:ln w="10160">
            <a:solidFill>
              <a:srgbClr val="1E3264"/>
            </a:solidFill>
            <a:prstDash val="solid"/>
          </a:ln>
        </p:spPr>
      </p:sp>
      <p:sp>
        <p:nvSpPr>
          <p:cNvPr id="17" name="Text 15"/>
          <p:cNvSpPr/>
          <p:nvPr/>
        </p:nvSpPr>
        <p:spPr>
          <a:xfrm>
            <a:off x="1097280" y="3063240"/>
            <a:ext cx="4434840" cy="201168"/>
          </a:xfrm>
          <a:prstGeom prst="rect">
            <a:avLst/>
          </a:prstGeom>
          <a:noFill/>
          <a:ln/>
        </p:spPr>
        <p:txBody>
          <a:bodyPr wrap="square" rtlCol="0" anchor="ctr"/>
          <a:lstStyle/>
          <a:p>
            <a:pPr indent="0" marL="0">
              <a:buNone/>
            </a:pPr>
            <a:r>
              <a:rPr lang="en-US" sz="950" b="1" dirty="0">
                <a:solidFill>
                  <a:srgbClr val="FFFFFF"/>
                </a:solidFill>
              </a:rPr>
              <a:t>• Distance Metric:</a:t>
            </a:r>
            <a:endParaRPr lang="en-US" sz="950" dirty="0"/>
          </a:p>
        </p:txBody>
      </p:sp>
      <p:sp>
        <p:nvSpPr>
          <p:cNvPr id="18" name="Text 16"/>
          <p:cNvSpPr/>
          <p:nvPr/>
        </p:nvSpPr>
        <p:spPr>
          <a:xfrm>
            <a:off x="1234440" y="3264408"/>
            <a:ext cx="4297680" cy="347472"/>
          </a:xfrm>
          <a:prstGeom prst="rect">
            <a:avLst/>
          </a:prstGeom>
          <a:noFill/>
          <a:ln/>
        </p:spPr>
        <p:txBody>
          <a:bodyPr wrap="square" rtlCol="0" anchor="ctr"/>
          <a:lstStyle/>
          <a:p>
            <a:pPr indent="0" marL="0">
              <a:buNone/>
            </a:pPr>
            <a:r>
              <a:rPr lang="en-US" sz="850" dirty="0">
                <a:solidFill>
                  <a:srgbClr val="E2E8F0"/>
                </a:solidFill>
              </a:rPr>
              <a:t>Cosine Space ("hnsw:space": "cosine")</a:t>
            </a:r>
            <a:endParaRPr lang="en-US" sz="850" dirty="0"/>
          </a:p>
        </p:txBody>
      </p:sp>
      <p:sp>
        <p:nvSpPr>
          <p:cNvPr id="19" name="Shape 17"/>
          <p:cNvSpPr/>
          <p:nvPr/>
        </p:nvSpPr>
        <p:spPr>
          <a:xfrm>
            <a:off x="960120" y="3739896"/>
            <a:ext cx="4709160" cy="676656"/>
          </a:xfrm>
          <a:prstGeom prst="roundRect">
            <a:avLst>
              <a:gd name="adj" fmla="val 10811"/>
            </a:avLst>
          </a:prstGeom>
          <a:solidFill>
            <a:srgbClr val="121F42"/>
          </a:solidFill>
          <a:ln w="10160">
            <a:solidFill>
              <a:srgbClr val="1E3264"/>
            </a:solidFill>
            <a:prstDash val="solid"/>
          </a:ln>
        </p:spPr>
      </p:sp>
      <p:sp>
        <p:nvSpPr>
          <p:cNvPr id="20" name="Text 18"/>
          <p:cNvSpPr/>
          <p:nvPr/>
        </p:nvSpPr>
        <p:spPr>
          <a:xfrm>
            <a:off x="1097280" y="3813048"/>
            <a:ext cx="4434840" cy="201168"/>
          </a:xfrm>
          <a:prstGeom prst="rect">
            <a:avLst/>
          </a:prstGeom>
          <a:noFill/>
          <a:ln/>
        </p:spPr>
        <p:txBody>
          <a:bodyPr wrap="square" rtlCol="0" anchor="ctr"/>
          <a:lstStyle/>
          <a:p>
            <a:pPr indent="0" marL="0">
              <a:buNone/>
            </a:pPr>
            <a:r>
              <a:rPr lang="en-US" sz="950" b="1" dirty="0">
                <a:solidFill>
                  <a:srgbClr val="FFFFFF"/>
                </a:solidFill>
              </a:rPr>
              <a:t>• Index Algorithm:</a:t>
            </a:r>
            <a:endParaRPr lang="en-US" sz="950" dirty="0"/>
          </a:p>
        </p:txBody>
      </p:sp>
      <p:sp>
        <p:nvSpPr>
          <p:cNvPr id="21" name="Text 19"/>
          <p:cNvSpPr/>
          <p:nvPr/>
        </p:nvSpPr>
        <p:spPr>
          <a:xfrm>
            <a:off x="1234440" y="4014216"/>
            <a:ext cx="4297680" cy="347472"/>
          </a:xfrm>
          <a:prstGeom prst="rect">
            <a:avLst/>
          </a:prstGeom>
          <a:noFill/>
          <a:ln/>
        </p:spPr>
        <p:txBody>
          <a:bodyPr wrap="square" rtlCol="0" anchor="ctr"/>
          <a:lstStyle/>
          <a:p>
            <a:pPr indent="0" marL="0">
              <a:buNone/>
            </a:pPr>
            <a:r>
              <a:rPr lang="en-US" sz="850" dirty="0">
                <a:solidFill>
                  <a:srgbClr val="E2E8F0"/>
                </a:solidFill>
              </a:rPr>
              <a:t>Hierarchical Navigable Small World (HNSW)</a:t>
            </a:r>
            <a:endParaRPr lang="en-US" sz="850" dirty="0"/>
          </a:p>
        </p:txBody>
      </p:sp>
      <p:sp>
        <p:nvSpPr>
          <p:cNvPr id="22" name="Shape 20"/>
          <p:cNvSpPr/>
          <p:nvPr/>
        </p:nvSpPr>
        <p:spPr>
          <a:xfrm>
            <a:off x="960120" y="4489704"/>
            <a:ext cx="4709160" cy="676656"/>
          </a:xfrm>
          <a:prstGeom prst="roundRect">
            <a:avLst>
              <a:gd name="adj" fmla="val 10811"/>
            </a:avLst>
          </a:prstGeom>
          <a:solidFill>
            <a:srgbClr val="121F42"/>
          </a:solidFill>
          <a:ln w="10160">
            <a:solidFill>
              <a:srgbClr val="1E3264"/>
            </a:solidFill>
            <a:prstDash val="solid"/>
          </a:ln>
        </p:spPr>
      </p:sp>
      <p:sp>
        <p:nvSpPr>
          <p:cNvPr id="23" name="Text 21"/>
          <p:cNvSpPr/>
          <p:nvPr/>
        </p:nvSpPr>
        <p:spPr>
          <a:xfrm>
            <a:off x="1097280" y="4562856"/>
            <a:ext cx="4434840" cy="201168"/>
          </a:xfrm>
          <a:prstGeom prst="rect">
            <a:avLst/>
          </a:prstGeom>
          <a:noFill/>
          <a:ln/>
        </p:spPr>
        <p:txBody>
          <a:bodyPr wrap="square" rtlCol="0" anchor="ctr"/>
          <a:lstStyle/>
          <a:p>
            <a:pPr indent="0" marL="0">
              <a:buNone/>
            </a:pPr>
            <a:r>
              <a:rPr lang="en-US" sz="950" b="1" dirty="0">
                <a:solidFill>
                  <a:srgbClr val="FFFFFF"/>
                </a:solidFill>
              </a:rPr>
              <a:t>• Vector Dimensions:</a:t>
            </a:r>
            <a:endParaRPr lang="en-US" sz="950" dirty="0"/>
          </a:p>
        </p:txBody>
      </p:sp>
      <p:sp>
        <p:nvSpPr>
          <p:cNvPr id="24" name="Text 22"/>
          <p:cNvSpPr/>
          <p:nvPr/>
        </p:nvSpPr>
        <p:spPr>
          <a:xfrm>
            <a:off x="1234440" y="4764024"/>
            <a:ext cx="4297680" cy="347472"/>
          </a:xfrm>
          <a:prstGeom prst="rect">
            <a:avLst/>
          </a:prstGeom>
          <a:noFill/>
          <a:ln/>
        </p:spPr>
        <p:txBody>
          <a:bodyPr wrap="square" rtlCol="0" anchor="ctr"/>
          <a:lstStyle/>
          <a:p>
            <a:pPr indent="0" marL="0">
              <a:buNone/>
            </a:pPr>
            <a:r>
              <a:rPr lang="en-US" sz="850" dirty="0">
                <a:solidFill>
                  <a:srgbClr val="E2E8F0"/>
                </a:solidFill>
              </a:rPr>
              <a:t>768 dimensions (nomic-embed-text)</a:t>
            </a:r>
            <a:endParaRPr lang="en-US" sz="850" dirty="0"/>
          </a:p>
        </p:txBody>
      </p:sp>
      <p:sp>
        <p:nvSpPr>
          <p:cNvPr id="25" name="Shape 23"/>
          <p:cNvSpPr/>
          <p:nvPr/>
        </p:nvSpPr>
        <p:spPr>
          <a:xfrm>
            <a:off x="960120" y="5239512"/>
            <a:ext cx="4709160" cy="676656"/>
          </a:xfrm>
          <a:prstGeom prst="roundRect">
            <a:avLst>
              <a:gd name="adj" fmla="val 10811"/>
            </a:avLst>
          </a:prstGeom>
          <a:solidFill>
            <a:srgbClr val="121F42"/>
          </a:solidFill>
          <a:ln w="10160">
            <a:solidFill>
              <a:srgbClr val="1E3264"/>
            </a:solidFill>
            <a:prstDash val="solid"/>
          </a:ln>
        </p:spPr>
      </p:sp>
      <p:sp>
        <p:nvSpPr>
          <p:cNvPr id="26" name="Text 24"/>
          <p:cNvSpPr/>
          <p:nvPr/>
        </p:nvSpPr>
        <p:spPr>
          <a:xfrm>
            <a:off x="1097280" y="5312664"/>
            <a:ext cx="4434840" cy="201168"/>
          </a:xfrm>
          <a:prstGeom prst="rect">
            <a:avLst/>
          </a:prstGeom>
          <a:noFill/>
          <a:ln/>
        </p:spPr>
        <p:txBody>
          <a:bodyPr wrap="square" rtlCol="0" anchor="ctr"/>
          <a:lstStyle/>
          <a:p>
            <a:pPr indent="0" marL="0">
              <a:buNone/>
            </a:pPr>
            <a:r>
              <a:rPr lang="en-US" sz="950" b="1" dirty="0">
                <a:solidFill>
                  <a:srgbClr val="FFFFFF"/>
                </a:solidFill>
              </a:rPr>
              <a:t>• Metadata Payload:</a:t>
            </a:r>
            <a:endParaRPr lang="en-US" sz="950" dirty="0"/>
          </a:p>
        </p:txBody>
      </p:sp>
      <p:sp>
        <p:nvSpPr>
          <p:cNvPr id="27" name="Text 25"/>
          <p:cNvSpPr/>
          <p:nvPr/>
        </p:nvSpPr>
        <p:spPr>
          <a:xfrm>
            <a:off x="1234440" y="5513832"/>
            <a:ext cx="4297680" cy="347472"/>
          </a:xfrm>
          <a:prstGeom prst="rect">
            <a:avLst/>
          </a:prstGeom>
          <a:noFill/>
          <a:ln/>
        </p:spPr>
        <p:txBody>
          <a:bodyPr wrap="square" rtlCol="0" anchor="ctr"/>
          <a:lstStyle/>
          <a:p>
            <a:pPr indent="0" marL="0">
              <a:buNone/>
            </a:pPr>
            <a:r>
              <a:rPr lang="en-US" sz="850" dirty="0">
                <a:solidFill>
                  <a:srgbClr val="E2E8F0"/>
                </a:solidFill>
              </a:rPr>
              <a:t>source_file, heading, chunk_index, category, length</a:t>
            </a:r>
            <a:endParaRPr lang="en-US" sz="850" dirty="0"/>
          </a:p>
        </p:txBody>
      </p:sp>
      <p:sp>
        <p:nvSpPr>
          <p:cNvPr id="28" name="Shape 26"/>
          <p:cNvSpPr/>
          <p:nvPr/>
        </p:nvSpPr>
        <p:spPr>
          <a:xfrm>
            <a:off x="6263640" y="1600200"/>
            <a:ext cx="5166360" cy="4526280"/>
          </a:xfrm>
          <a:prstGeom prst="roundRect">
            <a:avLst>
              <a:gd name="adj" fmla="val 2424"/>
            </a:avLst>
          </a:prstGeom>
          <a:solidFill>
            <a:srgbClr val="0E1834"/>
          </a:solidFill>
          <a:ln w="15240">
            <a:solidFill>
              <a:srgbClr val="A855F7"/>
            </a:solidFill>
            <a:prstDash val="solid"/>
          </a:ln>
        </p:spPr>
      </p:sp>
      <p:sp>
        <p:nvSpPr>
          <p:cNvPr id="29" name="Shape 27"/>
          <p:cNvSpPr/>
          <p:nvPr/>
        </p:nvSpPr>
        <p:spPr>
          <a:xfrm>
            <a:off x="6492240" y="1783080"/>
            <a:ext cx="4709160" cy="347472"/>
          </a:xfrm>
          <a:prstGeom prst="roundRect">
            <a:avLst>
              <a:gd name="adj" fmla="val 21053"/>
            </a:avLst>
          </a:prstGeom>
          <a:solidFill>
            <a:srgbClr val="182958"/>
          </a:solidFill>
          <a:ln w="10160">
            <a:solidFill>
              <a:srgbClr val="A855F7"/>
            </a:solidFill>
            <a:prstDash val="solid"/>
          </a:ln>
        </p:spPr>
      </p:sp>
      <p:sp>
        <p:nvSpPr>
          <p:cNvPr id="30" name="Text 28"/>
          <p:cNvSpPr/>
          <p:nvPr/>
        </p:nvSpPr>
        <p:spPr>
          <a:xfrm>
            <a:off x="6492240" y="1783080"/>
            <a:ext cx="4709160" cy="347472"/>
          </a:xfrm>
          <a:prstGeom prst="rect">
            <a:avLst/>
          </a:prstGeom>
          <a:noFill/>
          <a:ln/>
        </p:spPr>
        <p:txBody>
          <a:bodyPr wrap="square" rtlCol="0" anchor="ctr"/>
          <a:lstStyle/>
          <a:p>
            <a:pPr algn="ctr" indent="0" marL="0">
              <a:buNone/>
            </a:pPr>
            <a:r>
              <a:rPr lang="en-US" sz="1000" b="1" dirty="0">
                <a:solidFill>
                  <a:srgbClr val="A855F7"/>
                </a:solidFill>
              </a:rPr>
              <a:t>2. RELATIONAL METADATA DB: SQLITE / MYSQL</a:t>
            </a:r>
            <a:endParaRPr lang="en-US" sz="1000" dirty="0"/>
          </a:p>
        </p:txBody>
      </p:sp>
      <p:sp>
        <p:nvSpPr>
          <p:cNvPr id="31" name="Shape 29"/>
          <p:cNvSpPr/>
          <p:nvPr/>
        </p:nvSpPr>
        <p:spPr>
          <a:xfrm>
            <a:off x="6492240" y="2240280"/>
            <a:ext cx="4709160" cy="841248"/>
          </a:xfrm>
          <a:prstGeom prst="roundRect">
            <a:avLst>
              <a:gd name="adj" fmla="val 8696"/>
            </a:avLst>
          </a:prstGeom>
          <a:solidFill>
            <a:srgbClr val="121F42"/>
          </a:solidFill>
          <a:ln w="10160">
            <a:solidFill>
              <a:srgbClr val="1E3264"/>
            </a:solidFill>
            <a:prstDash val="solid"/>
          </a:ln>
        </p:spPr>
      </p:sp>
      <p:sp>
        <p:nvSpPr>
          <p:cNvPr id="32" name="Text 30"/>
          <p:cNvSpPr/>
          <p:nvPr/>
        </p:nvSpPr>
        <p:spPr>
          <a:xfrm>
            <a:off x="6629400" y="2313432"/>
            <a:ext cx="4434840" cy="228600"/>
          </a:xfrm>
          <a:prstGeom prst="rect">
            <a:avLst/>
          </a:prstGeom>
          <a:noFill/>
          <a:ln/>
        </p:spPr>
        <p:txBody>
          <a:bodyPr wrap="square" rtlCol="0" anchor="ctr"/>
          <a:lstStyle/>
          <a:p>
            <a:pPr indent="0" marL="0">
              <a:buNone/>
            </a:pPr>
            <a:r>
              <a:rPr lang="en-US" sz="1000" b="1" dirty="0">
                <a:solidFill>
                  <a:srgbClr val="10B981"/>
                </a:solidFill>
              </a:rPr>
              <a:t>Table: sops</a:t>
            </a:r>
            <a:endParaRPr lang="en-US" sz="1000" dirty="0"/>
          </a:p>
        </p:txBody>
      </p:sp>
      <p:sp>
        <p:nvSpPr>
          <p:cNvPr id="33" name="Text 31"/>
          <p:cNvSpPr/>
          <p:nvPr/>
        </p:nvSpPr>
        <p:spPr>
          <a:xfrm>
            <a:off x="6629400" y="2542032"/>
            <a:ext cx="4434840" cy="475488"/>
          </a:xfrm>
          <a:prstGeom prst="rect">
            <a:avLst/>
          </a:prstGeom>
          <a:noFill/>
          <a:ln/>
        </p:spPr>
        <p:txBody>
          <a:bodyPr wrap="square" rtlCol="0" anchor="ctr"/>
          <a:lstStyle/>
          <a:p>
            <a:pPr indent="0" marL="0">
              <a:buNone/>
            </a:pPr>
            <a:r>
              <a:rPr lang="en-US" sz="850" dirty="0">
                <a:solidFill>
                  <a:srgbClr val="E2E8F0"/>
                </a:solidFill>
              </a:rPr>
              <a:t>Columns: id, title, filename, category, content, chunk_count, created_at</a:t>
            </a:r>
            <a:endParaRPr lang="en-US" sz="850" dirty="0"/>
          </a:p>
        </p:txBody>
      </p:sp>
      <p:sp>
        <p:nvSpPr>
          <p:cNvPr id="34" name="Shape 32"/>
          <p:cNvSpPr/>
          <p:nvPr/>
        </p:nvSpPr>
        <p:spPr>
          <a:xfrm>
            <a:off x="6492240" y="3172968"/>
            <a:ext cx="4709160" cy="841248"/>
          </a:xfrm>
          <a:prstGeom prst="roundRect">
            <a:avLst>
              <a:gd name="adj" fmla="val 8696"/>
            </a:avLst>
          </a:prstGeom>
          <a:solidFill>
            <a:srgbClr val="121F42"/>
          </a:solidFill>
          <a:ln w="10160">
            <a:solidFill>
              <a:srgbClr val="1E3264"/>
            </a:solidFill>
            <a:prstDash val="solid"/>
          </a:ln>
        </p:spPr>
      </p:sp>
      <p:sp>
        <p:nvSpPr>
          <p:cNvPr id="35" name="Text 33"/>
          <p:cNvSpPr/>
          <p:nvPr/>
        </p:nvSpPr>
        <p:spPr>
          <a:xfrm>
            <a:off x="6629400" y="3246120"/>
            <a:ext cx="4434840" cy="228600"/>
          </a:xfrm>
          <a:prstGeom prst="rect">
            <a:avLst/>
          </a:prstGeom>
          <a:noFill/>
          <a:ln/>
        </p:spPr>
        <p:txBody>
          <a:bodyPr wrap="square" rtlCol="0" anchor="ctr"/>
          <a:lstStyle/>
          <a:p>
            <a:pPr indent="0" marL="0">
              <a:buNone/>
            </a:pPr>
            <a:r>
              <a:rPr lang="en-US" sz="1000" b="1" dirty="0">
                <a:solidFill>
                  <a:srgbClr val="10B981"/>
                </a:solidFill>
              </a:rPr>
              <a:t>Table: chat_sessions</a:t>
            </a:r>
            <a:endParaRPr lang="en-US" sz="1000" dirty="0"/>
          </a:p>
        </p:txBody>
      </p:sp>
      <p:sp>
        <p:nvSpPr>
          <p:cNvPr id="36" name="Text 34"/>
          <p:cNvSpPr/>
          <p:nvPr/>
        </p:nvSpPr>
        <p:spPr>
          <a:xfrm>
            <a:off x="6629400" y="3474720"/>
            <a:ext cx="4434840" cy="475488"/>
          </a:xfrm>
          <a:prstGeom prst="rect">
            <a:avLst/>
          </a:prstGeom>
          <a:noFill/>
          <a:ln/>
        </p:spPr>
        <p:txBody>
          <a:bodyPr wrap="square" rtlCol="0" anchor="ctr"/>
          <a:lstStyle/>
          <a:p>
            <a:pPr indent="0" marL="0">
              <a:buNone/>
            </a:pPr>
            <a:r>
              <a:rPr lang="en-US" sz="850" dirty="0">
                <a:solidFill>
                  <a:srgbClr val="E2E8F0"/>
                </a:solidFill>
              </a:rPr>
              <a:t>Columns: session_id, user_id, title, created_at, last_active</a:t>
            </a:r>
            <a:endParaRPr lang="en-US" sz="850" dirty="0"/>
          </a:p>
        </p:txBody>
      </p:sp>
      <p:sp>
        <p:nvSpPr>
          <p:cNvPr id="37" name="Shape 35"/>
          <p:cNvSpPr/>
          <p:nvPr/>
        </p:nvSpPr>
        <p:spPr>
          <a:xfrm>
            <a:off x="6492240" y="4105656"/>
            <a:ext cx="4709160" cy="841248"/>
          </a:xfrm>
          <a:prstGeom prst="roundRect">
            <a:avLst>
              <a:gd name="adj" fmla="val 8696"/>
            </a:avLst>
          </a:prstGeom>
          <a:solidFill>
            <a:srgbClr val="121F42"/>
          </a:solidFill>
          <a:ln w="10160">
            <a:solidFill>
              <a:srgbClr val="1E3264"/>
            </a:solidFill>
            <a:prstDash val="solid"/>
          </a:ln>
        </p:spPr>
      </p:sp>
      <p:sp>
        <p:nvSpPr>
          <p:cNvPr id="38" name="Text 36"/>
          <p:cNvSpPr/>
          <p:nvPr/>
        </p:nvSpPr>
        <p:spPr>
          <a:xfrm>
            <a:off x="6629400" y="4178808"/>
            <a:ext cx="4434840" cy="228600"/>
          </a:xfrm>
          <a:prstGeom prst="rect">
            <a:avLst/>
          </a:prstGeom>
          <a:noFill/>
          <a:ln/>
        </p:spPr>
        <p:txBody>
          <a:bodyPr wrap="square" rtlCol="0" anchor="ctr"/>
          <a:lstStyle/>
          <a:p>
            <a:pPr indent="0" marL="0">
              <a:buNone/>
            </a:pPr>
            <a:r>
              <a:rPr lang="en-US" sz="1000" b="1" dirty="0">
                <a:solidFill>
                  <a:srgbClr val="10B981"/>
                </a:solidFill>
              </a:rPr>
              <a:t>Table: chat_messages</a:t>
            </a:r>
            <a:endParaRPr lang="en-US" sz="1000" dirty="0"/>
          </a:p>
        </p:txBody>
      </p:sp>
      <p:sp>
        <p:nvSpPr>
          <p:cNvPr id="39" name="Text 37"/>
          <p:cNvSpPr/>
          <p:nvPr/>
        </p:nvSpPr>
        <p:spPr>
          <a:xfrm>
            <a:off x="6629400" y="4407408"/>
            <a:ext cx="4434840" cy="475488"/>
          </a:xfrm>
          <a:prstGeom prst="rect">
            <a:avLst/>
          </a:prstGeom>
          <a:noFill/>
          <a:ln/>
        </p:spPr>
        <p:txBody>
          <a:bodyPr wrap="square" rtlCol="0" anchor="ctr"/>
          <a:lstStyle/>
          <a:p>
            <a:pPr indent="0" marL="0">
              <a:buNone/>
            </a:pPr>
            <a:r>
              <a:rPr lang="en-US" sz="850" dirty="0">
                <a:solidFill>
                  <a:srgbClr val="E2E8F0"/>
                </a:solidFill>
              </a:rPr>
              <a:t>Columns: id, session_id, sender, message, confidence_score, model_used</a:t>
            </a:r>
            <a:endParaRPr lang="en-US" sz="850" dirty="0"/>
          </a:p>
        </p:txBody>
      </p:sp>
      <p:sp>
        <p:nvSpPr>
          <p:cNvPr id="40" name="Shape 38"/>
          <p:cNvSpPr/>
          <p:nvPr/>
        </p:nvSpPr>
        <p:spPr>
          <a:xfrm>
            <a:off x="6492240" y="5038344"/>
            <a:ext cx="4709160" cy="841248"/>
          </a:xfrm>
          <a:prstGeom prst="roundRect">
            <a:avLst>
              <a:gd name="adj" fmla="val 8696"/>
            </a:avLst>
          </a:prstGeom>
          <a:solidFill>
            <a:srgbClr val="121F42"/>
          </a:solidFill>
          <a:ln w="10160">
            <a:solidFill>
              <a:srgbClr val="1E3264"/>
            </a:solidFill>
            <a:prstDash val="solid"/>
          </a:ln>
        </p:spPr>
      </p:sp>
      <p:sp>
        <p:nvSpPr>
          <p:cNvPr id="41" name="Text 39"/>
          <p:cNvSpPr/>
          <p:nvPr/>
        </p:nvSpPr>
        <p:spPr>
          <a:xfrm>
            <a:off x="6629400" y="5111496"/>
            <a:ext cx="4434840" cy="228600"/>
          </a:xfrm>
          <a:prstGeom prst="rect">
            <a:avLst/>
          </a:prstGeom>
          <a:noFill/>
          <a:ln/>
        </p:spPr>
        <p:txBody>
          <a:bodyPr wrap="square" rtlCol="0" anchor="ctr"/>
          <a:lstStyle/>
          <a:p>
            <a:pPr indent="0" marL="0">
              <a:buNone/>
            </a:pPr>
            <a:r>
              <a:rPr lang="en-US" sz="1000" b="1" dirty="0">
                <a:solidFill>
                  <a:srgbClr val="10B981"/>
                </a:solidFill>
              </a:rPr>
              <a:t>Table: uploaded_docs</a:t>
            </a:r>
            <a:endParaRPr lang="en-US" sz="1000" dirty="0"/>
          </a:p>
        </p:txBody>
      </p:sp>
      <p:sp>
        <p:nvSpPr>
          <p:cNvPr id="42" name="Text 40"/>
          <p:cNvSpPr/>
          <p:nvPr/>
        </p:nvSpPr>
        <p:spPr>
          <a:xfrm>
            <a:off x="6629400" y="5340096"/>
            <a:ext cx="4434840" cy="475488"/>
          </a:xfrm>
          <a:prstGeom prst="rect">
            <a:avLst/>
          </a:prstGeom>
          <a:noFill/>
          <a:ln/>
        </p:spPr>
        <p:txBody>
          <a:bodyPr wrap="square" rtlCol="0" anchor="ctr"/>
          <a:lstStyle/>
          <a:p>
            <a:pPr indent="0" marL="0">
              <a:buNone/>
            </a:pPr>
            <a:r>
              <a:rPr lang="en-US" sz="850" dirty="0">
                <a:solidFill>
                  <a:srgbClr val="E2E8F0"/>
                </a:solidFill>
              </a:rPr>
              <a:t>Columns: id, filename, file_type, size_bytes, category, chunk_count, ingested_at</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D1E"/>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F2FE"/>
          </a:solidFill>
          <a:ln/>
        </p:spPr>
      </p:sp>
      <p:sp>
        <p:nvSpPr>
          <p:cNvPr id="3" name="Shape 1"/>
          <p:cNvSpPr/>
          <p:nvPr/>
        </p:nvSpPr>
        <p:spPr>
          <a:xfrm>
            <a:off x="731520" y="347472"/>
            <a:ext cx="2560320" cy="274320"/>
          </a:xfrm>
          <a:prstGeom prst="roundRect">
            <a:avLst>
              <a:gd name="adj" fmla="val 26667"/>
            </a:avLst>
          </a:prstGeom>
          <a:solidFill>
            <a:srgbClr val="0E1834"/>
          </a:solidFill>
          <a:ln w="12700">
            <a:solidFill>
              <a:srgbClr val="00F2FE"/>
            </a:solidFill>
            <a:prstDash val="solid"/>
          </a:ln>
        </p:spPr>
      </p:sp>
      <p:sp>
        <p:nvSpPr>
          <p:cNvPr id="4" name="Text 2"/>
          <p:cNvSpPr/>
          <p:nvPr/>
        </p:nvSpPr>
        <p:spPr>
          <a:xfrm>
            <a:off x="731520" y="347472"/>
            <a:ext cx="2560320" cy="274320"/>
          </a:xfrm>
          <a:prstGeom prst="rect">
            <a:avLst/>
          </a:prstGeom>
          <a:noFill/>
          <a:ln/>
        </p:spPr>
        <p:txBody>
          <a:bodyPr wrap="square" rtlCol="0" anchor="ctr"/>
          <a:lstStyle/>
          <a:p>
            <a:pPr algn="ctr" indent="0" marL="0">
              <a:buNone/>
            </a:pPr>
            <a:r>
              <a:rPr lang="en-US" sz="900" b="1" dirty="0">
                <a:solidFill>
                  <a:srgbClr val="00F2FE"/>
                </a:solidFill>
                <a:latin typeface="Arial" pitchFamily="34" charset="0"/>
                <a:ea typeface="Arial" pitchFamily="34" charset="-122"/>
                <a:cs typeface="Arial" pitchFamily="34" charset="-120"/>
              </a:rPr>
              <a:t>PERFORMANCE &amp; BENCHMARKS</a:t>
            </a:r>
            <a:endParaRPr lang="en-US" sz="900" dirty="0"/>
          </a:p>
        </p:txBody>
      </p:sp>
      <p:sp>
        <p:nvSpPr>
          <p:cNvPr id="5" name="Text 3"/>
          <p:cNvSpPr/>
          <p:nvPr/>
        </p:nvSpPr>
        <p:spPr>
          <a:xfrm>
            <a:off x="731520" y="676656"/>
            <a:ext cx="10698480" cy="502920"/>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Performance Benchmarks, Latency Profile &amp; Hardware Metrics</a:t>
            </a:r>
            <a:endParaRPr lang="en-US" sz="2100" dirty="0"/>
          </a:p>
        </p:txBody>
      </p:sp>
      <p:sp>
        <p:nvSpPr>
          <p:cNvPr id="6" name="Text 4"/>
          <p:cNvSpPr/>
          <p:nvPr/>
        </p:nvSpPr>
        <p:spPr>
          <a:xfrm>
            <a:off x="731520" y="1170432"/>
            <a:ext cx="10698480" cy="292608"/>
          </a:xfrm>
          <a:prstGeom prst="rect">
            <a:avLst/>
          </a:prstGeom>
          <a:noFill/>
          <a:ln/>
        </p:spPr>
        <p:txBody>
          <a:bodyPr wrap="square" rtlCol="0" anchor="ctr"/>
          <a:lstStyle/>
          <a:p>
            <a:pPr indent="0" marL="0">
              <a:buNone/>
            </a:pPr>
            <a:r>
              <a:rPr lang="en-US" sz="1150" dirty="0">
                <a:solidFill>
                  <a:srgbClr val="94A3B8"/>
                </a:solidFill>
                <a:latin typeface="Arial" pitchFamily="34" charset="0"/>
                <a:ea typeface="Arial" pitchFamily="34" charset="-122"/>
                <a:cs typeface="Arial" pitchFamily="34" charset="-120"/>
              </a:rPr>
              <a:t>Empirical latency measurements across retrieval, fusion, and generative inference stages</a:t>
            </a:r>
            <a:endParaRPr lang="en-US" sz="1150" dirty="0"/>
          </a:p>
        </p:txBody>
      </p:sp>
      <p:sp>
        <p:nvSpPr>
          <p:cNvPr id="7" name="Shape 5"/>
          <p:cNvSpPr/>
          <p:nvPr/>
        </p:nvSpPr>
        <p:spPr>
          <a:xfrm>
            <a:off x="731520" y="6400800"/>
            <a:ext cx="10698480" cy="18288"/>
          </a:xfrm>
          <a:prstGeom prst="rect">
            <a:avLst/>
          </a:prstGeom>
          <a:solidFill>
            <a:srgbClr val="1E3264"/>
          </a:solidFill>
          <a:ln/>
        </p:spPr>
      </p:sp>
      <p:sp>
        <p:nvSpPr>
          <p:cNvPr id="8" name="Text 6"/>
          <p:cNvSpPr/>
          <p:nvPr/>
        </p:nvSpPr>
        <p:spPr>
          <a:xfrm>
            <a:off x="731520" y="6446520"/>
            <a:ext cx="73152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LEINA • Local SOP RAG Architecture | Larsen &amp; Toubro Enterprise AI</a:t>
            </a:r>
            <a:endParaRPr lang="en-US" sz="850" dirty="0"/>
          </a:p>
        </p:txBody>
      </p:sp>
      <p:sp>
        <p:nvSpPr>
          <p:cNvPr id="9" name="Text 7"/>
          <p:cNvSpPr/>
          <p:nvPr/>
        </p:nvSpPr>
        <p:spPr>
          <a:xfrm>
            <a:off x="8686800" y="6446520"/>
            <a:ext cx="2743200" cy="274320"/>
          </a:xfrm>
          <a:prstGeom prst="rect">
            <a:avLst/>
          </a:prstGeom>
          <a:noFill/>
          <a:ln/>
        </p:spPr>
        <p:txBody>
          <a:bodyPr wrap="square" rtlCol="0" anchor="ctr"/>
          <a:lstStyle/>
          <a:p>
            <a:pPr algn="r" indent="0" marL="0">
              <a:buNone/>
            </a:pPr>
            <a:r>
              <a:rPr lang="en-US" sz="850" b="1" dirty="0">
                <a:solidFill>
                  <a:srgbClr val="00F2FE"/>
                </a:solidFill>
                <a:latin typeface="Arial" pitchFamily="34" charset="0"/>
                <a:ea typeface="Arial" pitchFamily="34" charset="-122"/>
                <a:cs typeface="Arial" pitchFamily="34" charset="-120"/>
              </a:rPr>
              <a:t>CONFIDENTIAL &amp; PROPRIETARY</a:t>
            </a:r>
            <a:endParaRPr lang="en-US" sz="850" dirty="0"/>
          </a:p>
        </p:txBody>
      </p:sp>
      <p:sp>
        <p:nvSpPr>
          <p:cNvPr id="10" name="Shape 8"/>
          <p:cNvSpPr/>
          <p:nvPr/>
        </p:nvSpPr>
        <p:spPr>
          <a:xfrm>
            <a:off x="731520" y="1600200"/>
            <a:ext cx="2560320" cy="1325880"/>
          </a:xfrm>
          <a:prstGeom prst="roundRect">
            <a:avLst>
              <a:gd name="adj" fmla="val 6897"/>
            </a:avLst>
          </a:prstGeom>
          <a:solidFill>
            <a:srgbClr val="0E1834"/>
          </a:solidFill>
          <a:ln w="15240">
            <a:solidFill>
              <a:srgbClr val="00F2FE"/>
            </a:solidFill>
            <a:prstDash val="solid"/>
          </a:ln>
        </p:spPr>
      </p:sp>
      <p:sp>
        <p:nvSpPr>
          <p:cNvPr id="11" name="Text 9"/>
          <p:cNvSpPr/>
          <p:nvPr/>
        </p:nvSpPr>
        <p:spPr>
          <a:xfrm>
            <a:off x="731520" y="1691640"/>
            <a:ext cx="2560320" cy="502920"/>
          </a:xfrm>
          <a:prstGeom prst="rect">
            <a:avLst/>
          </a:prstGeom>
          <a:noFill/>
          <a:ln/>
        </p:spPr>
        <p:txBody>
          <a:bodyPr wrap="square" rtlCol="0" anchor="ctr"/>
          <a:lstStyle/>
          <a:p>
            <a:pPr algn="ctr" indent="0" marL="0">
              <a:buNone/>
            </a:pPr>
            <a:r>
              <a:rPr lang="en-US" sz="2400" b="1" dirty="0">
                <a:solidFill>
                  <a:srgbClr val="00F2FE"/>
                </a:solidFill>
                <a:latin typeface="Arial" pitchFamily="34" charset="0"/>
                <a:ea typeface="Arial" pitchFamily="34" charset="-122"/>
                <a:cs typeface="Arial" pitchFamily="34" charset="-120"/>
              </a:rPr>
              <a:t>0.38s</a:t>
            </a:r>
            <a:endParaRPr lang="en-US" sz="2400" dirty="0"/>
          </a:p>
        </p:txBody>
      </p:sp>
      <p:sp>
        <p:nvSpPr>
          <p:cNvPr id="12" name="Text 10"/>
          <p:cNvSpPr/>
          <p:nvPr/>
        </p:nvSpPr>
        <p:spPr>
          <a:xfrm>
            <a:off x="731520" y="2212848"/>
            <a:ext cx="2560320" cy="256032"/>
          </a:xfrm>
          <a:prstGeom prst="rect">
            <a:avLst/>
          </a:prstGeom>
          <a:noFill/>
          <a:ln/>
        </p:spPr>
        <p:txBody>
          <a:bodyPr wrap="square" rtlCol="0" anchor="ctr"/>
          <a:lstStyle/>
          <a:p>
            <a:pPr algn="ctr" indent="0" marL="0">
              <a:buNone/>
            </a:pPr>
            <a:r>
              <a:rPr lang="en-US" sz="1000" b="1" dirty="0">
                <a:solidFill>
                  <a:srgbClr val="FFFFFF"/>
                </a:solidFill>
              </a:rPr>
              <a:t>Retrieval Latency</a:t>
            </a:r>
            <a:endParaRPr lang="en-US" sz="1000" dirty="0"/>
          </a:p>
        </p:txBody>
      </p:sp>
      <p:sp>
        <p:nvSpPr>
          <p:cNvPr id="13" name="Text 11"/>
          <p:cNvSpPr/>
          <p:nvPr/>
        </p:nvSpPr>
        <p:spPr>
          <a:xfrm>
            <a:off x="731520" y="2468880"/>
            <a:ext cx="2560320" cy="228600"/>
          </a:xfrm>
          <a:prstGeom prst="rect">
            <a:avLst/>
          </a:prstGeom>
          <a:noFill/>
          <a:ln/>
        </p:spPr>
        <p:txBody>
          <a:bodyPr wrap="square" rtlCol="0" anchor="ctr"/>
          <a:lstStyle/>
          <a:p>
            <a:pPr algn="ctr" indent="0" marL="0">
              <a:buNone/>
            </a:pPr>
            <a:r>
              <a:rPr lang="en-US" sz="800" dirty="0">
                <a:solidFill>
                  <a:srgbClr val="94A3B8"/>
                </a:solidFill>
              </a:rPr>
              <a:t>ChromaDB + BM25 + RRF</a:t>
            </a:r>
            <a:endParaRPr lang="en-US" sz="800" dirty="0"/>
          </a:p>
        </p:txBody>
      </p:sp>
      <p:sp>
        <p:nvSpPr>
          <p:cNvPr id="14" name="Shape 12"/>
          <p:cNvSpPr/>
          <p:nvPr/>
        </p:nvSpPr>
        <p:spPr>
          <a:xfrm>
            <a:off x="3429000" y="1600200"/>
            <a:ext cx="2560320" cy="1325880"/>
          </a:xfrm>
          <a:prstGeom prst="roundRect">
            <a:avLst>
              <a:gd name="adj" fmla="val 6897"/>
            </a:avLst>
          </a:prstGeom>
          <a:solidFill>
            <a:srgbClr val="0E1834"/>
          </a:solidFill>
          <a:ln w="15240">
            <a:solidFill>
              <a:srgbClr val="38BDF8"/>
            </a:solidFill>
            <a:prstDash val="solid"/>
          </a:ln>
        </p:spPr>
      </p:sp>
      <p:sp>
        <p:nvSpPr>
          <p:cNvPr id="15" name="Text 13"/>
          <p:cNvSpPr/>
          <p:nvPr/>
        </p:nvSpPr>
        <p:spPr>
          <a:xfrm>
            <a:off x="3429000" y="1691640"/>
            <a:ext cx="2560320" cy="502920"/>
          </a:xfrm>
          <a:prstGeom prst="rect">
            <a:avLst/>
          </a:prstGeom>
          <a:noFill/>
          <a:ln/>
        </p:spPr>
        <p:txBody>
          <a:bodyPr wrap="square" rtlCol="0" anchor="ctr"/>
          <a:lstStyle/>
          <a:p>
            <a:pPr algn="ctr" indent="0" marL="0">
              <a:buNone/>
            </a:pPr>
            <a:r>
              <a:rPr lang="en-US" sz="2400" b="1" dirty="0">
                <a:solidFill>
                  <a:srgbClr val="38BDF8"/>
                </a:solidFill>
                <a:latin typeface="Arial" pitchFamily="34" charset="0"/>
                <a:ea typeface="Arial" pitchFamily="34" charset="-122"/>
                <a:cs typeface="Arial" pitchFamily="34" charset="-120"/>
              </a:rPr>
              <a:t>3.4s</a:t>
            </a:r>
            <a:endParaRPr lang="en-US" sz="2400" dirty="0"/>
          </a:p>
        </p:txBody>
      </p:sp>
      <p:sp>
        <p:nvSpPr>
          <p:cNvPr id="16" name="Text 14"/>
          <p:cNvSpPr/>
          <p:nvPr/>
        </p:nvSpPr>
        <p:spPr>
          <a:xfrm>
            <a:off x="3429000" y="2212848"/>
            <a:ext cx="2560320" cy="256032"/>
          </a:xfrm>
          <a:prstGeom prst="rect">
            <a:avLst/>
          </a:prstGeom>
          <a:noFill/>
          <a:ln/>
        </p:spPr>
        <p:txBody>
          <a:bodyPr wrap="square" rtlCol="0" anchor="ctr"/>
          <a:lstStyle/>
          <a:p>
            <a:pPr algn="ctr" indent="0" marL="0">
              <a:buNone/>
            </a:pPr>
            <a:r>
              <a:rPr lang="en-US" sz="1000" b="1" dirty="0">
                <a:solidFill>
                  <a:srgbClr val="FFFFFF"/>
                </a:solidFill>
              </a:rPr>
              <a:t>GPU Answer Latency</a:t>
            </a:r>
            <a:endParaRPr lang="en-US" sz="1000" dirty="0"/>
          </a:p>
        </p:txBody>
      </p:sp>
      <p:sp>
        <p:nvSpPr>
          <p:cNvPr id="17" name="Text 15"/>
          <p:cNvSpPr/>
          <p:nvPr/>
        </p:nvSpPr>
        <p:spPr>
          <a:xfrm>
            <a:off x="3429000" y="2468880"/>
            <a:ext cx="2560320" cy="228600"/>
          </a:xfrm>
          <a:prstGeom prst="rect">
            <a:avLst/>
          </a:prstGeom>
          <a:noFill/>
          <a:ln/>
        </p:spPr>
        <p:txBody>
          <a:bodyPr wrap="square" rtlCol="0" anchor="ctr"/>
          <a:lstStyle/>
          <a:p>
            <a:pPr algn="ctr" indent="0" marL="0">
              <a:buNone/>
            </a:pPr>
            <a:r>
              <a:rPr lang="en-US" sz="800" dirty="0">
                <a:solidFill>
                  <a:srgbClr val="94A3B8"/>
                </a:solidFill>
              </a:rPr>
              <a:t>Qwen2.5-VL / LLaMA 8B</a:t>
            </a:r>
            <a:endParaRPr lang="en-US" sz="800" dirty="0"/>
          </a:p>
        </p:txBody>
      </p:sp>
      <p:sp>
        <p:nvSpPr>
          <p:cNvPr id="18" name="Shape 16"/>
          <p:cNvSpPr/>
          <p:nvPr/>
        </p:nvSpPr>
        <p:spPr>
          <a:xfrm>
            <a:off x="6126480" y="1600200"/>
            <a:ext cx="2560320" cy="1325880"/>
          </a:xfrm>
          <a:prstGeom prst="roundRect">
            <a:avLst>
              <a:gd name="adj" fmla="val 6897"/>
            </a:avLst>
          </a:prstGeom>
          <a:solidFill>
            <a:srgbClr val="0E1834"/>
          </a:solidFill>
          <a:ln w="15240">
            <a:solidFill>
              <a:srgbClr val="F59E0B"/>
            </a:solidFill>
            <a:prstDash val="solid"/>
          </a:ln>
        </p:spPr>
      </p:sp>
      <p:sp>
        <p:nvSpPr>
          <p:cNvPr id="19" name="Text 17"/>
          <p:cNvSpPr/>
          <p:nvPr/>
        </p:nvSpPr>
        <p:spPr>
          <a:xfrm>
            <a:off x="6126480" y="1691640"/>
            <a:ext cx="2560320" cy="502920"/>
          </a:xfrm>
          <a:prstGeom prst="rect">
            <a:avLst/>
          </a:prstGeom>
          <a:noFill/>
          <a:ln/>
        </p:spPr>
        <p:txBody>
          <a:bodyPr wrap="square" rtlCol="0" anchor="ctr"/>
          <a:lstStyle/>
          <a:p>
            <a:pPr algn="ctr" indent="0" marL="0">
              <a:buNone/>
            </a:pPr>
            <a:r>
              <a:rPr lang="en-US" sz="2400" b="1" dirty="0">
                <a:solidFill>
                  <a:srgbClr val="F59E0B"/>
                </a:solidFill>
                <a:latin typeface="Arial" pitchFamily="34" charset="0"/>
                <a:ea typeface="Arial" pitchFamily="34" charset="-122"/>
                <a:cs typeface="Arial" pitchFamily="34" charset="-120"/>
              </a:rPr>
              <a:t>&lt; 0.3s</a:t>
            </a:r>
            <a:endParaRPr lang="en-US" sz="2400" dirty="0"/>
          </a:p>
        </p:txBody>
      </p:sp>
      <p:sp>
        <p:nvSpPr>
          <p:cNvPr id="20" name="Text 18"/>
          <p:cNvSpPr/>
          <p:nvPr/>
        </p:nvSpPr>
        <p:spPr>
          <a:xfrm>
            <a:off x="6126480" y="2212848"/>
            <a:ext cx="2560320" cy="256032"/>
          </a:xfrm>
          <a:prstGeom prst="rect">
            <a:avLst/>
          </a:prstGeom>
          <a:noFill/>
          <a:ln/>
        </p:spPr>
        <p:txBody>
          <a:bodyPr wrap="square" rtlCol="0" anchor="ctr"/>
          <a:lstStyle/>
          <a:p>
            <a:pPr algn="ctr" indent="0" marL="0">
              <a:buNone/>
            </a:pPr>
            <a:r>
              <a:rPr lang="en-US" sz="1000" b="1" dirty="0">
                <a:solidFill>
                  <a:srgbClr val="FFFFFF"/>
                </a:solidFill>
              </a:rPr>
              <a:t>Fallback Bypass</a:t>
            </a:r>
            <a:endParaRPr lang="en-US" sz="1000" dirty="0"/>
          </a:p>
        </p:txBody>
      </p:sp>
      <p:sp>
        <p:nvSpPr>
          <p:cNvPr id="21" name="Text 19"/>
          <p:cNvSpPr/>
          <p:nvPr/>
        </p:nvSpPr>
        <p:spPr>
          <a:xfrm>
            <a:off x="6126480" y="2468880"/>
            <a:ext cx="2560320" cy="228600"/>
          </a:xfrm>
          <a:prstGeom prst="rect">
            <a:avLst/>
          </a:prstGeom>
          <a:noFill/>
          <a:ln/>
        </p:spPr>
        <p:txBody>
          <a:bodyPr wrap="square" rtlCol="0" anchor="ctr"/>
          <a:lstStyle/>
          <a:p>
            <a:pPr algn="ctr" indent="0" marL="0">
              <a:buNone/>
            </a:pPr>
            <a:r>
              <a:rPr lang="en-US" sz="800" dirty="0">
                <a:solidFill>
                  <a:srgbClr val="94A3B8"/>
                </a:solidFill>
              </a:rPr>
              <a:t>Out-of-scope fast reject</a:t>
            </a:r>
            <a:endParaRPr lang="en-US" sz="800" dirty="0"/>
          </a:p>
        </p:txBody>
      </p:sp>
      <p:sp>
        <p:nvSpPr>
          <p:cNvPr id="22" name="Shape 20"/>
          <p:cNvSpPr/>
          <p:nvPr/>
        </p:nvSpPr>
        <p:spPr>
          <a:xfrm>
            <a:off x="8823960" y="1600200"/>
            <a:ext cx="2560320" cy="1325880"/>
          </a:xfrm>
          <a:prstGeom prst="roundRect">
            <a:avLst>
              <a:gd name="adj" fmla="val 6897"/>
            </a:avLst>
          </a:prstGeom>
          <a:solidFill>
            <a:srgbClr val="0E1834"/>
          </a:solidFill>
          <a:ln w="15240">
            <a:solidFill>
              <a:srgbClr val="10B981"/>
            </a:solidFill>
            <a:prstDash val="solid"/>
          </a:ln>
        </p:spPr>
      </p:sp>
      <p:sp>
        <p:nvSpPr>
          <p:cNvPr id="23" name="Text 21"/>
          <p:cNvSpPr/>
          <p:nvPr/>
        </p:nvSpPr>
        <p:spPr>
          <a:xfrm>
            <a:off x="8823960" y="1691640"/>
            <a:ext cx="2560320" cy="502920"/>
          </a:xfrm>
          <a:prstGeom prst="rect">
            <a:avLst/>
          </a:prstGeom>
          <a:noFill/>
          <a:ln/>
        </p:spPr>
        <p:txBody>
          <a:bodyPr wrap="square" rtlCol="0" anchor="ctr"/>
          <a:lstStyle/>
          <a:p>
            <a:pPr algn="ctr" indent="0" marL="0">
              <a:buNone/>
            </a:pPr>
            <a:r>
              <a:rPr lang="en-US" sz="2400" b="1" dirty="0">
                <a:solidFill>
                  <a:srgbClr val="10B981"/>
                </a:solidFill>
                <a:latin typeface="Arial" pitchFamily="34" charset="0"/>
                <a:ea typeface="Arial" pitchFamily="34" charset="-122"/>
                <a:cs typeface="Arial" pitchFamily="34" charset="-120"/>
              </a:rPr>
              <a:t>99.2%</a:t>
            </a:r>
            <a:endParaRPr lang="en-US" sz="2400" dirty="0"/>
          </a:p>
        </p:txBody>
      </p:sp>
      <p:sp>
        <p:nvSpPr>
          <p:cNvPr id="24" name="Text 22"/>
          <p:cNvSpPr/>
          <p:nvPr/>
        </p:nvSpPr>
        <p:spPr>
          <a:xfrm>
            <a:off x="8823960" y="2212848"/>
            <a:ext cx="2560320" cy="256032"/>
          </a:xfrm>
          <a:prstGeom prst="rect">
            <a:avLst/>
          </a:prstGeom>
          <a:noFill/>
          <a:ln/>
        </p:spPr>
        <p:txBody>
          <a:bodyPr wrap="square" rtlCol="0" anchor="ctr"/>
          <a:lstStyle/>
          <a:p>
            <a:pPr algn="ctr" indent="0" marL="0">
              <a:buNone/>
            </a:pPr>
            <a:r>
              <a:rPr lang="en-US" sz="1000" b="1" dirty="0">
                <a:solidFill>
                  <a:srgbClr val="FFFFFF"/>
                </a:solidFill>
              </a:rPr>
              <a:t>Fact Precision</a:t>
            </a:r>
            <a:endParaRPr lang="en-US" sz="1000" dirty="0"/>
          </a:p>
        </p:txBody>
      </p:sp>
      <p:sp>
        <p:nvSpPr>
          <p:cNvPr id="25" name="Text 23"/>
          <p:cNvSpPr/>
          <p:nvPr/>
        </p:nvSpPr>
        <p:spPr>
          <a:xfrm>
            <a:off x="8823960" y="2468880"/>
            <a:ext cx="2560320" cy="228600"/>
          </a:xfrm>
          <a:prstGeom prst="rect">
            <a:avLst/>
          </a:prstGeom>
          <a:noFill/>
          <a:ln/>
        </p:spPr>
        <p:txBody>
          <a:bodyPr wrap="square" rtlCol="0" anchor="ctr"/>
          <a:lstStyle/>
          <a:p>
            <a:pPr algn="ctr" indent="0" marL="0">
              <a:buNone/>
            </a:pPr>
            <a:r>
              <a:rPr lang="en-US" sz="800" dirty="0">
                <a:solidFill>
                  <a:srgbClr val="94A3B8"/>
                </a:solidFill>
              </a:rPr>
              <a:t>Strict citation adherence</a:t>
            </a:r>
            <a:endParaRPr lang="en-US" sz="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3108960"/>
          <a:ext cx="10698480" cy="3017520"/>
        </p:xfrm>
        <a:graphic>
          <a:graphicData uri="http://schemas.openxmlformats.org/drawingml/2006/table">
            <a:tbl>
              <a:tblPr/>
              <a:tblGrid>
                <a:gridCol w="2286000"/>
                <a:gridCol w="4389120"/>
                <a:gridCol w="2011680"/>
                <a:gridCol w="2011680"/>
              </a:tblGrid>
              <a:tr h="502920">
                <a:tc>
                  <a:txBody>
                    <a:bodyPr/>
                    <a:lstStyle/>
                    <a:p>
                      <a:pPr algn="l" indent="0" marL="0">
                        <a:buNone/>
                      </a:pPr>
                      <a:r>
                        <a:rPr lang="en-US" sz="950" b="1" dirty="0">
                          <a:solidFill>
                            <a:srgbClr val="00F2FE"/>
                          </a:solidFill>
                        </a:rPr>
                        <a:t>Pipeline Stage</a:t>
                      </a:r>
                      <a:endParaRPr lang="en-US" sz="950" dirty="0"/>
                    </a:p>
                  </a:txBody>
                  <a:tcPr marL="91440" marR="91440" marT="45720" marB="45720" anchor="ctr">
                    <a:lnL w="6350" cap="flat" cmpd="sng" algn="ctr">
                      <a:solidFill>
                        <a:srgbClr val="1E3264"/>
                      </a:solidFill>
                      <a:prstDash val="solid"/>
                      <a:round/>
                      <a:headEnd type="none" w="med" len="med"/>
                      <a:tailEnd type="none" w="med" len="med"/>
                    </a:lnL>
                    <a:lnR w="6350" cap="flat" cmpd="sng" algn="ctr">
                      <a:solidFill>
                        <a:srgbClr val="1E3264"/>
                      </a:solidFill>
                      <a:prstDash val="solid"/>
                      <a:round/>
                      <a:headEnd type="none" w="med" len="med"/>
                      <a:tailEnd type="none" w="med" len="med"/>
                    </a:lnR>
                    <a:lnT w="6350" cap="flat" cmpd="sng" algn="ctr">
                      <a:solidFill>
                        <a:srgbClr val="1E3264"/>
                      </a:solidFill>
                      <a:prstDash val="solid"/>
                      <a:round/>
                      <a:headEnd type="none" w="med" len="med"/>
                      <a:tailEnd type="none" w="med" len="med"/>
                    </a:lnT>
                    <a:lnB w="6350" cap="flat" cmpd="sng" algn="ctr">
                      <a:solidFill>
                        <a:srgbClr val="1E3264"/>
                      </a:solidFill>
                      <a:prstDash val="solid"/>
                      <a:round/>
                      <a:headEnd type="none" w="med" len="med"/>
                      <a:tailEnd type="none" w="med" len="med"/>
                    </a:lnB>
                    <a:solidFill>
                      <a:srgbClr val="182958"/>
                    </a:solidFill>
                  </a:tcPr>
                </a:tc>
                <a:tc>
                  <a:txBody>
                    <a:bodyPr/>
                    <a:lstStyle/>
                    <a:p>
                      <a:pPr algn="l" indent="0" marL="0">
                        <a:buNone/>
                      </a:pPr>
                      <a:r>
                        <a:rPr lang="en-US" sz="950" b="1" dirty="0">
                          <a:solidFill>
                            <a:srgbClr val="00F2FE"/>
                          </a:solidFill>
                        </a:rPr>
                        <a:t>Operation Details</a:t>
                      </a:r>
                      <a:endParaRPr lang="en-US" sz="950" dirty="0"/>
                    </a:p>
                  </a:txBody>
                  <a:tcPr marL="91440" marR="91440" marT="45720" marB="45720" anchor="ctr">
                    <a:lnL w="6350" cap="flat" cmpd="sng" algn="ctr">
                      <a:solidFill>
                        <a:srgbClr val="1E3264"/>
                      </a:solidFill>
                      <a:prstDash val="solid"/>
                      <a:round/>
                      <a:headEnd type="none" w="med" len="med"/>
                      <a:tailEnd type="none" w="med" len="med"/>
                    </a:lnL>
                    <a:lnR w="6350" cap="flat" cmpd="sng" algn="ctr">
                      <a:solidFill>
                        <a:srgbClr val="1E3264"/>
                      </a:solidFill>
                      <a:prstDash val="solid"/>
                      <a:round/>
                      <a:headEnd type="none" w="med" len="med"/>
                      <a:tailEnd type="none" w="med" len="med"/>
                    </a:lnR>
                    <a:lnT w="6350" cap="flat" cmpd="sng" algn="ctr">
                      <a:solidFill>
                        <a:srgbClr val="1E3264"/>
                      </a:solidFill>
                      <a:prstDash val="solid"/>
                      <a:round/>
                      <a:headEnd type="none" w="med" len="med"/>
                      <a:tailEnd type="none" w="med" len="med"/>
                    </a:lnT>
                    <a:lnB w="6350" cap="flat" cmpd="sng" algn="ctr">
                      <a:solidFill>
                        <a:srgbClr val="1E3264"/>
                      </a:solidFill>
                      <a:prstDash val="solid"/>
                      <a:round/>
                      <a:headEnd type="none" w="med" len="med"/>
                      <a:tailEnd type="none" w="med" len="med"/>
                    </a:lnB>
                    <a:solidFill>
                      <a:srgbClr val="182958"/>
                    </a:solidFill>
                  </a:tcPr>
                </a:tc>
                <a:tc>
                  <a:txBody>
                    <a:bodyPr/>
                    <a:lstStyle/>
                    <a:p>
                      <a:pPr algn="l" indent="0" marL="0">
                        <a:buNone/>
                      </a:pPr>
                      <a:r>
                        <a:rPr lang="en-US" sz="950" b="1" dirty="0">
                          <a:solidFill>
                            <a:srgbClr val="00F2FE"/>
                          </a:solidFill>
                        </a:rPr>
                        <a:t>GPU Time (RTX 3060/4060)</a:t>
                      </a:r>
                      <a:endParaRPr lang="en-US" sz="950" dirty="0"/>
                    </a:p>
                  </a:txBody>
                  <a:tcPr marL="91440" marR="91440" marT="45720" marB="45720" anchor="ctr">
                    <a:lnL w="6350" cap="flat" cmpd="sng" algn="ctr">
                      <a:solidFill>
                        <a:srgbClr val="1E3264"/>
                      </a:solidFill>
                      <a:prstDash val="solid"/>
                      <a:round/>
                      <a:headEnd type="none" w="med" len="med"/>
                      <a:tailEnd type="none" w="med" len="med"/>
                    </a:lnL>
                    <a:lnR w="6350" cap="flat" cmpd="sng" algn="ctr">
                      <a:solidFill>
                        <a:srgbClr val="1E3264"/>
                      </a:solidFill>
                      <a:prstDash val="solid"/>
                      <a:round/>
                      <a:headEnd type="none" w="med" len="med"/>
                      <a:tailEnd type="none" w="med" len="med"/>
                    </a:lnR>
                    <a:lnT w="6350" cap="flat" cmpd="sng" algn="ctr">
                      <a:solidFill>
                        <a:srgbClr val="1E3264"/>
                      </a:solidFill>
                      <a:prstDash val="solid"/>
                      <a:round/>
                      <a:headEnd type="none" w="med" len="med"/>
                      <a:tailEnd type="none" w="med" len="med"/>
                    </a:lnT>
                    <a:lnB w="6350" cap="flat" cmpd="sng" algn="ctr">
                      <a:solidFill>
                        <a:srgbClr val="1E3264"/>
                      </a:solidFill>
                      <a:prstDash val="solid"/>
                      <a:round/>
                      <a:headEnd type="none" w="med" len="med"/>
                      <a:tailEnd type="none" w="med" len="med"/>
                    </a:lnB>
                    <a:solidFill>
                      <a:srgbClr val="182958"/>
                    </a:solidFill>
                  </a:tcPr>
                </a:tc>
                <a:tc>
                  <a:txBody>
                    <a:bodyPr/>
                    <a:lstStyle/>
                    <a:p>
                      <a:pPr algn="l" indent="0" marL="0">
                        <a:buNone/>
                      </a:pPr>
                      <a:r>
                        <a:rPr lang="en-US" sz="950" b="1" dirty="0">
                          <a:solidFill>
                            <a:srgbClr val="00F2FE"/>
                          </a:solidFill>
                        </a:rPr>
                        <a:t>CPU-Only Server</a:t>
                      </a:r>
                      <a:endParaRPr lang="en-US" sz="950" dirty="0"/>
                    </a:p>
                  </a:txBody>
                  <a:tcPr marL="91440" marR="91440" marT="45720" marB="45720" anchor="ctr">
                    <a:lnL w="6350" cap="flat" cmpd="sng" algn="ctr">
                      <a:solidFill>
                        <a:srgbClr val="1E3264"/>
                      </a:solidFill>
                      <a:prstDash val="solid"/>
                      <a:round/>
                      <a:headEnd type="none" w="med" len="med"/>
                      <a:tailEnd type="none" w="med" len="med"/>
                    </a:lnL>
                    <a:lnR w="6350" cap="flat" cmpd="sng" algn="ctr">
                      <a:solidFill>
                        <a:srgbClr val="1E3264"/>
                      </a:solidFill>
                      <a:prstDash val="solid"/>
                      <a:round/>
                      <a:headEnd type="none" w="med" len="med"/>
                      <a:tailEnd type="none" w="med" len="med"/>
                    </a:lnR>
                    <a:lnT w="6350" cap="flat" cmpd="sng" algn="ctr">
                      <a:solidFill>
                        <a:srgbClr val="1E3264"/>
                      </a:solidFill>
                      <a:prstDash val="solid"/>
                      <a:round/>
                      <a:headEnd type="none" w="med" len="med"/>
                      <a:tailEnd type="none" w="med" len="med"/>
                    </a:lnT>
                    <a:lnB w="6350" cap="flat" cmpd="sng" algn="ctr">
                      <a:solidFill>
                        <a:srgbClr val="1E3264"/>
                      </a:solidFill>
                      <a:prstDash val="solid"/>
                      <a:round/>
                      <a:headEnd type="none" w="med" len="med"/>
                      <a:tailEnd type="none" w="med" len="med"/>
                    </a:lnB>
                    <a:solidFill>
                      <a:srgbClr val="182958"/>
                    </a:solidFill>
                  </a:tcPr>
                </a:tc>
              </a:tr>
              <a:tr h="502920">
                <a:tc>
                  <a:txBody>
                    <a:bodyPr/>
                    <a:lstStyle/>
                    <a:p>
                      <a:pPr algn="l" indent="0" marL="0">
                        <a:buNone/>
                      </a:pPr>
                      <a:r>
                        <a:rPr lang="en-US" sz="950" dirty="0">
                          <a:solidFill>
                            <a:srgbClr val="FFFFFF"/>
                          </a:solidFill>
                        </a:rPr>
                        <a:t>1. Query Embedding</a:t>
                      </a:r>
                      <a:endParaRPr lang="en-US" sz="950" dirty="0"/>
                    </a:p>
                  </a:txBody>
                  <a:tcPr marL="91440" marR="91440" marT="45720" marB="45720" anchor="ctr">
                    <a:lnL w="6350" cap="flat" cmpd="sng" algn="ctr">
                      <a:solidFill>
                        <a:srgbClr val="1E3264"/>
                      </a:solidFill>
                      <a:prstDash val="solid"/>
                      <a:round/>
                      <a:headEnd type="none" w="med" len="med"/>
                      <a:tailEnd type="none" w="med" len="med"/>
                    </a:lnL>
                    <a:lnR w="6350" cap="flat" cmpd="sng" algn="ctr">
                      <a:solidFill>
                        <a:srgbClr val="1E3264"/>
                      </a:solidFill>
                      <a:prstDash val="solid"/>
                      <a:round/>
                      <a:headEnd type="none" w="med" len="med"/>
                      <a:tailEnd type="none" w="med" len="med"/>
                    </a:lnR>
                    <a:lnT w="6350" cap="flat" cmpd="sng" algn="ctr">
                      <a:solidFill>
                        <a:srgbClr val="1E3264"/>
                      </a:solidFill>
                      <a:prstDash val="solid"/>
                      <a:round/>
                      <a:headEnd type="none" w="med" len="med"/>
                      <a:tailEnd type="none" w="med" len="med"/>
                    </a:lnT>
                    <a:lnB w="6350" cap="flat" cmpd="sng" algn="ctr">
                      <a:solidFill>
                        <a:srgbClr val="1E3264"/>
                      </a:solidFill>
                      <a:prstDash val="solid"/>
                      <a:round/>
                      <a:headEnd type="none" w="med" len="med"/>
                      <a:tailEnd type="none" w="med" len="med"/>
                    </a:lnB>
                    <a:solidFill>
                      <a:srgbClr val="0E1834"/>
                    </a:solidFill>
                  </a:tcPr>
                </a:tc>
                <a:tc>
                  <a:txBody>
                    <a:bodyPr/>
                    <a:lstStyle/>
                    <a:p>
                      <a:pPr algn="l" indent="0" marL="0">
                        <a:buNone/>
                      </a:pPr>
                      <a:r>
                        <a:rPr lang="en-US" sz="950" dirty="0">
                          <a:solidFill>
                            <a:srgbClr val="94A3B8"/>
                          </a:solidFill>
                        </a:rPr>
                        <a:t>nomic-embed-text 768d vector calculation</a:t>
                      </a:r>
                      <a:endParaRPr lang="en-US" sz="950" dirty="0"/>
                    </a:p>
                  </a:txBody>
                  <a:tcPr marL="91440" marR="91440" marT="45720" marB="45720" anchor="ctr">
                    <a:lnL w="6350" cap="flat" cmpd="sng" algn="ctr">
                      <a:solidFill>
                        <a:srgbClr val="1E3264"/>
                      </a:solidFill>
                      <a:prstDash val="solid"/>
                      <a:round/>
                      <a:headEnd type="none" w="med" len="med"/>
                      <a:tailEnd type="none" w="med" len="med"/>
                    </a:lnL>
                    <a:lnR w="6350" cap="flat" cmpd="sng" algn="ctr">
                      <a:solidFill>
                        <a:srgbClr val="1E3264"/>
                      </a:solidFill>
                      <a:prstDash val="solid"/>
                      <a:round/>
                      <a:headEnd type="none" w="med" len="med"/>
                      <a:tailEnd type="none" w="med" len="med"/>
                    </a:lnR>
                    <a:lnT w="6350" cap="flat" cmpd="sng" algn="ctr">
                      <a:solidFill>
                        <a:srgbClr val="1E3264"/>
                      </a:solidFill>
                      <a:prstDash val="solid"/>
                      <a:round/>
                      <a:headEnd type="none" w="med" len="med"/>
                      <a:tailEnd type="none" w="med" len="med"/>
                    </a:lnT>
                    <a:lnB w="6350" cap="flat" cmpd="sng" algn="ctr">
                      <a:solidFill>
                        <a:srgbClr val="1E3264"/>
                      </a:solidFill>
                      <a:prstDash val="solid"/>
                      <a:round/>
                      <a:headEnd type="none" w="med" len="med"/>
                      <a:tailEnd type="none" w="med" len="med"/>
                    </a:lnB>
                    <a:solidFill>
                      <a:srgbClr val="0E1834"/>
                    </a:solidFill>
                  </a:tcPr>
                </a:tc>
                <a:tc>
                  <a:txBody>
                    <a:bodyPr/>
                    <a:lstStyle/>
                    <a:p>
                      <a:pPr algn="l" indent="0" marL="0">
                        <a:buNone/>
                      </a:pPr>
                      <a:r>
                        <a:rPr lang="en-US" sz="950" b="1" dirty="0">
                          <a:solidFill>
                            <a:srgbClr val="10B981"/>
                          </a:solidFill>
                        </a:rPr>
                        <a:t>0.08 s</a:t>
                      </a:r>
                      <a:endParaRPr lang="en-US" sz="950" dirty="0"/>
                    </a:p>
                  </a:txBody>
                  <a:tcPr marL="91440" marR="91440" marT="45720" marB="45720" anchor="ctr">
                    <a:lnL w="6350" cap="flat" cmpd="sng" algn="ctr">
                      <a:solidFill>
                        <a:srgbClr val="1E3264"/>
                      </a:solidFill>
                      <a:prstDash val="solid"/>
                      <a:round/>
                      <a:headEnd type="none" w="med" len="med"/>
                      <a:tailEnd type="none" w="med" len="med"/>
                    </a:lnL>
                    <a:lnR w="6350" cap="flat" cmpd="sng" algn="ctr">
                      <a:solidFill>
                        <a:srgbClr val="1E3264"/>
                      </a:solidFill>
                      <a:prstDash val="solid"/>
                      <a:round/>
                      <a:headEnd type="none" w="med" len="med"/>
                      <a:tailEnd type="none" w="med" len="med"/>
                    </a:lnR>
                    <a:lnT w="6350" cap="flat" cmpd="sng" algn="ctr">
                      <a:solidFill>
                        <a:srgbClr val="1E3264"/>
                      </a:solidFill>
                      <a:prstDash val="solid"/>
                      <a:round/>
                      <a:headEnd type="none" w="med" len="med"/>
                      <a:tailEnd type="none" w="med" len="med"/>
                    </a:lnT>
                    <a:lnB w="6350" cap="flat" cmpd="sng" algn="ctr">
                      <a:solidFill>
                        <a:srgbClr val="1E3264"/>
                      </a:solidFill>
                      <a:prstDash val="solid"/>
                      <a:round/>
                      <a:headEnd type="none" w="med" len="med"/>
                      <a:tailEnd type="none" w="med" len="med"/>
                    </a:lnB>
                    <a:solidFill>
                      <a:srgbClr val="0E1834"/>
                    </a:solidFill>
                  </a:tcPr>
                </a:tc>
                <a:tc>
                  <a:txBody>
                    <a:bodyPr/>
                    <a:lstStyle/>
                    <a:p>
                      <a:pPr algn="l" indent="0" marL="0">
                        <a:buNone/>
                      </a:pPr>
                      <a:r>
                        <a:rPr lang="en-US" sz="950" dirty="0">
                          <a:solidFill>
                            <a:srgbClr val="94A3B8"/>
                          </a:solidFill>
                        </a:rPr>
                        <a:t>0.25 s</a:t>
                      </a:r>
                      <a:endParaRPr lang="en-US" sz="950" dirty="0"/>
                    </a:p>
                  </a:txBody>
                  <a:tcPr marL="91440" marR="91440" marT="45720" marB="45720" anchor="ctr">
                    <a:lnL w="6350" cap="flat" cmpd="sng" algn="ctr">
                      <a:solidFill>
                        <a:srgbClr val="1E3264"/>
                      </a:solidFill>
                      <a:prstDash val="solid"/>
                      <a:round/>
                      <a:headEnd type="none" w="med" len="med"/>
                      <a:tailEnd type="none" w="med" len="med"/>
                    </a:lnL>
                    <a:lnR w="6350" cap="flat" cmpd="sng" algn="ctr">
                      <a:solidFill>
                        <a:srgbClr val="1E3264"/>
                      </a:solidFill>
                      <a:prstDash val="solid"/>
                      <a:round/>
                      <a:headEnd type="none" w="med" len="med"/>
                      <a:tailEnd type="none" w="med" len="med"/>
                    </a:lnR>
                    <a:lnT w="6350" cap="flat" cmpd="sng" algn="ctr">
                      <a:solidFill>
                        <a:srgbClr val="1E3264"/>
                      </a:solidFill>
                      <a:prstDash val="solid"/>
                      <a:round/>
                      <a:headEnd type="none" w="med" len="med"/>
                      <a:tailEnd type="none" w="med" len="med"/>
                    </a:lnT>
                    <a:lnB w="6350" cap="flat" cmpd="sng" algn="ctr">
                      <a:solidFill>
                        <a:srgbClr val="1E3264"/>
                      </a:solidFill>
                      <a:prstDash val="solid"/>
                      <a:round/>
                      <a:headEnd type="none" w="med" len="med"/>
                      <a:tailEnd type="none" w="med" len="med"/>
                    </a:lnB>
                    <a:solidFill>
                      <a:srgbClr val="0E1834"/>
                    </a:solidFill>
                  </a:tcPr>
                </a:tc>
              </a:tr>
              <a:tr h="502920">
                <a:tc>
                  <a:txBody>
                    <a:bodyPr/>
                    <a:lstStyle/>
                    <a:p>
                      <a:pPr algn="l" indent="0" marL="0">
                        <a:buNone/>
                      </a:pPr>
                      <a:r>
                        <a:rPr lang="en-US" sz="950" dirty="0">
                          <a:solidFill>
                            <a:srgbClr val="FFFFFF"/>
                          </a:solidFill>
                        </a:rPr>
                        <a:t>2. Vector Search</a:t>
                      </a:r>
                      <a:endParaRPr lang="en-US" sz="950" dirty="0"/>
                    </a:p>
                  </a:txBody>
                  <a:tcPr marL="91440" marR="91440" marT="45720" marB="45720" anchor="ctr">
                    <a:lnL w="6350" cap="flat" cmpd="sng" algn="ctr">
                      <a:solidFill>
                        <a:srgbClr val="1E3264"/>
                      </a:solidFill>
                      <a:prstDash val="solid"/>
                      <a:round/>
                      <a:headEnd type="none" w="med" len="med"/>
                      <a:tailEnd type="none" w="med" len="med"/>
                    </a:lnL>
                    <a:lnR w="6350" cap="flat" cmpd="sng" algn="ctr">
                      <a:solidFill>
                        <a:srgbClr val="1E3264"/>
                      </a:solidFill>
                      <a:prstDash val="solid"/>
                      <a:round/>
                      <a:headEnd type="none" w="med" len="med"/>
                      <a:tailEnd type="none" w="med" len="med"/>
                    </a:lnR>
                    <a:lnT w="6350" cap="flat" cmpd="sng" algn="ctr">
                      <a:solidFill>
                        <a:srgbClr val="1E3264"/>
                      </a:solidFill>
                      <a:prstDash val="solid"/>
                      <a:round/>
                      <a:headEnd type="none" w="med" len="med"/>
                      <a:tailEnd type="none" w="med" len="med"/>
                    </a:lnT>
                    <a:lnB w="6350" cap="flat" cmpd="sng" algn="ctr">
                      <a:solidFill>
                        <a:srgbClr val="1E3264"/>
                      </a:solidFill>
                      <a:prstDash val="solid"/>
                      <a:round/>
                      <a:headEnd type="none" w="med" len="med"/>
                      <a:tailEnd type="none" w="med" len="med"/>
                    </a:lnB>
                    <a:solidFill>
                      <a:srgbClr val="0E1834"/>
                    </a:solidFill>
                  </a:tcPr>
                </a:tc>
                <a:tc>
                  <a:txBody>
                    <a:bodyPr/>
                    <a:lstStyle/>
                    <a:p>
                      <a:pPr algn="l" indent="0" marL="0">
                        <a:buNone/>
                      </a:pPr>
                      <a:r>
                        <a:rPr lang="en-US" sz="950" dirty="0">
                          <a:solidFill>
                            <a:srgbClr val="94A3B8"/>
                          </a:solidFill>
                        </a:rPr>
                        <a:t>ChromaDB HNSW cosine search (top 15)</a:t>
                      </a:r>
                      <a:endParaRPr lang="en-US" sz="950" dirty="0"/>
                    </a:p>
                  </a:txBody>
                  <a:tcPr marL="91440" marR="91440" marT="45720" marB="45720" anchor="ctr">
                    <a:lnL w="6350" cap="flat" cmpd="sng" algn="ctr">
                      <a:solidFill>
                        <a:srgbClr val="1E3264"/>
                      </a:solidFill>
                      <a:prstDash val="solid"/>
                      <a:round/>
                      <a:headEnd type="none" w="med" len="med"/>
                      <a:tailEnd type="none" w="med" len="med"/>
                    </a:lnL>
                    <a:lnR w="6350" cap="flat" cmpd="sng" algn="ctr">
                      <a:solidFill>
                        <a:srgbClr val="1E3264"/>
                      </a:solidFill>
                      <a:prstDash val="solid"/>
                      <a:round/>
                      <a:headEnd type="none" w="med" len="med"/>
                      <a:tailEnd type="none" w="med" len="med"/>
                    </a:lnR>
                    <a:lnT w="6350" cap="flat" cmpd="sng" algn="ctr">
                      <a:solidFill>
                        <a:srgbClr val="1E3264"/>
                      </a:solidFill>
                      <a:prstDash val="solid"/>
                      <a:round/>
                      <a:headEnd type="none" w="med" len="med"/>
                      <a:tailEnd type="none" w="med" len="med"/>
                    </a:lnT>
                    <a:lnB w="6350" cap="flat" cmpd="sng" algn="ctr">
                      <a:solidFill>
                        <a:srgbClr val="1E3264"/>
                      </a:solidFill>
                      <a:prstDash val="solid"/>
                      <a:round/>
                      <a:headEnd type="none" w="med" len="med"/>
                      <a:tailEnd type="none" w="med" len="med"/>
                    </a:lnB>
                    <a:solidFill>
                      <a:srgbClr val="0E1834"/>
                    </a:solidFill>
                  </a:tcPr>
                </a:tc>
                <a:tc>
                  <a:txBody>
                    <a:bodyPr/>
                    <a:lstStyle/>
                    <a:p>
                      <a:pPr algn="l" indent="0" marL="0">
                        <a:buNone/>
                      </a:pPr>
                      <a:r>
                        <a:rPr lang="en-US" sz="950" b="1" dirty="0">
                          <a:solidFill>
                            <a:srgbClr val="10B981"/>
                          </a:solidFill>
                        </a:rPr>
                        <a:t>15 ms</a:t>
                      </a:r>
                      <a:endParaRPr lang="en-US" sz="950" dirty="0"/>
                    </a:p>
                  </a:txBody>
                  <a:tcPr marL="91440" marR="91440" marT="45720" marB="45720" anchor="ctr">
                    <a:lnL w="6350" cap="flat" cmpd="sng" algn="ctr">
                      <a:solidFill>
                        <a:srgbClr val="1E3264"/>
                      </a:solidFill>
                      <a:prstDash val="solid"/>
                      <a:round/>
                      <a:headEnd type="none" w="med" len="med"/>
                      <a:tailEnd type="none" w="med" len="med"/>
                    </a:lnL>
                    <a:lnR w="6350" cap="flat" cmpd="sng" algn="ctr">
                      <a:solidFill>
                        <a:srgbClr val="1E3264"/>
                      </a:solidFill>
                      <a:prstDash val="solid"/>
                      <a:round/>
                      <a:headEnd type="none" w="med" len="med"/>
                      <a:tailEnd type="none" w="med" len="med"/>
                    </a:lnR>
                    <a:lnT w="6350" cap="flat" cmpd="sng" algn="ctr">
                      <a:solidFill>
                        <a:srgbClr val="1E3264"/>
                      </a:solidFill>
                      <a:prstDash val="solid"/>
                      <a:round/>
                      <a:headEnd type="none" w="med" len="med"/>
                      <a:tailEnd type="none" w="med" len="med"/>
                    </a:lnT>
                    <a:lnB w="6350" cap="flat" cmpd="sng" algn="ctr">
                      <a:solidFill>
                        <a:srgbClr val="1E3264"/>
                      </a:solidFill>
                      <a:prstDash val="solid"/>
                      <a:round/>
                      <a:headEnd type="none" w="med" len="med"/>
                      <a:tailEnd type="none" w="med" len="med"/>
                    </a:lnB>
                    <a:solidFill>
                      <a:srgbClr val="0E1834"/>
                    </a:solidFill>
                  </a:tcPr>
                </a:tc>
                <a:tc>
                  <a:txBody>
                    <a:bodyPr/>
                    <a:lstStyle/>
                    <a:p>
                      <a:pPr algn="l" indent="0" marL="0">
                        <a:buNone/>
                      </a:pPr>
                      <a:r>
                        <a:rPr lang="en-US" sz="950" dirty="0">
                          <a:solidFill>
                            <a:srgbClr val="94A3B8"/>
                          </a:solidFill>
                        </a:rPr>
                        <a:t>35 ms</a:t>
                      </a:r>
                      <a:endParaRPr lang="en-US" sz="950" dirty="0"/>
                    </a:p>
                  </a:txBody>
                  <a:tcPr marL="91440" marR="91440" marT="45720" marB="45720" anchor="ctr">
                    <a:lnL w="6350" cap="flat" cmpd="sng" algn="ctr">
                      <a:solidFill>
                        <a:srgbClr val="1E3264"/>
                      </a:solidFill>
                      <a:prstDash val="solid"/>
                      <a:round/>
                      <a:headEnd type="none" w="med" len="med"/>
                      <a:tailEnd type="none" w="med" len="med"/>
                    </a:lnL>
                    <a:lnR w="6350" cap="flat" cmpd="sng" algn="ctr">
                      <a:solidFill>
                        <a:srgbClr val="1E3264"/>
                      </a:solidFill>
                      <a:prstDash val="solid"/>
                      <a:round/>
                      <a:headEnd type="none" w="med" len="med"/>
                      <a:tailEnd type="none" w="med" len="med"/>
                    </a:lnR>
                    <a:lnT w="6350" cap="flat" cmpd="sng" algn="ctr">
                      <a:solidFill>
                        <a:srgbClr val="1E3264"/>
                      </a:solidFill>
                      <a:prstDash val="solid"/>
                      <a:round/>
                      <a:headEnd type="none" w="med" len="med"/>
                      <a:tailEnd type="none" w="med" len="med"/>
                    </a:lnT>
                    <a:lnB w="6350" cap="flat" cmpd="sng" algn="ctr">
                      <a:solidFill>
                        <a:srgbClr val="1E3264"/>
                      </a:solidFill>
                      <a:prstDash val="solid"/>
                      <a:round/>
                      <a:headEnd type="none" w="med" len="med"/>
                      <a:tailEnd type="none" w="med" len="med"/>
                    </a:lnB>
                    <a:solidFill>
                      <a:srgbClr val="0E1834"/>
                    </a:solidFill>
                  </a:tcPr>
                </a:tc>
              </a:tr>
              <a:tr h="502920">
                <a:tc>
                  <a:txBody>
                    <a:bodyPr/>
                    <a:lstStyle/>
                    <a:p>
                      <a:pPr algn="l" indent="0" marL="0">
                        <a:buNone/>
                      </a:pPr>
                      <a:r>
                        <a:rPr lang="en-US" sz="950" dirty="0">
                          <a:solidFill>
                            <a:srgbClr val="FFFFFF"/>
                          </a:solidFill>
                        </a:rPr>
                        <a:t>3. BM25 + RRF Fusion</a:t>
                      </a:r>
                      <a:endParaRPr lang="en-US" sz="950" dirty="0"/>
                    </a:p>
                  </a:txBody>
                  <a:tcPr marL="91440" marR="91440" marT="45720" marB="45720" anchor="ctr">
                    <a:lnL w="6350" cap="flat" cmpd="sng" algn="ctr">
                      <a:solidFill>
                        <a:srgbClr val="1E3264"/>
                      </a:solidFill>
                      <a:prstDash val="solid"/>
                      <a:round/>
                      <a:headEnd type="none" w="med" len="med"/>
                      <a:tailEnd type="none" w="med" len="med"/>
                    </a:lnL>
                    <a:lnR w="6350" cap="flat" cmpd="sng" algn="ctr">
                      <a:solidFill>
                        <a:srgbClr val="1E3264"/>
                      </a:solidFill>
                      <a:prstDash val="solid"/>
                      <a:round/>
                      <a:headEnd type="none" w="med" len="med"/>
                      <a:tailEnd type="none" w="med" len="med"/>
                    </a:lnR>
                    <a:lnT w="6350" cap="flat" cmpd="sng" algn="ctr">
                      <a:solidFill>
                        <a:srgbClr val="1E3264"/>
                      </a:solidFill>
                      <a:prstDash val="solid"/>
                      <a:round/>
                      <a:headEnd type="none" w="med" len="med"/>
                      <a:tailEnd type="none" w="med" len="med"/>
                    </a:lnT>
                    <a:lnB w="6350" cap="flat" cmpd="sng" algn="ctr">
                      <a:solidFill>
                        <a:srgbClr val="1E3264"/>
                      </a:solidFill>
                      <a:prstDash val="solid"/>
                      <a:round/>
                      <a:headEnd type="none" w="med" len="med"/>
                      <a:tailEnd type="none" w="med" len="med"/>
                    </a:lnB>
                    <a:solidFill>
                      <a:srgbClr val="0E1834"/>
                    </a:solidFill>
                  </a:tcPr>
                </a:tc>
                <a:tc>
                  <a:txBody>
                    <a:bodyPr/>
                    <a:lstStyle/>
                    <a:p>
                      <a:pPr algn="l" indent="0" marL="0">
                        <a:buNone/>
                      </a:pPr>
                      <a:r>
                        <a:rPr lang="en-US" sz="950" dirty="0">
                          <a:solidFill>
                            <a:srgbClr val="94A3B8"/>
                          </a:solidFill>
                        </a:rPr>
                        <a:t>Lexical keyword scoring + reciprocal ranking</a:t>
                      </a:r>
                      <a:endParaRPr lang="en-US" sz="950" dirty="0"/>
                    </a:p>
                  </a:txBody>
                  <a:tcPr marL="91440" marR="91440" marT="45720" marB="45720" anchor="ctr">
                    <a:lnL w="6350" cap="flat" cmpd="sng" algn="ctr">
                      <a:solidFill>
                        <a:srgbClr val="1E3264"/>
                      </a:solidFill>
                      <a:prstDash val="solid"/>
                      <a:round/>
                      <a:headEnd type="none" w="med" len="med"/>
                      <a:tailEnd type="none" w="med" len="med"/>
                    </a:lnL>
                    <a:lnR w="6350" cap="flat" cmpd="sng" algn="ctr">
                      <a:solidFill>
                        <a:srgbClr val="1E3264"/>
                      </a:solidFill>
                      <a:prstDash val="solid"/>
                      <a:round/>
                      <a:headEnd type="none" w="med" len="med"/>
                      <a:tailEnd type="none" w="med" len="med"/>
                    </a:lnR>
                    <a:lnT w="6350" cap="flat" cmpd="sng" algn="ctr">
                      <a:solidFill>
                        <a:srgbClr val="1E3264"/>
                      </a:solidFill>
                      <a:prstDash val="solid"/>
                      <a:round/>
                      <a:headEnd type="none" w="med" len="med"/>
                      <a:tailEnd type="none" w="med" len="med"/>
                    </a:lnT>
                    <a:lnB w="6350" cap="flat" cmpd="sng" algn="ctr">
                      <a:solidFill>
                        <a:srgbClr val="1E3264"/>
                      </a:solidFill>
                      <a:prstDash val="solid"/>
                      <a:round/>
                      <a:headEnd type="none" w="med" len="med"/>
                      <a:tailEnd type="none" w="med" len="med"/>
                    </a:lnB>
                    <a:solidFill>
                      <a:srgbClr val="0E1834"/>
                    </a:solidFill>
                  </a:tcPr>
                </a:tc>
                <a:tc>
                  <a:txBody>
                    <a:bodyPr/>
                    <a:lstStyle/>
                    <a:p>
                      <a:pPr algn="l" indent="0" marL="0">
                        <a:buNone/>
                      </a:pPr>
                      <a:r>
                        <a:rPr lang="en-US" sz="950" b="1" dirty="0">
                          <a:solidFill>
                            <a:srgbClr val="10B981"/>
                          </a:solidFill>
                        </a:rPr>
                        <a:t>10 ms</a:t>
                      </a:r>
                      <a:endParaRPr lang="en-US" sz="950" dirty="0"/>
                    </a:p>
                  </a:txBody>
                  <a:tcPr marL="91440" marR="91440" marT="45720" marB="45720" anchor="ctr">
                    <a:lnL w="6350" cap="flat" cmpd="sng" algn="ctr">
                      <a:solidFill>
                        <a:srgbClr val="1E3264"/>
                      </a:solidFill>
                      <a:prstDash val="solid"/>
                      <a:round/>
                      <a:headEnd type="none" w="med" len="med"/>
                      <a:tailEnd type="none" w="med" len="med"/>
                    </a:lnL>
                    <a:lnR w="6350" cap="flat" cmpd="sng" algn="ctr">
                      <a:solidFill>
                        <a:srgbClr val="1E3264"/>
                      </a:solidFill>
                      <a:prstDash val="solid"/>
                      <a:round/>
                      <a:headEnd type="none" w="med" len="med"/>
                      <a:tailEnd type="none" w="med" len="med"/>
                    </a:lnR>
                    <a:lnT w="6350" cap="flat" cmpd="sng" algn="ctr">
                      <a:solidFill>
                        <a:srgbClr val="1E3264"/>
                      </a:solidFill>
                      <a:prstDash val="solid"/>
                      <a:round/>
                      <a:headEnd type="none" w="med" len="med"/>
                      <a:tailEnd type="none" w="med" len="med"/>
                    </a:lnT>
                    <a:lnB w="6350" cap="flat" cmpd="sng" algn="ctr">
                      <a:solidFill>
                        <a:srgbClr val="1E3264"/>
                      </a:solidFill>
                      <a:prstDash val="solid"/>
                      <a:round/>
                      <a:headEnd type="none" w="med" len="med"/>
                      <a:tailEnd type="none" w="med" len="med"/>
                    </a:lnB>
                    <a:solidFill>
                      <a:srgbClr val="0E1834"/>
                    </a:solidFill>
                  </a:tcPr>
                </a:tc>
                <a:tc>
                  <a:txBody>
                    <a:bodyPr/>
                    <a:lstStyle/>
                    <a:p>
                      <a:pPr algn="l" indent="0" marL="0">
                        <a:buNone/>
                      </a:pPr>
                      <a:r>
                        <a:rPr lang="en-US" sz="950" dirty="0">
                          <a:solidFill>
                            <a:srgbClr val="94A3B8"/>
                          </a:solidFill>
                        </a:rPr>
                        <a:t>18 ms</a:t>
                      </a:r>
                      <a:endParaRPr lang="en-US" sz="950" dirty="0"/>
                    </a:p>
                  </a:txBody>
                  <a:tcPr marL="91440" marR="91440" marT="45720" marB="45720" anchor="ctr">
                    <a:lnL w="6350" cap="flat" cmpd="sng" algn="ctr">
                      <a:solidFill>
                        <a:srgbClr val="1E3264"/>
                      </a:solidFill>
                      <a:prstDash val="solid"/>
                      <a:round/>
                      <a:headEnd type="none" w="med" len="med"/>
                      <a:tailEnd type="none" w="med" len="med"/>
                    </a:lnL>
                    <a:lnR w="6350" cap="flat" cmpd="sng" algn="ctr">
                      <a:solidFill>
                        <a:srgbClr val="1E3264"/>
                      </a:solidFill>
                      <a:prstDash val="solid"/>
                      <a:round/>
                      <a:headEnd type="none" w="med" len="med"/>
                      <a:tailEnd type="none" w="med" len="med"/>
                    </a:lnR>
                    <a:lnT w="6350" cap="flat" cmpd="sng" algn="ctr">
                      <a:solidFill>
                        <a:srgbClr val="1E3264"/>
                      </a:solidFill>
                      <a:prstDash val="solid"/>
                      <a:round/>
                      <a:headEnd type="none" w="med" len="med"/>
                      <a:tailEnd type="none" w="med" len="med"/>
                    </a:lnT>
                    <a:lnB w="6350" cap="flat" cmpd="sng" algn="ctr">
                      <a:solidFill>
                        <a:srgbClr val="1E3264"/>
                      </a:solidFill>
                      <a:prstDash val="solid"/>
                      <a:round/>
                      <a:headEnd type="none" w="med" len="med"/>
                      <a:tailEnd type="none" w="med" len="med"/>
                    </a:lnB>
                    <a:solidFill>
                      <a:srgbClr val="0E1834"/>
                    </a:solidFill>
                  </a:tcPr>
                </a:tc>
              </a:tr>
              <a:tr h="502920">
                <a:tc>
                  <a:txBody>
                    <a:bodyPr/>
                    <a:lstStyle/>
                    <a:p>
                      <a:pPr algn="l" indent="0" marL="0">
                        <a:buNone/>
                      </a:pPr>
                      <a:r>
                        <a:rPr lang="en-US" sz="950" dirty="0">
                          <a:solidFill>
                            <a:srgbClr val="FFFFFF"/>
                          </a:solidFill>
                        </a:rPr>
                        <a:t>4. Cross-Encoder Rerank</a:t>
                      </a:r>
                      <a:endParaRPr lang="en-US" sz="950" dirty="0"/>
                    </a:p>
                  </a:txBody>
                  <a:tcPr marL="91440" marR="91440" marT="45720" marB="45720" anchor="ctr">
                    <a:lnL w="6350" cap="flat" cmpd="sng" algn="ctr">
                      <a:solidFill>
                        <a:srgbClr val="1E3264"/>
                      </a:solidFill>
                      <a:prstDash val="solid"/>
                      <a:round/>
                      <a:headEnd type="none" w="med" len="med"/>
                      <a:tailEnd type="none" w="med" len="med"/>
                    </a:lnL>
                    <a:lnR w="6350" cap="flat" cmpd="sng" algn="ctr">
                      <a:solidFill>
                        <a:srgbClr val="1E3264"/>
                      </a:solidFill>
                      <a:prstDash val="solid"/>
                      <a:round/>
                      <a:headEnd type="none" w="med" len="med"/>
                      <a:tailEnd type="none" w="med" len="med"/>
                    </a:lnR>
                    <a:lnT w="6350" cap="flat" cmpd="sng" algn="ctr">
                      <a:solidFill>
                        <a:srgbClr val="1E3264"/>
                      </a:solidFill>
                      <a:prstDash val="solid"/>
                      <a:round/>
                      <a:headEnd type="none" w="med" len="med"/>
                      <a:tailEnd type="none" w="med" len="med"/>
                    </a:lnT>
                    <a:lnB w="6350" cap="flat" cmpd="sng" algn="ctr">
                      <a:solidFill>
                        <a:srgbClr val="1E3264"/>
                      </a:solidFill>
                      <a:prstDash val="solid"/>
                      <a:round/>
                      <a:headEnd type="none" w="med" len="med"/>
                      <a:tailEnd type="none" w="med" len="med"/>
                    </a:lnB>
                    <a:solidFill>
                      <a:srgbClr val="0E1834"/>
                    </a:solidFill>
                  </a:tcPr>
                </a:tc>
                <a:tc>
                  <a:txBody>
                    <a:bodyPr/>
                    <a:lstStyle/>
                    <a:p>
                      <a:pPr algn="l" indent="0" marL="0">
                        <a:buNone/>
                      </a:pPr>
                      <a:r>
                        <a:rPr lang="en-US" sz="950" dirty="0">
                          <a:solidFill>
                            <a:srgbClr val="94A3B8"/>
                          </a:solidFill>
                        </a:rPr>
                        <a:t>Deep cross-attention scoring (ms-marco)</a:t>
                      </a:r>
                      <a:endParaRPr lang="en-US" sz="950" dirty="0"/>
                    </a:p>
                  </a:txBody>
                  <a:tcPr marL="91440" marR="91440" marT="45720" marB="45720" anchor="ctr">
                    <a:lnL w="6350" cap="flat" cmpd="sng" algn="ctr">
                      <a:solidFill>
                        <a:srgbClr val="1E3264"/>
                      </a:solidFill>
                      <a:prstDash val="solid"/>
                      <a:round/>
                      <a:headEnd type="none" w="med" len="med"/>
                      <a:tailEnd type="none" w="med" len="med"/>
                    </a:lnL>
                    <a:lnR w="6350" cap="flat" cmpd="sng" algn="ctr">
                      <a:solidFill>
                        <a:srgbClr val="1E3264"/>
                      </a:solidFill>
                      <a:prstDash val="solid"/>
                      <a:round/>
                      <a:headEnd type="none" w="med" len="med"/>
                      <a:tailEnd type="none" w="med" len="med"/>
                    </a:lnR>
                    <a:lnT w="6350" cap="flat" cmpd="sng" algn="ctr">
                      <a:solidFill>
                        <a:srgbClr val="1E3264"/>
                      </a:solidFill>
                      <a:prstDash val="solid"/>
                      <a:round/>
                      <a:headEnd type="none" w="med" len="med"/>
                      <a:tailEnd type="none" w="med" len="med"/>
                    </a:lnT>
                    <a:lnB w="6350" cap="flat" cmpd="sng" algn="ctr">
                      <a:solidFill>
                        <a:srgbClr val="1E3264"/>
                      </a:solidFill>
                      <a:prstDash val="solid"/>
                      <a:round/>
                      <a:headEnd type="none" w="med" len="med"/>
                      <a:tailEnd type="none" w="med" len="med"/>
                    </a:lnB>
                    <a:solidFill>
                      <a:srgbClr val="0E1834"/>
                    </a:solidFill>
                  </a:tcPr>
                </a:tc>
                <a:tc>
                  <a:txBody>
                    <a:bodyPr/>
                    <a:lstStyle/>
                    <a:p>
                      <a:pPr algn="l" indent="0" marL="0">
                        <a:buNone/>
                      </a:pPr>
                      <a:r>
                        <a:rPr lang="en-US" sz="950" b="1" dirty="0">
                          <a:solidFill>
                            <a:srgbClr val="10B981"/>
                          </a:solidFill>
                        </a:rPr>
                        <a:t>0.15 s</a:t>
                      </a:r>
                      <a:endParaRPr lang="en-US" sz="950" dirty="0"/>
                    </a:p>
                  </a:txBody>
                  <a:tcPr marL="91440" marR="91440" marT="45720" marB="45720" anchor="ctr">
                    <a:lnL w="6350" cap="flat" cmpd="sng" algn="ctr">
                      <a:solidFill>
                        <a:srgbClr val="1E3264"/>
                      </a:solidFill>
                      <a:prstDash val="solid"/>
                      <a:round/>
                      <a:headEnd type="none" w="med" len="med"/>
                      <a:tailEnd type="none" w="med" len="med"/>
                    </a:lnL>
                    <a:lnR w="6350" cap="flat" cmpd="sng" algn="ctr">
                      <a:solidFill>
                        <a:srgbClr val="1E3264"/>
                      </a:solidFill>
                      <a:prstDash val="solid"/>
                      <a:round/>
                      <a:headEnd type="none" w="med" len="med"/>
                      <a:tailEnd type="none" w="med" len="med"/>
                    </a:lnR>
                    <a:lnT w="6350" cap="flat" cmpd="sng" algn="ctr">
                      <a:solidFill>
                        <a:srgbClr val="1E3264"/>
                      </a:solidFill>
                      <a:prstDash val="solid"/>
                      <a:round/>
                      <a:headEnd type="none" w="med" len="med"/>
                      <a:tailEnd type="none" w="med" len="med"/>
                    </a:lnT>
                    <a:lnB w="6350" cap="flat" cmpd="sng" algn="ctr">
                      <a:solidFill>
                        <a:srgbClr val="1E3264"/>
                      </a:solidFill>
                      <a:prstDash val="solid"/>
                      <a:round/>
                      <a:headEnd type="none" w="med" len="med"/>
                      <a:tailEnd type="none" w="med" len="med"/>
                    </a:lnB>
                    <a:solidFill>
                      <a:srgbClr val="0E1834"/>
                    </a:solidFill>
                  </a:tcPr>
                </a:tc>
                <a:tc>
                  <a:txBody>
                    <a:bodyPr/>
                    <a:lstStyle/>
                    <a:p>
                      <a:pPr algn="l" indent="0" marL="0">
                        <a:buNone/>
                      </a:pPr>
                      <a:r>
                        <a:rPr lang="en-US" sz="950" dirty="0">
                          <a:solidFill>
                            <a:srgbClr val="94A3B8"/>
                          </a:solidFill>
                        </a:rPr>
                        <a:t>0.45 s</a:t>
                      </a:r>
                      <a:endParaRPr lang="en-US" sz="950" dirty="0"/>
                    </a:p>
                  </a:txBody>
                  <a:tcPr marL="91440" marR="91440" marT="45720" marB="45720" anchor="ctr">
                    <a:lnL w="6350" cap="flat" cmpd="sng" algn="ctr">
                      <a:solidFill>
                        <a:srgbClr val="1E3264"/>
                      </a:solidFill>
                      <a:prstDash val="solid"/>
                      <a:round/>
                      <a:headEnd type="none" w="med" len="med"/>
                      <a:tailEnd type="none" w="med" len="med"/>
                    </a:lnL>
                    <a:lnR w="6350" cap="flat" cmpd="sng" algn="ctr">
                      <a:solidFill>
                        <a:srgbClr val="1E3264"/>
                      </a:solidFill>
                      <a:prstDash val="solid"/>
                      <a:round/>
                      <a:headEnd type="none" w="med" len="med"/>
                      <a:tailEnd type="none" w="med" len="med"/>
                    </a:lnR>
                    <a:lnT w="6350" cap="flat" cmpd="sng" algn="ctr">
                      <a:solidFill>
                        <a:srgbClr val="1E3264"/>
                      </a:solidFill>
                      <a:prstDash val="solid"/>
                      <a:round/>
                      <a:headEnd type="none" w="med" len="med"/>
                      <a:tailEnd type="none" w="med" len="med"/>
                    </a:lnT>
                    <a:lnB w="6350" cap="flat" cmpd="sng" algn="ctr">
                      <a:solidFill>
                        <a:srgbClr val="1E3264"/>
                      </a:solidFill>
                      <a:prstDash val="solid"/>
                      <a:round/>
                      <a:headEnd type="none" w="med" len="med"/>
                      <a:tailEnd type="none" w="med" len="med"/>
                    </a:lnB>
                    <a:solidFill>
                      <a:srgbClr val="0E1834"/>
                    </a:solidFill>
                  </a:tcPr>
                </a:tc>
              </a:tr>
              <a:tr h="502920">
                <a:tc>
                  <a:txBody>
                    <a:bodyPr/>
                    <a:lstStyle/>
                    <a:p>
                      <a:pPr algn="l" indent="0" marL="0">
                        <a:buNone/>
                      </a:pPr>
                      <a:r>
                        <a:rPr lang="en-US" sz="950" dirty="0">
                          <a:solidFill>
                            <a:srgbClr val="FFFFFF"/>
                          </a:solidFill>
                        </a:rPr>
                        <a:t>5. LLM Token Generation</a:t>
                      </a:r>
                      <a:endParaRPr lang="en-US" sz="950" dirty="0"/>
                    </a:p>
                  </a:txBody>
                  <a:tcPr marL="91440" marR="91440" marT="45720" marB="45720" anchor="ctr">
                    <a:lnL w="6350" cap="flat" cmpd="sng" algn="ctr">
                      <a:solidFill>
                        <a:srgbClr val="1E3264"/>
                      </a:solidFill>
                      <a:prstDash val="solid"/>
                      <a:round/>
                      <a:headEnd type="none" w="med" len="med"/>
                      <a:tailEnd type="none" w="med" len="med"/>
                    </a:lnL>
                    <a:lnR w="6350" cap="flat" cmpd="sng" algn="ctr">
                      <a:solidFill>
                        <a:srgbClr val="1E3264"/>
                      </a:solidFill>
                      <a:prstDash val="solid"/>
                      <a:round/>
                      <a:headEnd type="none" w="med" len="med"/>
                      <a:tailEnd type="none" w="med" len="med"/>
                    </a:lnR>
                    <a:lnT w="6350" cap="flat" cmpd="sng" algn="ctr">
                      <a:solidFill>
                        <a:srgbClr val="1E3264"/>
                      </a:solidFill>
                      <a:prstDash val="solid"/>
                      <a:round/>
                      <a:headEnd type="none" w="med" len="med"/>
                      <a:tailEnd type="none" w="med" len="med"/>
                    </a:lnT>
                    <a:lnB w="6350" cap="flat" cmpd="sng" algn="ctr">
                      <a:solidFill>
                        <a:srgbClr val="1E3264"/>
                      </a:solidFill>
                      <a:prstDash val="solid"/>
                      <a:round/>
                      <a:headEnd type="none" w="med" len="med"/>
                      <a:tailEnd type="none" w="med" len="med"/>
                    </a:lnB>
                    <a:solidFill>
                      <a:srgbClr val="0E1834"/>
                    </a:solidFill>
                  </a:tcPr>
                </a:tc>
                <a:tc>
                  <a:txBody>
                    <a:bodyPr/>
                    <a:lstStyle/>
                    <a:p>
                      <a:pPr algn="l" indent="0" marL="0">
                        <a:buNone/>
                      </a:pPr>
                      <a:r>
                        <a:rPr lang="en-US" sz="950" dirty="0">
                          <a:solidFill>
                            <a:srgbClr val="94A3B8"/>
                          </a:solidFill>
                        </a:rPr>
                        <a:t>Qwen2.5-VL / LLaMA 3.1 8B (~300 tokens)</a:t>
                      </a:r>
                      <a:endParaRPr lang="en-US" sz="950" dirty="0"/>
                    </a:p>
                  </a:txBody>
                  <a:tcPr marL="91440" marR="91440" marT="45720" marB="45720" anchor="ctr">
                    <a:lnL w="6350" cap="flat" cmpd="sng" algn="ctr">
                      <a:solidFill>
                        <a:srgbClr val="1E3264"/>
                      </a:solidFill>
                      <a:prstDash val="solid"/>
                      <a:round/>
                      <a:headEnd type="none" w="med" len="med"/>
                      <a:tailEnd type="none" w="med" len="med"/>
                    </a:lnL>
                    <a:lnR w="6350" cap="flat" cmpd="sng" algn="ctr">
                      <a:solidFill>
                        <a:srgbClr val="1E3264"/>
                      </a:solidFill>
                      <a:prstDash val="solid"/>
                      <a:round/>
                      <a:headEnd type="none" w="med" len="med"/>
                      <a:tailEnd type="none" w="med" len="med"/>
                    </a:lnR>
                    <a:lnT w="6350" cap="flat" cmpd="sng" algn="ctr">
                      <a:solidFill>
                        <a:srgbClr val="1E3264"/>
                      </a:solidFill>
                      <a:prstDash val="solid"/>
                      <a:round/>
                      <a:headEnd type="none" w="med" len="med"/>
                      <a:tailEnd type="none" w="med" len="med"/>
                    </a:lnT>
                    <a:lnB w="6350" cap="flat" cmpd="sng" algn="ctr">
                      <a:solidFill>
                        <a:srgbClr val="1E3264"/>
                      </a:solidFill>
                      <a:prstDash val="solid"/>
                      <a:round/>
                      <a:headEnd type="none" w="med" len="med"/>
                      <a:tailEnd type="none" w="med" len="med"/>
                    </a:lnB>
                    <a:solidFill>
                      <a:srgbClr val="0E1834"/>
                    </a:solidFill>
                  </a:tcPr>
                </a:tc>
                <a:tc>
                  <a:txBody>
                    <a:bodyPr/>
                    <a:lstStyle/>
                    <a:p>
                      <a:pPr algn="l" indent="0" marL="0">
                        <a:buNone/>
                      </a:pPr>
                      <a:r>
                        <a:rPr lang="en-US" sz="950" b="1" dirty="0">
                          <a:solidFill>
                            <a:srgbClr val="10B981"/>
                          </a:solidFill>
                        </a:rPr>
                        <a:t>2.5 – 5.0 s</a:t>
                      </a:r>
                      <a:endParaRPr lang="en-US" sz="950" dirty="0"/>
                    </a:p>
                  </a:txBody>
                  <a:tcPr marL="91440" marR="91440" marT="45720" marB="45720" anchor="ctr">
                    <a:lnL w="6350" cap="flat" cmpd="sng" algn="ctr">
                      <a:solidFill>
                        <a:srgbClr val="1E3264"/>
                      </a:solidFill>
                      <a:prstDash val="solid"/>
                      <a:round/>
                      <a:headEnd type="none" w="med" len="med"/>
                      <a:tailEnd type="none" w="med" len="med"/>
                    </a:lnL>
                    <a:lnR w="6350" cap="flat" cmpd="sng" algn="ctr">
                      <a:solidFill>
                        <a:srgbClr val="1E3264"/>
                      </a:solidFill>
                      <a:prstDash val="solid"/>
                      <a:round/>
                      <a:headEnd type="none" w="med" len="med"/>
                      <a:tailEnd type="none" w="med" len="med"/>
                    </a:lnR>
                    <a:lnT w="6350" cap="flat" cmpd="sng" algn="ctr">
                      <a:solidFill>
                        <a:srgbClr val="1E3264"/>
                      </a:solidFill>
                      <a:prstDash val="solid"/>
                      <a:round/>
                      <a:headEnd type="none" w="med" len="med"/>
                      <a:tailEnd type="none" w="med" len="med"/>
                    </a:lnT>
                    <a:lnB w="6350" cap="flat" cmpd="sng" algn="ctr">
                      <a:solidFill>
                        <a:srgbClr val="1E3264"/>
                      </a:solidFill>
                      <a:prstDash val="solid"/>
                      <a:round/>
                      <a:headEnd type="none" w="med" len="med"/>
                      <a:tailEnd type="none" w="med" len="med"/>
                    </a:lnB>
                    <a:solidFill>
                      <a:srgbClr val="0E1834"/>
                    </a:solidFill>
                  </a:tcPr>
                </a:tc>
                <a:tc>
                  <a:txBody>
                    <a:bodyPr/>
                    <a:lstStyle/>
                    <a:p>
                      <a:pPr algn="l" indent="0" marL="0">
                        <a:buNone/>
                      </a:pPr>
                      <a:r>
                        <a:rPr lang="en-US" sz="950" b="1" dirty="0">
                          <a:solidFill>
                            <a:srgbClr val="F59E0B"/>
                          </a:solidFill>
                        </a:rPr>
                        <a:t>12 – 30 s</a:t>
                      </a:r>
                      <a:endParaRPr lang="en-US" sz="950" dirty="0"/>
                    </a:p>
                  </a:txBody>
                  <a:tcPr marL="91440" marR="91440" marT="45720" marB="45720" anchor="ctr">
                    <a:lnL w="6350" cap="flat" cmpd="sng" algn="ctr">
                      <a:solidFill>
                        <a:srgbClr val="1E3264"/>
                      </a:solidFill>
                      <a:prstDash val="solid"/>
                      <a:round/>
                      <a:headEnd type="none" w="med" len="med"/>
                      <a:tailEnd type="none" w="med" len="med"/>
                    </a:lnL>
                    <a:lnR w="6350" cap="flat" cmpd="sng" algn="ctr">
                      <a:solidFill>
                        <a:srgbClr val="1E3264"/>
                      </a:solidFill>
                      <a:prstDash val="solid"/>
                      <a:round/>
                      <a:headEnd type="none" w="med" len="med"/>
                      <a:tailEnd type="none" w="med" len="med"/>
                    </a:lnR>
                    <a:lnT w="6350" cap="flat" cmpd="sng" algn="ctr">
                      <a:solidFill>
                        <a:srgbClr val="1E3264"/>
                      </a:solidFill>
                      <a:prstDash val="solid"/>
                      <a:round/>
                      <a:headEnd type="none" w="med" len="med"/>
                      <a:tailEnd type="none" w="med" len="med"/>
                    </a:lnT>
                    <a:lnB w="6350" cap="flat" cmpd="sng" algn="ctr">
                      <a:solidFill>
                        <a:srgbClr val="1E3264"/>
                      </a:solidFill>
                      <a:prstDash val="solid"/>
                      <a:round/>
                      <a:headEnd type="none" w="med" len="med"/>
                      <a:tailEnd type="none" w="med" len="med"/>
                    </a:lnB>
                    <a:solidFill>
                      <a:srgbClr val="0E1834"/>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D1E"/>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F2FE"/>
          </a:solidFill>
          <a:ln/>
        </p:spPr>
      </p:sp>
      <p:sp>
        <p:nvSpPr>
          <p:cNvPr id="3" name="Shape 1"/>
          <p:cNvSpPr/>
          <p:nvPr/>
        </p:nvSpPr>
        <p:spPr>
          <a:xfrm>
            <a:off x="731520" y="347472"/>
            <a:ext cx="2560320" cy="274320"/>
          </a:xfrm>
          <a:prstGeom prst="roundRect">
            <a:avLst>
              <a:gd name="adj" fmla="val 26667"/>
            </a:avLst>
          </a:prstGeom>
          <a:solidFill>
            <a:srgbClr val="0E1834"/>
          </a:solidFill>
          <a:ln w="12700">
            <a:solidFill>
              <a:srgbClr val="00F2FE"/>
            </a:solidFill>
            <a:prstDash val="solid"/>
          </a:ln>
        </p:spPr>
      </p:sp>
      <p:sp>
        <p:nvSpPr>
          <p:cNvPr id="4" name="Text 2"/>
          <p:cNvSpPr/>
          <p:nvPr/>
        </p:nvSpPr>
        <p:spPr>
          <a:xfrm>
            <a:off x="731520" y="347472"/>
            <a:ext cx="2560320" cy="274320"/>
          </a:xfrm>
          <a:prstGeom prst="rect">
            <a:avLst/>
          </a:prstGeom>
          <a:noFill/>
          <a:ln/>
        </p:spPr>
        <p:txBody>
          <a:bodyPr wrap="square" rtlCol="0" anchor="ctr"/>
          <a:lstStyle/>
          <a:p>
            <a:pPr algn="ctr" indent="0" marL="0">
              <a:buNone/>
            </a:pPr>
            <a:r>
              <a:rPr lang="en-US" sz="900" b="1" dirty="0">
                <a:solidFill>
                  <a:srgbClr val="00F2FE"/>
                </a:solidFill>
                <a:latin typeface="Arial" pitchFamily="34" charset="0"/>
                <a:ea typeface="Arial" pitchFamily="34" charset="-122"/>
                <a:cs typeface="Arial" pitchFamily="34" charset="-120"/>
              </a:rPr>
              <a:t>SECURITY &amp; GOVERNANCE</a:t>
            </a:r>
            <a:endParaRPr lang="en-US" sz="900" dirty="0"/>
          </a:p>
        </p:txBody>
      </p:sp>
      <p:sp>
        <p:nvSpPr>
          <p:cNvPr id="5" name="Text 3"/>
          <p:cNvSpPr/>
          <p:nvPr/>
        </p:nvSpPr>
        <p:spPr>
          <a:xfrm>
            <a:off x="731520" y="676656"/>
            <a:ext cx="10698480" cy="502920"/>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Enterprise Security, Data Sovereignty &amp; Air-Gap Model</a:t>
            </a:r>
            <a:endParaRPr lang="en-US" sz="2100" dirty="0"/>
          </a:p>
        </p:txBody>
      </p:sp>
      <p:sp>
        <p:nvSpPr>
          <p:cNvPr id="6" name="Text 4"/>
          <p:cNvSpPr/>
          <p:nvPr/>
        </p:nvSpPr>
        <p:spPr>
          <a:xfrm>
            <a:off x="731520" y="1170432"/>
            <a:ext cx="10698480" cy="292608"/>
          </a:xfrm>
          <a:prstGeom prst="rect">
            <a:avLst/>
          </a:prstGeom>
          <a:noFill/>
          <a:ln/>
        </p:spPr>
        <p:txBody>
          <a:bodyPr wrap="square" rtlCol="0" anchor="ctr"/>
          <a:lstStyle/>
          <a:p>
            <a:pPr indent="0" marL="0">
              <a:buNone/>
            </a:pPr>
            <a:r>
              <a:rPr lang="en-US" sz="1150" dirty="0">
                <a:solidFill>
                  <a:srgbClr val="94A3B8"/>
                </a:solidFill>
                <a:latin typeface="Arial" pitchFamily="34" charset="0"/>
                <a:ea typeface="Arial" pitchFamily="34" charset="-122"/>
                <a:cs typeface="Arial" pitchFamily="34" charset="-120"/>
              </a:rPr>
              <a:t>Zero cloud dependencies ensuring complete regulatory compliance and intellectual property protection</a:t>
            </a:r>
            <a:endParaRPr lang="en-US" sz="1150" dirty="0"/>
          </a:p>
        </p:txBody>
      </p:sp>
      <p:sp>
        <p:nvSpPr>
          <p:cNvPr id="7" name="Shape 5"/>
          <p:cNvSpPr/>
          <p:nvPr/>
        </p:nvSpPr>
        <p:spPr>
          <a:xfrm>
            <a:off x="731520" y="6400800"/>
            <a:ext cx="10698480" cy="18288"/>
          </a:xfrm>
          <a:prstGeom prst="rect">
            <a:avLst/>
          </a:prstGeom>
          <a:solidFill>
            <a:srgbClr val="1E3264"/>
          </a:solidFill>
          <a:ln/>
        </p:spPr>
      </p:sp>
      <p:sp>
        <p:nvSpPr>
          <p:cNvPr id="8" name="Text 6"/>
          <p:cNvSpPr/>
          <p:nvPr/>
        </p:nvSpPr>
        <p:spPr>
          <a:xfrm>
            <a:off x="731520" y="6446520"/>
            <a:ext cx="73152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LEINA • Local SOP RAG Architecture | Larsen &amp; Toubro Enterprise AI</a:t>
            </a:r>
            <a:endParaRPr lang="en-US" sz="850" dirty="0"/>
          </a:p>
        </p:txBody>
      </p:sp>
      <p:sp>
        <p:nvSpPr>
          <p:cNvPr id="9" name="Text 7"/>
          <p:cNvSpPr/>
          <p:nvPr/>
        </p:nvSpPr>
        <p:spPr>
          <a:xfrm>
            <a:off x="8686800" y="6446520"/>
            <a:ext cx="2743200" cy="274320"/>
          </a:xfrm>
          <a:prstGeom prst="rect">
            <a:avLst/>
          </a:prstGeom>
          <a:noFill/>
          <a:ln/>
        </p:spPr>
        <p:txBody>
          <a:bodyPr wrap="square" rtlCol="0" anchor="ctr"/>
          <a:lstStyle/>
          <a:p>
            <a:pPr algn="r" indent="0" marL="0">
              <a:buNone/>
            </a:pPr>
            <a:r>
              <a:rPr lang="en-US" sz="850" b="1" dirty="0">
                <a:solidFill>
                  <a:srgbClr val="00F2FE"/>
                </a:solidFill>
                <a:latin typeface="Arial" pitchFamily="34" charset="0"/>
                <a:ea typeface="Arial" pitchFamily="34" charset="-122"/>
                <a:cs typeface="Arial" pitchFamily="34" charset="-120"/>
              </a:rPr>
              <a:t>CONFIDENTIAL &amp; PROPRIETARY</a:t>
            </a:r>
            <a:endParaRPr lang="en-US" sz="850" dirty="0"/>
          </a:p>
        </p:txBody>
      </p:sp>
      <p:sp>
        <p:nvSpPr>
          <p:cNvPr id="10" name="Shape 8"/>
          <p:cNvSpPr/>
          <p:nvPr/>
        </p:nvSpPr>
        <p:spPr>
          <a:xfrm>
            <a:off x="731520" y="1600200"/>
            <a:ext cx="5166360" cy="2148840"/>
          </a:xfrm>
          <a:prstGeom prst="roundRect">
            <a:avLst>
              <a:gd name="adj" fmla="val 5106"/>
            </a:avLst>
          </a:prstGeom>
          <a:solidFill>
            <a:srgbClr val="0E1834"/>
          </a:solidFill>
          <a:ln w="15240">
            <a:solidFill>
              <a:srgbClr val="00F2FE"/>
            </a:solidFill>
            <a:prstDash val="solid"/>
          </a:ln>
        </p:spPr>
      </p:sp>
      <p:sp>
        <p:nvSpPr>
          <p:cNvPr id="11" name="Text 9"/>
          <p:cNvSpPr/>
          <p:nvPr/>
        </p:nvSpPr>
        <p:spPr>
          <a:xfrm>
            <a:off x="960120" y="1764792"/>
            <a:ext cx="4709160" cy="320040"/>
          </a:xfrm>
          <a:prstGeom prst="rect">
            <a:avLst/>
          </a:prstGeom>
          <a:noFill/>
          <a:ln/>
        </p:spPr>
        <p:txBody>
          <a:bodyPr wrap="square" rtlCol="0" anchor="ctr"/>
          <a:lstStyle/>
          <a:p>
            <a:pPr indent="0" marL="0">
              <a:buNone/>
            </a:pPr>
            <a:r>
              <a:rPr lang="en-US" sz="1200" b="1" dirty="0">
                <a:solidFill>
                  <a:srgbClr val="00F2FE"/>
                </a:solidFill>
              </a:rPr>
              <a:t>🛡️  Zero Data Egress (100% Offline)</a:t>
            </a:r>
            <a:endParaRPr lang="en-US" sz="1200" dirty="0"/>
          </a:p>
        </p:txBody>
      </p:sp>
      <p:sp>
        <p:nvSpPr>
          <p:cNvPr id="12" name="Text 10"/>
          <p:cNvSpPr/>
          <p:nvPr/>
        </p:nvSpPr>
        <p:spPr>
          <a:xfrm>
            <a:off x="960120" y="2130552"/>
            <a:ext cx="4709160" cy="1417320"/>
          </a:xfrm>
          <a:prstGeom prst="rect">
            <a:avLst/>
          </a:prstGeom>
          <a:noFill/>
          <a:ln/>
        </p:spPr>
        <p:txBody>
          <a:bodyPr wrap="square" rtlCol="0" anchor="ctr"/>
          <a:lstStyle/>
          <a:p>
            <a:pPr indent="0" marL="0">
              <a:buNone/>
            </a:pPr>
            <a:r>
              <a:rPr lang="en-US" sz="950" dirty="0">
                <a:solidFill>
                  <a:srgbClr val="E2E8F0"/>
                </a:solidFill>
              </a:rPr>
              <a:t>All embeddings, vector indexes, and model weights reside on local hardware. No packets leave the internal network, ensuring absolute confidentiality for classified SOPs.</a:t>
            </a:r>
            <a:endParaRPr lang="en-US" sz="950" dirty="0"/>
          </a:p>
        </p:txBody>
      </p:sp>
      <p:sp>
        <p:nvSpPr>
          <p:cNvPr id="13" name="Shape 11"/>
          <p:cNvSpPr/>
          <p:nvPr/>
        </p:nvSpPr>
        <p:spPr>
          <a:xfrm>
            <a:off x="6263640" y="1600200"/>
            <a:ext cx="5166360" cy="2148840"/>
          </a:xfrm>
          <a:prstGeom prst="roundRect">
            <a:avLst>
              <a:gd name="adj" fmla="val 5106"/>
            </a:avLst>
          </a:prstGeom>
          <a:solidFill>
            <a:srgbClr val="0E1834"/>
          </a:solidFill>
          <a:ln w="15240">
            <a:solidFill>
              <a:srgbClr val="10B981"/>
            </a:solidFill>
            <a:prstDash val="solid"/>
          </a:ln>
        </p:spPr>
      </p:sp>
      <p:sp>
        <p:nvSpPr>
          <p:cNvPr id="14" name="Text 12"/>
          <p:cNvSpPr/>
          <p:nvPr/>
        </p:nvSpPr>
        <p:spPr>
          <a:xfrm>
            <a:off x="6492240" y="1764792"/>
            <a:ext cx="4709160" cy="320040"/>
          </a:xfrm>
          <a:prstGeom prst="rect">
            <a:avLst/>
          </a:prstGeom>
          <a:noFill/>
          <a:ln/>
        </p:spPr>
        <p:txBody>
          <a:bodyPr wrap="square" rtlCol="0" anchor="ctr"/>
          <a:lstStyle/>
          <a:p>
            <a:pPr indent="0" marL="0">
              <a:buNone/>
            </a:pPr>
            <a:r>
              <a:rPr lang="en-US" sz="1200" b="1" dirty="0">
                <a:solidFill>
                  <a:srgbClr val="10B981"/>
                </a:solidFill>
              </a:rPr>
              <a:t>📋  Regulatory &amp; Policy Compliance</a:t>
            </a:r>
            <a:endParaRPr lang="en-US" sz="1200" dirty="0"/>
          </a:p>
        </p:txBody>
      </p:sp>
      <p:sp>
        <p:nvSpPr>
          <p:cNvPr id="15" name="Text 13"/>
          <p:cNvSpPr/>
          <p:nvPr/>
        </p:nvSpPr>
        <p:spPr>
          <a:xfrm>
            <a:off x="6492240" y="2130552"/>
            <a:ext cx="4709160" cy="1417320"/>
          </a:xfrm>
          <a:prstGeom prst="rect">
            <a:avLst/>
          </a:prstGeom>
          <a:noFill/>
          <a:ln/>
        </p:spPr>
        <p:txBody>
          <a:bodyPr wrap="square" rtlCol="0" anchor="ctr"/>
          <a:lstStyle/>
          <a:p>
            <a:pPr indent="0" marL="0">
              <a:buNone/>
            </a:pPr>
            <a:r>
              <a:rPr lang="en-US" sz="950" dirty="0">
                <a:solidFill>
                  <a:srgbClr val="E2E8F0"/>
                </a:solidFill>
              </a:rPr>
              <a:t>Fully compliant with GDPR, HIPAA, SOC 2, and defense industry security mandates where sending intellectual property to commercial AI cloud APIs is strictly prohibited.</a:t>
            </a:r>
            <a:endParaRPr lang="en-US" sz="950" dirty="0"/>
          </a:p>
        </p:txBody>
      </p:sp>
      <p:sp>
        <p:nvSpPr>
          <p:cNvPr id="16" name="Shape 14"/>
          <p:cNvSpPr/>
          <p:nvPr/>
        </p:nvSpPr>
        <p:spPr>
          <a:xfrm>
            <a:off x="731520" y="3977640"/>
            <a:ext cx="5166360" cy="2148840"/>
          </a:xfrm>
          <a:prstGeom prst="roundRect">
            <a:avLst>
              <a:gd name="adj" fmla="val 5106"/>
            </a:avLst>
          </a:prstGeom>
          <a:solidFill>
            <a:srgbClr val="0E1834"/>
          </a:solidFill>
          <a:ln w="15240">
            <a:solidFill>
              <a:srgbClr val="38BDF8"/>
            </a:solidFill>
            <a:prstDash val="solid"/>
          </a:ln>
        </p:spPr>
      </p:sp>
      <p:sp>
        <p:nvSpPr>
          <p:cNvPr id="17" name="Text 15"/>
          <p:cNvSpPr/>
          <p:nvPr/>
        </p:nvSpPr>
        <p:spPr>
          <a:xfrm>
            <a:off x="960120" y="4142232"/>
            <a:ext cx="4709160" cy="320040"/>
          </a:xfrm>
          <a:prstGeom prst="rect">
            <a:avLst/>
          </a:prstGeom>
          <a:noFill/>
          <a:ln/>
        </p:spPr>
        <p:txBody>
          <a:bodyPr wrap="square" rtlCol="0" anchor="ctr"/>
          <a:lstStyle/>
          <a:p>
            <a:pPr indent="0" marL="0">
              <a:buNone/>
            </a:pPr>
            <a:r>
              <a:rPr lang="en-US" sz="1200" b="1" dirty="0">
                <a:solidFill>
                  <a:srgbClr val="38BDF8"/>
                </a:solidFill>
              </a:rPr>
              <a:t>🔍  Full Audit Trail &amp; Traceability</a:t>
            </a:r>
            <a:endParaRPr lang="en-US" sz="1200" dirty="0"/>
          </a:p>
        </p:txBody>
      </p:sp>
      <p:sp>
        <p:nvSpPr>
          <p:cNvPr id="18" name="Text 16"/>
          <p:cNvSpPr/>
          <p:nvPr/>
        </p:nvSpPr>
        <p:spPr>
          <a:xfrm>
            <a:off x="960120" y="4507992"/>
            <a:ext cx="4709160" cy="1417320"/>
          </a:xfrm>
          <a:prstGeom prst="rect">
            <a:avLst/>
          </a:prstGeom>
          <a:noFill/>
          <a:ln/>
        </p:spPr>
        <p:txBody>
          <a:bodyPr wrap="square" rtlCol="0" anchor="ctr"/>
          <a:lstStyle/>
          <a:p>
            <a:pPr indent="0" marL="0">
              <a:buNone/>
            </a:pPr>
            <a:r>
              <a:rPr lang="en-US" sz="950" dirty="0">
                <a:solidFill>
                  <a:srgbClr val="E2E8F0"/>
                </a:solidFill>
              </a:rPr>
              <a:t>Every generated answer includes exact file and section citations. SQLite logs record timestamp, session, query, model used, confidence score, and retrieved chunk IDs.</a:t>
            </a:r>
            <a:endParaRPr lang="en-US" sz="950" dirty="0"/>
          </a:p>
        </p:txBody>
      </p:sp>
      <p:sp>
        <p:nvSpPr>
          <p:cNvPr id="19" name="Shape 17"/>
          <p:cNvSpPr/>
          <p:nvPr/>
        </p:nvSpPr>
        <p:spPr>
          <a:xfrm>
            <a:off x="6263640" y="3977640"/>
            <a:ext cx="5166360" cy="2148840"/>
          </a:xfrm>
          <a:prstGeom prst="roundRect">
            <a:avLst>
              <a:gd name="adj" fmla="val 5106"/>
            </a:avLst>
          </a:prstGeom>
          <a:solidFill>
            <a:srgbClr val="0E1834"/>
          </a:solidFill>
          <a:ln w="15240">
            <a:solidFill>
              <a:srgbClr val="A855F7"/>
            </a:solidFill>
            <a:prstDash val="solid"/>
          </a:ln>
        </p:spPr>
      </p:sp>
      <p:sp>
        <p:nvSpPr>
          <p:cNvPr id="20" name="Text 18"/>
          <p:cNvSpPr/>
          <p:nvPr/>
        </p:nvSpPr>
        <p:spPr>
          <a:xfrm>
            <a:off x="6492240" y="4142232"/>
            <a:ext cx="4709160" cy="320040"/>
          </a:xfrm>
          <a:prstGeom prst="rect">
            <a:avLst/>
          </a:prstGeom>
          <a:noFill/>
          <a:ln/>
        </p:spPr>
        <p:txBody>
          <a:bodyPr wrap="square" rtlCol="0" anchor="ctr"/>
          <a:lstStyle/>
          <a:p>
            <a:pPr indent="0" marL="0">
              <a:buNone/>
            </a:pPr>
            <a:r>
              <a:rPr lang="en-US" sz="1200" b="1" dirty="0">
                <a:solidFill>
                  <a:srgbClr val="A855F7"/>
                </a:solidFill>
              </a:rPr>
              <a:t>🔑  Role-Based Access Control (RBAC)</a:t>
            </a:r>
            <a:endParaRPr lang="en-US" sz="1200" dirty="0"/>
          </a:p>
        </p:txBody>
      </p:sp>
      <p:sp>
        <p:nvSpPr>
          <p:cNvPr id="21" name="Text 19"/>
          <p:cNvSpPr/>
          <p:nvPr/>
        </p:nvSpPr>
        <p:spPr>
          <a:xfrm>
            <a:off x="6492240" y="4507992"/>
            <a:ext cx="4709160" cy="1417320"/>
          </a:xfrm>
          <a:prstGeom prst="rect">
            <a:avLst/>
          </a:prstGeom>
          <a:noFill/>
          <a:ln/>
        </p:spPr>
        <p:txBody>
          <a:bodyPr wrap="square" rtlCol="0" anchor="ctr"/>
          <a:lstStyle/>
          <a:p>
            <a:pPr indent="0" marL="0">
              <a:buNone/>
            </a:pPr>
            <a:r>
              <a:rPr lang="en-US" sz="950" dirty="0">
                <a:solidFill>
                  <a:srgbClr val="E2E8F0"/>
                </a:solidFill>
              </a:rPr>
              <a:t>Departmental agent isolation ensures users can only query SOPs matching their clearance level (HR, Finance, Quality, Engineering, IT).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D1E"/>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F2FE"/>
          </a:solidFill>
          <a:ln/>
        </p:spPr>
      </p:sp>
      <p:sp>
        <p:nvSpPr>
          <p:cNvPr id="3" name="Shape 1"/>
          <p:cNvSpPr/>
          <p:nvPr/>
        </p:nvSpPr>
        <p:spPr>
          <a:xfrm>
            <a:off x="731520" y="347472"/>
            <a:ext cx="2560320" cy="274320"/>
          </a:xfrm>
          <a:prstGeom prst="roundRect">
            <a:avLst>
              <a:gd name="adj" fmla="val 26667"/>
            </a:avLst>
          </a:prstGeom>
          <a:solidFill>
            <a:srgbClr val="0E1834"/>
          </a:solidFill>
          <a:ln w="12700">
            <a:solidFill>
              <a:srgbClr val="00F2FE"/>
            </a:solidFill>
            <a:prstDash val="solid"/>
          </a:ln>
        </p:spPr>
      </p:sp>
      <p:sp>
        <p:nvSpPr>
          <p:cNvPr id="4" name="Text 2"/>
          <p:cNvSpPr/>
          <p:nvPr/>
        </p:nvSpPr>
        <p:spPr>
          <a:xfrm>
            <a:off x="731520" y="347472"/>
            <a:ext cx="2560320" cy="274320"/>
          </a:xfrm>
          <a:prstGeom prst="rect">
            <a:avLst/>
          </a:prstGeom>
          <a:noFill/>
          <a:ln/>
        </p:spPr>
        <p:txBody>
          <a:bodyPr wrap="square" rtlCol="0" anchor="ctr"/>
          <a:lstStyle/>
          <a:p>
            <a:pPr algn="ctr" indent="0" marL="0">
              <a:buNone/>
            </a:pPr>
            <a:r>
              <a:rPr lang="en-US" sz="900" b="1" dirty="0">
                <a:solidFill>
                  <a:srgbClr val="00F2FE"/>
                </a:solidFill>
                <a:latin typeface="Arial" pitchFamily="34" charset="0"/>
                <a:ea typeface="Arial" pitchFamily="34" charset="-122"/>
                <a:cs typeface="Arial" pitchFamily="34" charset="-120"/>
              </a:rPr>
              <a:t>SUMMARY &amp; ROADMAP</a:t>
            </a:r>
            <a:endParaRPr lang="en-US" sz="900" dirty="0"/>
          </a:p>
        </p:txBody>
      </p:sp>
      <p:sp>
        <p:nvSpPr>
          <p:cNvPr id="5" name="Text 3"/>
          <p:cNvSpPr/>
          <p:nvPr/>
        </p:nvSpPr>
        <p:spPr>
          <a:xfrm>
            <a:off x="731520" y="676656"/>
            <a:ext cx="10698480" cy="502920"/>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Business Impact, Future Roadmap &amp; Conclusion</a:t>
            </a:r>
            <a:endParaRPr lang="en-US" sz="2100" dirty="0"/>
          </a:p>
        </p:txBody>
      </p:sp>
      <p:sp>
        <p:nvSpPr>
          <p:cNvPr id="6" name="Text 4"/>
          <p:cNvSpPr/>
          <p:nvPr/>
        </p:nvSpPr>
        <p:spPr>
          <a:xfrm>
            <a:off x="731520" y="1170432"/>
            <a:ext cx="10698480" cy="292608"/>
          </a:xfrm>
          <a:prstGeom prst="rect">
            <a:avLst/>
          </a:prstGeom>
          <a:noFill/>
          <a:ln/>
        </p:spPr>
        <p:txBody>
          <a:bodyPr wrap="square" rtlCol="0" anchor="ctr"/>
          <a:lstStyle/>
          <a:p>
            <a:pPr indent="0" marL="0">
              <a:buNone/>
            </a:pPr>
            <a:r>
              <a:rPr lang="en-US" sz="1150" dirty="0">
                <a:solidFill>
                  <a:srgbClr val="94A3B8"/>
                </a:solidFill>
                <a:latin typeface="Arial" pitchFamily="34" charset="0"/>
                <a:ea typeface="Arial" pitchFamily="34" charset="-122"/>
                <a:cs typeface="Arial" pitchFamily="34" charset="-120"/>
              </a:rPr>
              <a:t>Measurable business outcomes and upcoming autonomous agent integrations</a:t>
            </a:r>
            <a:endParaRPr lang="en-US" sz="1150" dirty="0"/>
          </a:p>
        </p:txBody>
      </p:sp>
      <p:sp>
        <p:nvSpPr>
          <p:cNvPr id="7" name="Shape 5"/>
          <p:cNvSpPr/>
          <p:nvPr/>
        </p:nvSpPr>
        <p:spPr>
          <a:xfrm>
            <a:off x="731520" y="6400800"/>
            <a:ext cx="10698480" cy="18288"/>
          </a:xfrm>
          <a:prstGeom prst="rect">
            <a:avLst/>
          </a:prstGeom>
          <a:solidFill>
            <a:srgbClr val="1E3264"/>
          </a:solidFill>
          <a:ln/>
        </p:spPr>
      </p:sp>
      <p:sp>
        <p:nvSpPr>
          <p:cNvPr id="8" name="Text 6"/>
          <p:cNvSpPr/>
          <p:nvPr/>
        </p:nvSpPr>
        <p:spPr>
          <a:xfrm>
            <a:off x="731520" y="6446520"/>
            <a:ext cx="73152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LEINA • Local SOP RAG Architecture | Larsen &amp; Toubro Enterprise AI</a:t>
            </a:r>
            <a:endParaRPr lang="en-US" sz="850" dirty="0"/>
          </a:p>
        </p:txBody>
      </p:sp>
      <p:sp>
        <p:nvSpPr>
          <p:cNvPr id="9" name="Text 7"/>
          <p:cNvSpPr/>
          <p:nvPr/>
        </p:nvSpPr>
        <p:spPr>
          <a:xfrm>
            <a:off x="8686800" y="6446520"/>
            <a:ext cx="2743200" cy="274320"/>
          </a:xfrm>
          <a:prstGeom prst="rect">
            <a:avLst/>
          </a:prstGeom>
          <a:noFill/>
          <a:ln/>
        </p:spPr>
        <p:txBody>
          <a:bodyPr wrap="square" rtlCol="0" anchor="ctr"/>
          <a:lstStyle/>
          <a:p>
            <a:pPr algn="r" indent="0" marL="0">
              <a:buNone/>
            </a:pPr>
            <a:r>
              <a:rPr lang="en-US" sz="850" b="1" dirty="0">
                <a:solidFill>
                  <a:srgbClr val="00F2FE"/>
                </a:solidFill>
                <a:latin typeface="Arial" pitchFamily="34" charset="0"/>
                <a:ea typeface="Arial" pitchFamily="34" charset="-122"/>
                <a:cs typeface="Arial" pitchFamily="34" charset="-120"/>
              </a:rPr>
              <a:t>CONFIDENTIAL &amp; PROPRIETARY</a:t>
            </a:r>
            <a:endParaRPr lang="en-US" sz="850" dirty="0"/>
          </a:p>
        </p:txBody>
      </p:sp>
      <p:sp>
        <p:nvSpPr>
          <p:cNvPr id="10" name="Shape 8"/>
          <p:cNvSpPr/>
          <p:nvPr/>
        </p:nvSpPr>
        <p:spPr>
          <a:xfrm>
            <a:off x="731520" y="1600200"/>
            <a:ext cx="5166360" cy="4526280"/>
          </a:xfrm>
          <a:prstGeom prst="roundRect">
            <a:avLst>
              <a:gd name="adj" fmla="val 2424"/>
            </a:avLst>
          </a:prstGeom>
          <a:solidFill>
            <a:srgbClr val="0E1834"/>
          </a:solidFill>
          <a:ln w="15240">
            <a:solidFill>
              <a:srgbClr val="10B981"/>
            </a:solidFill>
            <a:prstDash val="solid"/>
          </a:ln>
        </p:spPr>
      </p:sp>
      <p:sp>
        <p:nvSpPr>
          <p:cNvPr id="11" name="Shape 9"/>
          <p:cNvSpPr/>
          <p:nvPr/>
        </p:nvSpPr>
        <p:spPr>
          <a:xfrm>
            <a:off x="960120" y="1783080"/>
            <a:ext cx="4709160" cy="347472"/>
          </a:xfrm>
          <a:prstGeom prst="roundRect">
            <a:avLst>
              <a:gd name="adj" fmla="val 21053"/>
            </a:avLst>
          </a:prstGeom>
          <a:solidFill>
            <a:srgbClr val="062D20"/>
          </a:solidFill>
          <a:ln w="10160">
            <a:solidFill>
              <a:srgbClr val="10B981"/>
            </a:solidFill>
            <a:prstDash val="solid"/>
          </a:ln>
        </p:spPr>
      </p:sp>
      <p:sp>
        <p:nvSpPr>
          <p:cNvPr id="12" name="Text 10"/>
          <p:cNvSpPr/>
          <p:nvPr/>
        </p:nvSpPr>
        <p:spPr>
          <a:xfrm>
            <a:off x="960120" y="1783080"/>
            <a:ext cx="4709160" cy="347472"/>
          </a:xfrm>
          <a:prstGeom prst="rect">
            <a:avLst/>
          </a:prstGeom>
          <a:noFill/>
          <a:ln/>
        </p:spPr>
        <p:txBody>
          <a:bodyPr wrap="square" rtlCol="0" anchor="ctr"/>
          <a:lstStyle/>
          <a:p>
            <a:pPr algn="ctr" indent="0" marL="0">
              <a:buNone/>
            </a:pPr>
            <a:r>
              <a:rPr lang="en-US" sz="1000" b="1" dirty="0">
                <a:solidFill>
                  <a:srgbClr val="10B981"/>
                </a:solidFill>
              </a:rPr>
              <a:t>MEASURABLE BUSINESS IMPACT &amp; ROI</a:t>
            </a:r>
            <a:endParaRPr lang="en-US" sz="1000" dirty="0"/>
          </a:p>
        </p:txBody>
      </p:sp>
      <p:sp>
        <p:nvSpPr>
          <p:cNvPr id="13" name="Shape 11"/>
          <p:cNvSpPr/>
          <p:nvPr/>
        </p:nvSpPr>
        <p:spPr>
          <a:xfrm>
            <a:off x="960120" y="2240280"/>
            <a:ext cx="4709160" cy="841248"/>
          </a:xfrm>
          <a:prstGeom prst="roundRect">
            <a:avLst>
              <a:gd name="adj" fmla="val 8696"/>
            </a:avLst>
          </a:prstGeom>
          <a:solidFill>
            <a:srgbClr val="121F42"/>
          </a:solidFill>
          <a:ln w="10160">
            <a:solidFill>
              <a:srgbClr val="1E3264"/>
            </a:solidFill>
            <a:prstDash val="solid"/>
          </a:ln>
        </p:spPr>
      </p:sp>
      <p:sp>
        <p:nvSpPr>
          <p:cNvPr id="14" name="Text 12"/>
          <p:cNvSpPr/>
          <p:nvPr/>
        </p:nvSpPr>
        <p:spPr>
          <a:xfrm>
            <a:off x="1097280" y="2313432"/>
            <a:ext cx="4434840" cy="228600"/>
          </a:xfrm>
          <a:prstGeom prst="rect">
            <a:avLst/>
          </a:prstGeom>
          <a:noFill/>
          <a:ln/>
        </p:spPr>
        <p:txBody>
          <a:bodyPr wrap="square" rtlCol="0" anchor="ctr"/>
          <a:lstStyle/>
          <a:p>
            <a:pPr indent="0" marL="0">
              <a:buNone/>
            </a:pPr>
            <a:r>
              <a:rPr lang="en-US" sz="1050" b="1" dirty="0">
                <a:solidFill>
                  <a:srgbClr val="00F2FE"/>
                </a:solidFill>
              </a:rPr>
              <a:t>✔ 80% Reduction</a:t>
            </a:r>
            <a:endParaRPr lang="en-US" sz="1050" dirty="0"/>
          </a:p>
        </p:txBody>
      </p:sp>
      <p:sp>
        <p:nvSpPr>
          <p:cNvPr id="15" name="Text 13"/>
          <p:cNvSpPr/>
          <p:nvPr/>
        </p:nvSpPr>
        <p:spPr>
          <a:xfrm>
            <a:off x="1234440" y="2542032"/>
            <a:ext cx="4297680" cy="475488"/>
          </a:xfrm>
          <a:prstGeom prst="rect">
            <a:avLst/>
          </a:prstGeom>
          <a:noFill/>
          <a:ln/>
        </p:spPr>
        <p:txBody>
          <a:bodyPr wrap="square" rtlCol="0" anchor="ctr"/>
          <a:lstStyle/>
          <a:p>
            <a:pPr indent="0" marL="0">
              <a:buNone/>
            </a:pPr>
            <a:r>
              <a:rPr lang="en-US" sz="880" dirty="0">
                <a:solidFill>
                  <a:srgbClr val="E2E8F0"/>
                </a:solidFill>
              </a:rPr>
              <a:t>in employee time spent searching across multi-hundred page SOP manuals</a:t>
            </a:r>
            <a:endParaRPr lang="en-US" sz="880" dirty="0"/>
          </a:p>
        </p:txBody>
      </p:sp>
      <p:sp>
        <p:nvSpPr>
          <p:cNvPr id="16" name="Shape 14"/>
          <p:cNvSpPr/>
          <p:nvPr/>
        </p:nvSpPr>
        <p:spPr>
          <a:xfrm>
            <a:off x="960120" y="3172968"/>
            <a:ext cx="4709160" cy="841248"/>
          </a:xfrm>
          <a:prstGeom prst="roundRect">
            <a:avLst>
              <a:gd name="adj" fmla="val 8696"/>
            </a:avLst>
          </a:prstGeom>
          <a:solidFill>
            <a:srgbClr val="121F42"/>
          </a:solidFill>
          <a:ln w="10160">
            <a:solidFill>
              <a:srgbClr val="1E3264"/>
            </a:solidFill>
            <a:prstDash val="solid"/>
          </a:ln>
        </p:spPr>
      </p:sp>
      <p:sp>
        <p:nvSpPr>
          <p:cNvPr id="17" name="Text 15"/>
          <p:cNvSpPr/>
          <p:nvPr/>
        </p:nvSpPr>
        <p:spPr>
          <a:xfrm>
            <a:off x="1097280" y="3246120"/>
            <a:ext cx="4434840" cy="228600"/>
          </a:xfrm>
          <a:prstGeom prst="rect">
            <a:avLst/>
          </a:prstGeom>
          <a:noFill/>
          <a:ln/>
        </p:spPr>
        <p:txBody>
          <a:bodyPr wrap="square" rtlCol="0" anchor="ctr"/>
          <a:lstStyle/>
          <a:p>
            <a:pPr indent="0" marL="0">
              <a:buNone/>
            </a:pPr>
            <a:r>
              <a:rPr lang="en-US" sz="1050" b="1" dirty="0">
                <a:solidFill>
                  <a:srgbClr val="00F2FE"/>
                </a:solidFill>
              </a:rPr>
              <a:t>✔ $0 Cloud API Costs</a:t>
            </a:r>
            <a:endParaRPr lang="en-US" sz="1050" dirty="0"/>
          </a:p>
        </p:txBody>
      </p:sp>
      <p:sp>
        <p:nvSpPr>
          <p:cNvPr id="18" name="Text 16"/>
          <p:cNvSpPr/>
          <p:nvPr/>
        </p:nvSpPr>
        <p:spPr>
          <a:xfrm>
            <a:off x="1234440" y="3474720"/>
            <a:ext cx="4297680" cy="475488"/>
          </a:xfrm>
          <a:prstGeom prst="rect">
            <a:avLst/>
          </a:prstGeom>
          <a:noFill/>
          <a:ln/>
        </p:spPr>
        <p:txBody>
          <a:bodyPr wrap="square" rtlCol="0" anchor="ctr"/>
          <a:lstStyle/>
          <a:p>
            <a:pPr indent="0" marL="0">
              <a:buNone/>
            </a:pPr>
            <a:r>
              <a:rPr lang="en-US" sz="880" dirty="0">
                <a:solidFill>
                  <a:srgbClr val="E2E8F0"/>
                </a:solidFill>
              </a:rPr>
              <a:t>Zero recurring token billing; runs perpetually on existing enterprise workstations/servers</a:t>
            </a:r>
            <a:endParaRPr lang="en-US" sz="880" dirty="0"/>
          </a:p>
        </p:txBody>
      </p:sp>
      <p:sp>
        <p:nvSpPr>
          <p:cNvPr id="19" name="Shape 17"/>
          <p:cNvSpPr/>
          <p:nvPr/>
        </p:nvSpPr>
        <p:spPr>
          <a:xfrm>
            <a:off x="960120" y="4105656"/>
            <a:ext cx="4709160" cy="841248"/>
          </a:xfrm>
          <a:prstGeom prst="roundRect">
            <a:avLst>
              <a:gd name="adj" fmla="val 8696"/>
            </a:avLst>
          </a:prstGeom>
          <a:solidFill>
            <a:srgbClr val="121F42"/>
          </a:solidFill>
          <a:ln w="10160">
            <a:solidFill>
              <a:srgbClr val="1E3264"/>
            </a:solidFill>
            <a:prstDash val="solid"/>
          </a:ln>
        </p:spPr>
      </p:sp>
      <p:sp>
        <p:nvSpPr>
          <p:cNvPr id="20" name="Text 18"/>
          <p:cNvSpPr/>
          <p:nvPr/>
        </p:nvSpPr>
        <p:spPr>
          <a:xfrm>
            <a:off x="1097280" y="4178808"/>
            <a:ext cx="4434840" cy="228600"/>
          </a:xfrm>
          <a:prstGeom prst="rect">
            <a:avLst/>
          </a:prstGeom>
          <a:noFill/>
          <a:ln/>
        </p:spPr>
        <p:txBody>
          <a:bodyPr wrap="square" rtlCol="0" anchor="ctr"/>
          <a:lstStyle/>
          <a:p>
            <a:pPr indent="0" marL="0">
              <a:buNone/>
            </a:pPr>
            <a:r>
              <a:rPr lang="en-US" sz="1050" b="1" dirty="0">
                <a:solidFill>
                  <a:srgbClr val="00F2FE"/>
                </a:solidFill>
              </a:rPr>
              <a:t>✔ 100% Audit Compliance</a:t>
            </a:r>
            <a:endParaRPr lang="en-US" sz="1050" dirty="0"/>
          </a:p>
        </p:txBody>
      </p:sp>
      <p:sp>
        <p:nvSpPr>
          <p:cNvPr id="21" name="Text 19"/>
          <p:cNvSpPr/>
          <p:nvPr/>
        </p:nvSpPr>
        <p:spPr>
          <a:xfrm>
            <a:off x="1234440" y="4407408"/>
            <a:ext cx="4297680" cy="475488"/>
          </a:xfrm>
          <a:prstGeom prst="rect">
            <a:avLst/>
          </a:prstGeom>
          <a:noFill/>
          <a:ln/>
        </p:spPr>
        <p:txBody>
          <a:bodyPr wrap="square" rtlCol="0" anchor="ctr"/>
          <a:lstStyle/>
          <a:p>
            <a:pPr indent="0" marL="0">
              <a:buNone/>
            </a:pPr>
            <a:r>
              <a:rPr lang="en-US" sz="880" dirty="0">
                <a:solidFill>
                  <a:srgbClr val="E2E8F0"/>
                </a:solidFill>
              </a:rPr>
              <a:t>Eliminates procedural non-compliance with verifiable section citations</a:t>
            </a:r>
            <a:endParaRPr lang="en-US" sz="880" dirty="0"/>
          </a:p>
        </p:txBody>
      </p:sp>
      <p:sp>
        <p:nvSpPr>
          <p:cNvPr id="22" name="Shape 20"/>
          <p:cNvSpPr/>
          <p:nvPr/>
        </p:nvSpPr>
        <p:spPr>
          <a:xfrm>
            <a:off x="960120" y="5038344"/>
            <a:ext cx="4709160" cy="841248"/>
          </a:xfrm>
          <a:prstGeom prst="roundRect">
            <a:avLst>
              <a:gd name="adj" fmla="val 8696"/>
            </a:avLst>
          </a:prstGeom>
          <a:solidFill>
            <a:srgbClr val="121F42"/>
          </a:solidFill>
          <a:ln w="10160">
            <a:solidFill>
              <a:srgbClr val="1E3264"/>
            </a:solidFill>
            <a:prstDash val="solid"/>
          </a:ln>
        </p:spPr>
      </p:sp>
      <p:sp>
        <p:nvSpPr>
          <p:cNvPr id="23" name="Text 21"/>
          <p:cNvSpPr/>
          <p:nvPr/>
        </p:nvSpPr>
        <p:spPr>
          <a:xfrm>
            <a:off x="1097280" y="5111496"/>
            <a:ext cx="4434840" cy="228600"/>
          </a:xfrm>
          <a:prstGeom prst="rect">
            <a:avLst/>
          </a:prstGeom>
          <a:noFill/>
          <a:ln/>
        </p:spPr>
        <p:txBody>
          <a:bodyPr wrap="square" rtlCol="0" anchor="ctr"/>
          <a:lstStyle/>
          <a:p>
            <a:pPr indent="0" marL="0">
              <a:buNone/>
            </a:pPr>
            <a:r>
              <a:rPr lang="en-US" sz="1050" b="1" dirty="0">
                <a:solidFill>
                  <a:srgbClr val="00F2FE"/>
                </a:solidFill>
              </a:rPr>
              <a:t>✔ Instant Onboarding</a:t>
            </a:r>
            <a:endParaRPr lang="en-US" sz="1050" dirty="0"/>
          </a:p>
        </p:txBody>
      </p:sp>
      <p:sp>
        <p:nvSpPr>
          <p:cNvPr id="24" name="Text 22"/>
          <p:cNvSpPr/>
          <p:nvPr/>
        </p:nvSpPr>
        <p:spPr>
          <a:xfrm>
            <a:off x="1234440" y="5340096"/>
            <a:ext cx="4297680" cy="475488"/>
          </a:xfrm>
          <a:prstGeom prst="rect">
            <a:avLst/>
          </a:prstGeom>
          <a:noFill/>
          <a:ln/>
        </p:spPr>
        <p:txBody>
          <a:bodyPr wrap="square" rtlCol="0" anchor="ctr"/>
          <a:lstStyle/>
          <a:p>
            <a:pPr indent="0" marL="0">
              <a:buNone/>
            </a:pPr>
            <a:r>
              <a:rPr lang="en-US" sz="880" dirty="0">
                <a:solidFill>
                  <a:srgbClr val="E2E8F0"/>
                </a:solidFill>
              </a:rPr>
              <a:t>New employees get instantaneous answers to operational procedures 24/7</a:t>
            </a:r>
            <a:endParaRPr lang="en-US" sz="880" dirty="0"/>
          </a:p>
        </p:txBody>
      </p:sp>
      <p:sp>
        <p:nvSpPr>
          <p:cNvPr id="25" name="Shape 23"/>
          <p:cNvSpPr/>
          <p:nvPr/>
        </p:nvSpPr>
        <p:spPr>
          <a:xfrm>
            <a:off x="6263640" y="1600200"/>
            <a:ext cx="5166360" cy="4526280"/>
          </a:xfrm>
          <a:prstGeom prst="roundRect">
            <a:avLst>
              <a:gd name="adj" fmla="val 2424"/>
            </a:avLst>
          </a:prstGeom>
          <a:solidFill>
            <a:srgbClr val="0E1834"/>
          </a:solidFill>
          <a:ln w="15240">
            <a:solidFill>
              <a:srgbClr val="38BDF8"/>
            </a:solidFill>
            <a:prstDash val="solid"/>
          </a:ln>
        </p:spPr>
      </p:sp>
      <p:sp>
        <p:nvSpPr>
          <p:cNvPr id="26" name="Shape 24"/>
          <p:cNvSpPr/>
          <p:nvPr/>
        </p:nvSpPr>
        <p:spPr>
          <a:xfrm>
            <a:off x="6492240" y="1783080"/>
            <a:ext cx="4709160" cy="347472"/>
          </a:xfrm>
          <a:prstGeom prst="roundRect">
            <a:avLst>
              <a:gd name="adj" fmla="val 21053"/>
            </a:avLst>
          </a:prstGeom>
          <a:solidFill>
            <a:srgbClr val="182958"/>
          </a:solidFill>
          <a:ln w="10160">
            <a:solidFill>
              <a:srgbClr val="38BDF8"/>
            </a:solidFill>
            <a:prstDash val="solid"/>
          </a:ln>
        </p:spPr>
      </p:sp>
      <p:sp>
        <p:nvSpPr>
          <p:cNvPr id="27" name="Text 25"/>
          <p:cNvSpPr/>
          <p:nvPr/>
        </p:nvSpPr>
        <p:spPr>
          <a:xfrm>
            <a:off x="6492240" y="1783080"/>
            <a:ext cx="4709160" cy="347472"/>
          </a:xfrm>
          <a:prstGeom prst="rect">
            <a:avLst/>
          </a:prstGeom>
          <a:noFill/>
          <a:ln/>
        </p:spPr>
        <p:txBody>
          <a:bodyPr wrap="square" rtlCol="0" anchor="ctr"/>
          <a:lstStyle/>
          <a:p>
            <a:pPr algn="ctr" indent="0" marL="0">
              <a:buNone/>
            </a:pPr>
            <a:r>
              <a:rPr lang="en-US" sz="1000" b="1" dirty="0">
                <a:solidFill>
                  <a:srgbClr val="38BDF8"/>
                </a:solidFill>
              </a:rPr>
              <a:t>FUTURE DEVELOPMENT ROADMAP</a:t>
            </a:r>
            <a:endParaRPr lang="en-US" sz="1000" dirty="0"/>
          </a:p>
        </p:txBody>
      </p:sp>
      <p:sp>
        <p:nvSpPr>
          <p:cNvPr id="28" name="Shape 26"/>
          <p:cNvSpPr/>
          <p:nvPr/>
        </p:nvSpPr>
        <p:spPr>
          <a:xfrm>
            <a:off x="6492240" y="2240280"/>
            <a:ext cx="4709160" cy="841248"/>
          </a:xfrm>
          <a:prstGeom prst="roundRect">
            <a:avLst>
              <a:gd name="adj" fmla="val 8696"/>
            </a:avLst>
          </a:prstGeom>
          <a:solidFill>
            <a:srgbClr val="121F42"/>
          </a:solidFill>
          <a:ln w="10160">
            <a:solidFill>
              <a:srgbClr val="1E3264"/>
            </a:solidFill>
            <a:prstDash val="solid"/>
          </a:ln>
        </p:spPr>
      </p:sp>
      <p:sp>
        <p:nvSpPr>
          <p:cNvPr id="29" name="Text 27"/>
          <p:cNvSpPr/>
          <p:nvPr/>
        </p:nvSpPr>
        <p:spPr>
          <a:xfrm>
            <a:off x="6629400" y="2313432"/>
            <a:ext cx="4434840" cy="228600"/>
          </a:xfrm>
          <a:prstGeom prst="rect">
            <a:avLst/>
          </a:prstGeom>
          <a:noFill/>
          <a:ln/>
        </p:spPr>
        <p:txBody>
          <a:bodyPr wrap="square" rtlCol="0" anchor="ctr"/>
          <a:lstStyle/>
          <a:p>
            <a:pPr indent="0" marL="0">
              <a:buNone/>
            </a:pPr>
            <a:r>
              <a:rPr lang="en-US" sz="950" b="1" dirty="0">
                <a:solidFill>
                  <a:srgbClr val="38BDF8"/>
                </a:solidFill>
              </a:rPr>
              <a:t>Phase 1 (Completed)</a:t>
            </a:r>
            <a:endParaRPr lang="en-US" sz="950" dirty="0"/>
          </a:p>
        </p:txBody>
      </p:sp>
      <p:sp>
        <p:nvSpPr>
          <p:cNvPr id="30" name="Text 28"/>
          <p:cNvSpPr/>
          <p:nvPr/>
        </p:nvSpPr>
        <p:spPr>
          <a:xfrm>
            <a:off x="6629400" y="2542032"/>
            <a:ext cx="4434840" cy="475488"/>
          </a:xfrm>
          <a:prstGeom prst="rect">
            <a:avLst/>
          </a:prstGeom>
          <a:noFill/>
          <a:ln/>
        </p:spPr>
        <p:txBody>
          <a:bodyPr wrap="square" rtlCol="0" anchor="ctr"/>
          <a:lstStyle/>
          <a:p>
            <a:pPr indent="0" marL="0">
              <a:buNone/>
            </a:pPr>
            <a:r>
              <a:rPr lang="en-US" sz="850" dirty="0">
                <a:solidFill>
                  <a:srgbClr val="E2E8F0"/>
                </a:solidFill>
              </a:rPr>
              <a:t>Local SOP Ingestion, Hierarchical Chunking, Hybrid Search, Qwen2.5-VL Vision, Web Portal</a:t>
            </a:r>
            <a:endParaRPr lang="en-US" sz="850" dirty="0"/>
          </a:p>
        </p:txBody>
      </p:sp>
      <p:sp>
        <p:nvSpPr>
          <p:cNvPr id="31" name="Shape 29"/>
          <p:cNvSpPr/>
          <p:nvPr/>
        </p:nvSpPr>
        <p:spPr>
          <a:xfrm>
            <a:off x="6492240" y="3172968"/>
            <a:ext cx="4709160" cy="841248"/>
          </a:xfrm>
          <a:prstGeom prst="roundRect">
            <a:avLst>
              <a:gd name="adj" fmla="val 8696"/>
            </a:avLst>
          </a:prstGeom>
          <a:solidFill>
            <a:srgbClr val="121F42"/>
          </a:solidFill>
          <a:ln w="10160">
            <a:solidFill>
              <a:srgbClr val="1E3264"/>
            </a:solidFill>
            <a:prstDash val="solid"/>
          </a:ln>
        </p:spPr>
      </p:sp>
      <p:sp>
        <p:nvSpPr>
          <p:cNvPr id="32" name="Text 30"/>
          <p:cNvSpPr/>
          <p:nvPr/>
        </p:nvSpPr>
        <p:spPr>
          <a:xfrm>
            <a:off x="6629400" y="3246120"/>
            <a:ext cx="4434840" cy="228600"/>
          </a:xfrm>
          <a:prstGeom prst="rect">
            <a:avLst/>
          </a:prstGeom>
          <a:noFill/>
          <a:ln/>
        </p:spPr>
        <p:txBody>
          <a:bodyPr wrap="square" rtlCol="0" anchor="ctr"/>
          <a:lstStyle/>
          <a:p>
            <a:pPr indent="0" marL="0">
              <a:buNone/>
            </a:pPr>
            <a:r>
              <a:rPr lang="en-US" sz="950" b="1" dirty="0">
                <a:solidFill>
                  <a:srgbClr val="38BDF8"/>
                </a:solidFill>
              </a:rPr>
              <a:t>Phase 2 (Near-Term)</a:t>
            </a:r>
            <a:endParaRPr lang="en-US" sz="950" dirty="0"/>
          </a:p>
        </p:txBody>
      </p:sp>
      <p:sp>
        <p:nvSpPr>
          <p:cNvPr id="33" name="Text 31"/>
          <p:cNvSpPr/>
          <p:nvPr/>
        </p:nvSpPr>
        <p:spPr>
          <a:xfrm>
            <a:off x="6629400" y="3474720"/>
            <a:ext cx="4434840" cy="475488"/>
          </a:xfrm>
          <a:prstGeom prst="rect">
            <a:avLst/>
          </a:prstGeom>
          <a:noFill/>
          <a:ln/>
        </p:spPr>
        <p:txBody>
          <a:bodyPr wrap="square" rtlCol="0" anchor="ctr"/>
          <a:lstStyle/>
          <a:p>
            <a:pPr indent="0" marL="0">
              <a:buNone/>
            </a:pPr>
            <a:r>
              <a:rPr lang="en-US" sz="850" dirty="0">
                <a:solidFill>
                  <a:srgbClr val="E2E8F0"/>
                </a:solidFill>
              </a:rPr>
              <a:t>Agentic Tool Calling (Live SAP &amp; Workday API integration to apply leaves &amp; check real-time balances)</a:t>
            </a:r>
            <a:endParaRPr lang="en-US" sz="850" dirty="0"/>
          </a:p>
        </p:txBody>
      </p:sp>
      <p:sp>
        <p:nvSpPr>
          <p:cNvPr id="34" name="Shape 32"/>
          <p:cNvSpPr/>
          <p:nvPr/>
        </p:nvSpPr>
        <p:spPr>
          <a:xfrm>
            <a:off x="6492240" y="4105656"/>
            <a:ext cx="4709160" cy="841248"/>
          </a:xfrm>
          <a:prstGeom prst="roundRect">
            <a:avLst>
              <a:gd name="adj" fmla="val 8696"/>
            </a:avLst>
          </a:prstGeom>
          <a:solidFill>
            <a:srgbClr val="121F42"/>
          </a:solidFill>
          <a:ln w="10160">
            <a:solidFill>
              <a:srgbClr val="1E3264"/>
            </a:solidFill>
            <a:prstDash val="solid"/>
          </a:ln>
        </p:spPr>
      </p:sp>
      <p:sp>
        <p:nvSpPr>
          <p:cNvPr id="35" name="Text 33"/>
          <p:cNvSpPr/>
          <p:nvPr/>
        </p:nvSpPr>
        <p:spPr>
          <a:xfrm>
            <a:off x="6629400" y="4178808"/>
            <a:ext cx="4434840" cy="228600"/>
          </a:xfrm>
          <a:prstGeom prst="rect">
            <a:avLst/>
          </a:prstGeom>
          <a:noFill/>
          <a:ln/>
        </p:spPr>
        <p:txBody>
          <a:bodyPr wrap="square" rtlCol="0" anchor="ctr"/>
          <a:lstStyle/>
          <a:p>
            <a:pPr indent="0" marL="0">
              <a:buNone/>
            </a:pPr>
            <a:r>
              <a:rPr lang="en-US" sz="950" b="1" dirty="0">
                <a:solidFill>
                  <a:srgbClr val="38BDF8"/>
                </a:solidFill>
              </a:rPr>
              <a:t>Phase 3 (Mid-Term)</a:t>
            </a:r>
            <a:endParaRPr lang="en-US" sz="950" dirty="0"/>
          </a:p>
        </p:txBody>
      </p:sp>
      <p:sp>
        <p:nvSpPr>
          <p:cNvPr id="36" name="Text 34"/>
          <p:cNvSpPr/>
          <p:nvPr/>
        </p:nvSpPr>
        <p:spPr>
          <a:xfrm>
            <a:off x="6629400" y="4407408"/>
            <a:ext cx="4434840" cy="475488"/>
          </a:xfrm>
          <a:prstGeom prst="rect">
            <a:avLst/>
          </a:prstGeom>
          <a:noFill/>
          <a:ln/>
        </p:spPr>
        <p:txBody>
          <a:bodyPr wrap="square" rtlCol="0" anchor="ctr"/>
          <a:lstStyle/>
          <a:p>
            <a:pPr indent="0" marL="0">
              <a:buNone/>
            </a:pPr>
            <a:r>
              <a:rPr lang="en-US" sz="850" dirty="0">
                <a:solidFill>
                  <a:srgbClr val="E2E8F0"/>
                </a:solidFill>
              </a:rPr>
              <a:t>Graph RAG (Knowledge Graph entity resolution for complex multi-document SOP hierarchies)</a:t>
            </a:r>
            <a:endParaRPr lang="en-US" sz="850" dirty="0"/>
          </a:p>
        </p:txBody>
      </p:sp>
      <p:sp>
        <p:nvSpPr>
          <p:cNvPr id="37" name="Shape 35"/>
          <p:cNvSpPr/>
          <p:nvPr/>
        </p:nvSpPr>
        <p:spPr>
          <a:xfrm>
            <a:off x="6492240" y="5038344"/>
            <a:ext cx="4709160" cy="841248"/>
          </a:xfrm>
          <a:prstGeom prst="roundRect">
            <a:avLst>
              <a:gd name="adj" fmla="val 8696"/>
            </a:avLst>
          </a:prstGeom>
          <a:solidFill>
            <a:srgbClr val="121F42"/>
          </a:solidFill>
          <a:ln w="10160">
            <a:solidFill>
              <a:srgbClr val="1E3264"/>
            </a:solidFill>
            <a:prstDash val="solid"/>
          </a:ln>
        </p:spPr>
      </p:sp>
      <p:sp>
        <p:nvSpPr>
          <p:cNvPr id="38" name="Text 36"/>
          <p:cNvSpPr/>
          <p:nvPr/>
        </p:nvSpPr>
        <p:spPr>
          <a:xfrm>
            <a:off x="6629400" y="5111496"/>
            <a:ext cx="4434840" cy="228600"/>
          </a:xfrm>
          <a:prstGeom prst="rect">
            <a:avLst/>
          </a:prstGeom>
          <a:noFill/>
          <a:ln/>
        </p:spPr>
        <p:txBody>
          <a:bodyPr wrap="square" rtlCol="0" anchor="ctr"/>
          <a:lstStyle/>
          <a:p>
            <a:pPr indent="0" marL="0">
              <a:buNone/>
            </a:pPr>
            <a:r>
              <a:rPr lang="en-US" sz="950" b="1" dirty="0">
                <a:solidFill>
                  <a:srgbClr val="38BDF8"/>
                </a:solidFill>
              </a:rPr>
              <a:t>Phase 4 (Long-Term)</a:t>
            </a:r>
            <a:endParaRPr lang="en-US" sz="950" dirty="0"/>
          </a:p>
        </p:txBody>
      </p:sp>
      <p:sp>
        <p:nvSpPr>
          <p:cNvPr id="39" name="Text 37"/>
          <p:cNvSpPr/>
          <p:nvPr/>
        </p:nvSpPr>
        <p:spPr>
          <a:xfrm>
            <a:off x="6629400" y="5340096"/>
            <a:ext cx="4434840" cy="475488"/>
          </a:xfrm>
          <a:prstGeom prst="rect">
            <a:avLst/>
          </a:prstGeom>
          <a:noFill/>
          <a:ln/>
        </p:spPr>
        <p:txBody>
          <a:bodyPr wrap="square" rtlCol="0" anchor="ctr"/>
          <a:lstStyle/>
          <a:p>
            <a:pPr indent="0" marL="0">
              <a:buNone/>
            </a:pPr>
            <a:r>
              <a:rPr lang="en-US" sz="850" dirty="0">
                <a:solidFill>
                  <a:srgbClr val="E2E8F0"/>
                </a:solidFill>
              </a:rPr>
              <a:t>Real-time On-Device Voice-to-Voice AI assistance for field engineers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standalone="yes"?>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vt:lpstr>Fonts Used</vt:lpstr></vt:variant>
			<vt:variant><vt:i4>2</vt:i4></vt:variant>
			<vt:variant><vt:lpstr>Theme</vt:lpstr></vt:variant>
			<vt:variant><vt:i4>1</vt:i4></vt:variant>
			<vt:variant><vt:lpstr>Slide Titles</vt:lpstr></vt:variant>
			<vt:variant><vt:i4>12</vt:i4></vt:variant>
		</vt:vector>
	</HeadingPairs>
	<TitlesOfParts>
		<vt:vector size="15" baseType="lpstr">
			<vt:lpstr>Arial</vt:lpstr>
			<vt:lpstr>Calibri</vt:lpstr>
			<vt:lpstr>Office Theme</vt:lpstr>
			<vt:lpstr>Slide 1</vt:lpstr><vt:lpstr>Slide 2</vt:lpstr><vt:lpstr>Slide 3</vt:lpstr><vt:lpstr>Slide 4</vt:lpstr><vt:lpstr>Slide 5</vt:lpstr><vt:lpstr>Slide 6</vt:lpstr><vt:lpstr>Slide 7</vt:lpstr><vt:lpstr>Slide 8</vt:lpstr><vt:lpstr>Slide 9</vt:lpstr><vt:lpstr>Slide 10</vt:lpstr><vt:lpstr>Slide 11</vt:lpstr><vt:lpstr>Slide 12</vt:lpstr>
		</vt:vector>
	</TitlesOfParts>
	<Company>Larsen & Toubro / LTTS Enterprise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Local SOP RAG Chatbot &amp; LEINA Intelligent Assistant</dc:title>
  <dc:subject>Enterprise AI System Architecture &amp; Technical Presentation</dc:subject>
  <dc:creator>Harshit Singh &amp; AI Engineering Team</dc:creator>
  <cp:lastModifiedBy>Harshit Singh &amp; AI Engineering Team</cp:lastModifiedBy>
  <cp:revision>1</cp:revision>
  <dcterms:created xsi:type="dcterms:W3CDTF">2026-08-19T01:20:06Z</dcterms:created>
  <dcterms:modified xsi:type="dcterms:W3CDTF">2026-08-19T01:20:06Z</dcterms:modified>
</cp:coreProperties>
</file>